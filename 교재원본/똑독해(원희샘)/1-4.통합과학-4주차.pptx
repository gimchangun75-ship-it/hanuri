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58" r:id="rId3"/>
    <p:sldId id="259" r:id="rId4"/>
    <p:sldId id="298" r:id="rId5"/>
    <p:sldId id="295" r:id="rId6"/>
    <p:sldId id="301" r:id="rId7"/>
    <p:sldId id="260" r:id="rId8"/>
    <p:sldId id="261" r:id="rId9"/>
    <p:sldId id="262" r:id="rId10"/>
    <p:sldId id="293" r:id="rId11"/>
    <p:sldId id="302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  <a:srgbClr val="FF6600"/>
    <a:srgbClr val="D3A9CA"/>
    <a:srgbClr val="FFF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>
        <p:scale>
          <a:sx n="66" d="100"/>
          <a:sy n="66" d="100"/>
        </p:scale>
        <p:origin x="1146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9442A-9111-4038-8A99-8E5B32914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1F9819B-F1B6-47CB-8EB1-9EC8169A7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DA5F72-CD68-4DF7-86B8-9235F688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57959B-D110-44AF-8DB2-7445D652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5C2EDD-AD85-4A15-8EF5-6D719D89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30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93D2A-053C-4B33-AF27-D22FB1AA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476427-366A-4FEE-BACA-B997ED5AA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7CCF7-6C8A-4A88-817B-07608B22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18E016-88E4-4D6B-AE28-AC5B83998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82ED9-3153-4929-943D-EEC4BFA0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37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48979-839A-4385-BC48-3F5317C74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D6181D-43A5-4457-A5B6-D5B88E54B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523B04-4BB6-426D-9B9A-4FD0E6B33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F2FEB-020D-4F96-A0DC-5FA1822C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4D8891-7C3F-4337-B48E-1BDA4F67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124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65AB9-1305-4967-8EA6-0607E5ED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2D11B-3CDE-44E5-AEC2-66856072B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0765DD-D18F-45B8-B2A0-6F76B6111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16934F-D4FB-409C-BB96-5885499E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22555F-0C03-497B-BAA5-FAE5093A4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3B5AD8-7B30-4391-B198-03BCC4381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0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4520F-7DFC-4CFC-B62A-B0D36CA99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3CF1D5-BD91-4E4E-B983-7EAD936CD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189E39-7A3D-493E-B30C-B7FC335A0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4DB9D5-C70C-4E2F-9FAA-84AF5D16B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53F2C4-9EB1-4F5A-83F9-CA4DD602D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E3E461-72BD-4BD2-AE6F-E34EFB95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654C72-81C5-4520-A906-80961B93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713ACB-5B20-499A-AB5C-202A138C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666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3B977-6EE3-4563-829D-5285623F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AD39CC-890D-4937-ABA4-9EED1E5B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CDA1B2-9F89-4A2A-AC57-385A97E7C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C867E8-23C6-4DA8-9ED8-1414E635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847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9A1C78-88BD-44BF-9641-6862336CE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5093BE-9872-4C08-81A3-DFE560B6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F7F954-70D0-4E8B-B90C-1FEFD944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7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E1CAA-EAB8-4349-AA92-927D77BB6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C0FDFD-4711-4BEC-B410-F9DEDFB90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64F8FC-2A3C-4E80-9762-0CD4249EF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F746DA-2982-4C95-A472-63A333649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C1B344-E38B-4C43-ADFC-F6AD4634A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DEF0E-B203-4980-A691-936B5723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78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6DDAE-234E-4CCD-AA9F-E6D01995A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FFEEAE-F6C4-4CAD-885A-6178F7A66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CE299D-9832-4F04-BA15-03EFB8973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44DB11-BA2E-4E4F-BAEF-40AED185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7DD827-E358-4616-8BD6-77B2F690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C3B7D1-7FB8-4980-BC22-27C0D792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37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157073-0A52-48AE-9C35-0D9D63BC9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D5D47F-39B2-42AE-BE02-9795D0376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EA02DC-2D8F-45C7-87FB-89A5FF4F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87FE16-77BA-4A35-83E8-CF3E8E1E2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E12D4-D838-494B-8A68-C2017351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96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6B2707-8214-4E2F-8A56-E668692EE3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99E193-9CD9-4F27-87B9-7C95BC350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7F0026-E67D-496F-BE0D-109371A8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89D423-D0A5-4F3F-BA78-BB816376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D5B2ED-6BC8-4FBA-9F03-04E84DB2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98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233AED-C62E-43F7-914E-AA54A23A3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F56D44-F0EA-4254-82E6-C55669E18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329D43-8656-4BC3-BAF4-37F4752DE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A8AFD-856E-4C51-93DC-BEB05AD16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272362-AC1C-4B8C-8B8B-397349BA8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05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jpg"/><Relationship Id="rId7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6.jpg"/><Relationship Id="rId7" Type="http://schemas.openxmlformats.org/officeDocument/2006/relationships/image" Target="../media/image18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73C843A-D102-4B8E-BE82-4E45B67FB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100" y="0"/>
            <a:ext cx="5089154" cy="6858000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C2CF86BC-0DE4-4CED-8117-79ED4DAD3B56}"/>
              </a:ext>
            </a:extLst>
          </p:cNvPr>
          <p:cNvGrpSpPr/>
          <p:nvPr/>
        </p:nvGrpSpPr>
        <p:grpSpPr>
          <a:xfrm>
            <a:off x="904875" y="-9526"/>
            <a:ext cx="4657725" cy="6867525"/>
            <a:chOff x="904875" y="-9526"/>
            <a:chExt cx="4657725" cy="686752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BDE49F1-D3EF-4E0F-9682-70BE14719F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694" r="367"/>
            <a:stretch/>
          </p:blipFill>
          <p:spPr>
            <a:xfrm>
              <a:off x="914400" y="4162424"/>
              <a:ext cx="4648200" cy="269557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C5913DC-0D87-4060-8DEB-876C750BC1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13" r="367" b="58194"/>
            <a:stretch/>
          </p:blipFill>
          <p:spPr>
            <a:xfrm>
              <a:off x="914399" y="1543050"/>
              <a:ext cx="4648200" cy="261937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B3F5B8E-93EA-4698-847C-59A44D66A8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1" t="61806" r="7738" b="14305"/>
            <a:stretch/>
          </p:blipFill>
          <p:spPr>
            <a:xfrm>
              <a:off x="1285874" y="390526"/>
              <a:ext cx="4276726" cy="1638299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11D2B04-3D96-4649-AFB4-7DD695683D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1" t="61806" r="86751" b="14304"/>
            <a:stretch/>
          </p:blipFill>
          <p:spPr>
            <a:xfrm>
              <a:off x="904875" y="390526"/>
              <a:ext cx="590550" cy="1638299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5BF62F8-B0AE-48A5-BD44-99139950D0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694" r="367" b="35000"/>
            <a:stretch/>
          </p:blipFill>
          <p:spPr>
            <a:xfrm>
              <a:off x="914400" y="-9526"/>
              <a:ext cx="4648200" cy="4000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6293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7639969-A324-46E8-BC68-93D5DF5604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" t="1388" r="-96" b="695"/>
          <a:stretch/>
        </p:blipFill>
        <p:spPr>
          <a:xfrm>
            <a:off x="975024" y="0"/>
            <a:ext cx="10096699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09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E879C95-DCE8-4BD4-9FB1-F04AD1856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0172" y="0"/>
            <a:ext cx="4848301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CC03461-8E41-45CF-A915-BB4BADB48E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" t="1297" r="50238" b="1388"/>
          <a:stretch/>
        </p:blipFill>
        <p:spPr>
          <a:xfrm>
            <a:off x="1332864" y="0"/>
            <a:ext cx="4999519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5B6438-BBE6-4AB6-8A26-0C6D34A5284B}"/>
              </a:ext>
            </a:extLst>
          </p:cNvPr>
          <p:cNvSpPr txBox="1"/>
          <p:nvPr/>
        </p:nvSpPr>
        <p:spPr>
          <a:xfrm>
            <a:off x="25167" y="337217"/>
            <a:ext cx="1317072" cy="2860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en-US" altLang="ko-KR" sz="11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설명 방법 파악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시각 자료 활용</a:t>
            </a:r>
            <a:endParaRPr lang="en-US" altLang="ko-KR" sz="11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1100" dirty="0">
              <a:solidFill>
                <a:schemeClr val="accent6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B19A9A8-2924-428D-BDEF-356775D9FC3C}"/>
              </a:ext>
            </a:extLst>
          </p:cNvPr>
          <p:cNvSpPr/>
          <p:nvPr/>
        </p:nvSpPr>
        <p:spPr>
          <a:xfrm>
            <a:off x="5943021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B74A65-B018-42AF-B8A0-532CE965917B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0507E8-FB75-45D9-979D-58B77C57FDA4}"/>
              </a:ext>
            </a:extLst>
          </p:cNvPr>
          <p:cNvSpPr/>
          <p:nvPr/>
        </p:nvSpPr>
        <p:spPr>
          <a:xfrm>
            <a:off x="1417739" y="2994870"/>
            <a:ext cx="4969666" cy="3761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813A6627-F89D-4DD1-8EBF-20561BD1BF60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42249" y="2520652"/>
            <a:ext cx="1590675" cy="1045172"/>
          </a:xfrm>
          <a:prstGeom prst="bentConnector3">
            <a:avLst>
              <a:gd name="adj1" fmla="val -299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왼쪽 대괄호 20">
            <a:extLst>
              <a:ext uri="{FF2B5EF4-FFF2-40B4-BE49-F238E27FC236}">
                <a16:creationId xmlns:a16="http://schemas.microsoft.com/office/drawing/2014/main" id="{213B618A-A061-425E-B24B-9C0599DFC711}"/>
              </a:ext>
            </a:extLst>
          </p:cNvPr>
          <p:cNvSpPr/>
          <p:nvPr/>
        </p:nvSpPr>
        <p:spPr>
          <a:xfrm>
            <a:off x="6815194" y="3333750"/>
            <a:ext cx="138056" cy="771525"/>
          </a:xfrm>
          <a:prstGeom prst="leftBracket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BE48C1DD-4AF0-458D-8FED-7170DCE88C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465" y="0"/>
            <a:ext cx="4848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40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B90E5BC-B9F5-411D-A3A8-1D607D5D3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241" y="0"/>
            <a:ext cx="4848301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CA9B48B-5AD3-485E-83DF-6E2B031ADF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" t="1297" r="50238" b="1388"/>
          <a:stretch/>
        </p:blipFill>
        <p:spPr>
          <a:xfrm>
            <a:off x="1332864" y="0"/>
            <a:ext cx="4999519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B19A9A8-2924-428D-BDEF-356775D9FC3C}"/>
              </a:ext>
            </a:extLst>
          </p:cNvPr>
          <p:cNvSpPr/>
          <p:nvPr/>
        </p:nvSpPr>
        <p:spPr>
          <a:xfrm>
            <a:off x="6081039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B74A65-B018-42AF-B8A0-532CE965917B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0507E8-FB75-45D9-979D-58B77C57FDA4}"/>
              </a:ext>
            </a:extLst>
          </p:cNvPr>
          <p:cNvSpPr/>
          <p:nvPr/>
        </p:nvSpPr>
        <p:spPr>
          <a:xfrm>
            <a:off x="1384692" y="612396"/>
            <a:ext cx="4969666" cy="2197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FEA550DB-D524-4231-A4F0-81E902AD60F7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78131" y="3838147"/>
            <a:ext cx="773867" cy="772318"/>
          </a:xfrm>
          <a:prstGeom prst="bentConnector3">
            <a:avLst>
              <a:gd name="adj1" fmla="val 50000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왼쪽 대괄호 19">
            <a:extLst>
              <a:ext uri="{FF2B5EF4-FFF2-40B4-BE49-F238E27FC236}">
                <a16:creationId xmlns:a16="http://schemas.microsoft.com/office/drawing/2014/main" id="{E6A13DF9-578F-4CA3-83E0-E1EB8E618672}"/>
              </a:ext>
            </a:extLst>
          </p:cNvPr>
          <p:cNvSpPr/>
          <p:nvPr/>
        </p:nvSpPr>
        <p:spPr>
          <a:xfrm>
            <a:off x="6764787" y="2261736"/>
            <a:ext cx="140837" cy="2596013"/>
          </a:xfrm>
          <a:prstGeom prst="leftBracket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8297A7-6103-46F1-8EBF-F6706EB5C772}"/>
              </a:ext>
            </a:extLst>
          </p:cNvPr>
          <p:cNvSpPr txBox="1"/>
          <p:nvPr/>
        </p:nvSpPr>
        <p:spPr>
          <a:xfrm>
            <a:off x="25167" y="337217"/>
            <a:ext cx="1317072" cy="2607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en-US" altLang="ko-KR" sz="11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설명 방법 파악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시각 자료 활용</a:t>
            </a:r>
            <a:endParaRPr lang="ko-KR" altLang="en-US" sz="1100" dirty="0">
              <a:solidFill>
                <a:schemeClr val="accent6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5613D03-E70B-40FC-B7F0-16236E9192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278" y="16645"/>
            <a:ext cx="4848301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C3AF02-A49F-41C9-A652-C071FDED0E8A}"/>
              </a:ext>
            </a:extLst>
          </p:cNvPr>
          <p:cNvSpPr txBox="1"/>
          <p:nvPr/>
        </p:nvSpPr>
        <p:spPr>
          <a:xfrm>
            <a:off x="1512255" y="537140"/>
            <a:ext cx="514163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수많은 별들의 집단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은하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’                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태양계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태양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행성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위성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왜소행성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혜성 등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태양계가 속해 있는 은하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‘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우리은하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’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소용돌이치는 두 개의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나선팔이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있는 막대 나선형 은하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우리은하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’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수많은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별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들 중 하나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태양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23940E7-5CAD-4D7A-A4DA-0A9B9315A02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088" t="42064" r="48746" b="30666"/>
          <a:stretch/>
        </p:blipFill>
        <p:spPr>
          <a:xfrm>
            <a:off x="1584716" y="792536"/>
            <a:ext cx="1922967" cy="117975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0FF9135-57B2-42BA-8C2D-D27EDECF799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7206" t="40360" r="34191" b="13162"/>
          <a:stretch/>
        </p:blipFill>
        <p:spPr>
          <a:xfrm>
            <a:off x="1619759" y="2465031"/>
            <a:ext cx="2157817" cy="110545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A7FE866-B388-44E2-A644-1A9DF785196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7206" t="20174" r="28309" b="45344"/>
          <a:stretch/>
        </p:blipFill>
        <p:spPr>
          <a:xfrm>
            <a:off x="3658415" y="787940"/>
            <a:ext cx="2848667" cy="117975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425064A-7093-4B33-9F06-E822D51C91F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6838" t="37962" r="27721" b="33667"/>
          <a:stretch/>
        </p:blipFill>
        <p:spPr>
          <a:xfrm>
            <a:off x="3754809" y="2468822"/>
            <a:ext cx="2958936" cy="10377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00B5E75-9A2E-48CA-9503-2FCE55E7FE4A}"/>
              </a:ext>
            </a:extLst>
          </p:cNvPr>
          <p:cNvSpPr txBox="1"/>
          <p:nvPr/>
        </p:nvSpPr>
        <p:spPr>
          <a:xfrm>
            <a:off x="4267688" y="0"/>
            <a:ext cx="2197854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C00000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천체</a:t>
            </a:r>
            <a:r>
              <a:rPr lang="ko-KR" altLang="en-US" sz="1000" b="1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00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별</a:t>
            </a:r>
            <a:r>
              <a:rPr lang="en-US" altLang="ko-KR" sz="100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행성</a:t>
            </a:r>
            <a:r>
              <a:rPr lang="en-US" altLang="ko-KR" sz="100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달</a:t>
            </a:r>
            <a:r>
              <a:rPr lang="en-US" altLang="ko-KR" sz="100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소행성 등과 같이 </a:t>
            </a:r>
            <a:endParaRPr lang="en-US" altLang="ko-KR" sz="1000" dirty="0"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우주에 존재하는 </a:t>
            </a:r>
            <a:r>
              <a:rPr lang="ko-KR" altLang="en-US" sz="1000" dirty="0" err="1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뭉쳐있는</a:t>
            </a:r>
            <a:r>
              <a:rPr lang="ko-KR" altLang="en-US" sz="100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물질 덩어리</a:t>
            </a:r>
            <a:endParaRPr lang="ko-KR" altLang="en-US" sz="1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856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D2A1C8-1174-4E26-B78D-D7200F22D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774" y="0"/>
            <a:ext cx="4848301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0259F8A-ED44-4C76-B7FC-04F3CE8337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06" t="1296" r="1007" b="8552"/>
          <a:stretch/>
        </p:blipFill>
        <p:spPr>
          <a:xfrm>
            <a:off x="6726888" y="0"/>
            <a:ext cx="4657801" cy="635317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B19A9A8-2924-428D-BDEF-356775D9FC3C}"/>
              </a:ext>
            </a:extLst>
          </p:cNvPr>
          <p:cNvSpPr/>
          <p:nvPr/>
        </p:nvSpPr>
        <p:spPr>
          <a:xfrm>
            <a:off x="6393513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B74A65-B018-42AF-B8A0-532CE965917B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A7CF2EC-1A79-48A6-BC0E-C64A3DB0B561}"/>
              </a:ext>
            </a:extLst>
          </p:cNvPr>
          <p:cNvSpPr/>
          <p:nvPr/>
        </p:nvSpPr>
        <p:spPr>
          <a:xfrm>
            <a:off x="6536388" y="3448050"/>
            <a:ext cx="4969666" cy="3321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5EF39FDC-3F88-4BD5-811E-FC0D5870E864}"/>
              </a:ext>
            </a:extLst>
          </p:cNvPr>
          <p:cNvSpPr/>
          <p:nvPr/>
        </p:nvSpPr>
        <p:spPr>
          <a:xfrm>
            <a:off x="6258661" y="2622903"/>
            <a:ext cx="486562" cy="268448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A8F81C-AA3D-45BA-9D45-C4E2226B8A30}"/>
              </a:ext>
            </a:extLst>
          </p:cNvPr>
          <p:cNvSpPr txBox="1"/>
          <p:nvPr/>
        </p:nvSpPr>
        <p:spPr>
          <a:xfrm>
            <a:off x="25167" y="337217"/>
            <a:ext cx="1317072" cy="2607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en-US" altLang="ko-KR" sz="11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설명 방법 파악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시각 자료 활용</a:t>
            </a:r>
            <a:endParaRPr lang="ko-KR" altLang="en-US" sz="1100" dirty="0">
              <a:solidFill>
                <a:schemeClr val="accent6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07B2E18-B627-4D60-A881-249989879441}"/>
              </a:ext>
            </a:extLst>
          </p:cNvPr>
          <p:cNvGrpSpPr/>
          <p:nvPr/>
        </p:nvGrpSpPr>
        <p:grpSpPr>
          <a:xfrm>
            <a:off x="7762528" y="2356865"/>
            <a:ext cx="3292796" cy="1095689"/>
            <a:chOff x="7762528" y="2356865"/>
            <a:chExt cx="3292796" cy="109568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1A4BF1-0545-4F60-A51F-B6E175B94A02}"/>
                </a:ext>
              </a:extLst>
            </p:cNvPr>
            <p:cNvSpPr txBox="1"/>
            <p:nvPr/>
          </p:nvSpPr>
          <p:spPr>
            <a:xfrm>
              <a:off x="7762528" y="2871215"/>
              <a:ext cx="448021" cy="321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창문</a:t>
              </a:r>
              <a:endPara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F014015-E957-41CE-9838-953288577FDB}"/>
                </a:ext>
              </a:extLst>
            </p:cNvPr>
            <p:cNvSpPr txBox="1"/>
            <p:nvPr/>
          </p:nvSpPr>
          <p:spPr>
            <a:xfrm>
              <a:off x="8410229" y="2356865"/>
              <a:ext cx="2038696" cy="321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납유리        색유리          </a:t>
              </a:r>
              <a:r>
                <a:rPr lang="ko-KR" altLang="en-US" sz="1100" dirty="0" err="1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물유리</a:t>
              </a:r>
              <a:endPara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CEE89D9-B88B-46AC-8905-DF6F9479D2AB}"/>
                </a:ext>
              </a:extLst>
            </p:cNvPr>
            <p:cNvSpPr txBox="1"/>
            <p:nvPr/>
          </p:nvSpPr>
          <p:spPr>
            <a:xfrm>
              <a:off x="8429278" y="2709290"/>
              <a:ext cx="448021" cy="575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전구</a:t>
              </a:r>
              <a:endPara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안경</a:t>
              </a:r>
              <a:endPara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105F3FC-018A-44D7-B185-C03A08E6AED5}"/>
                </a:ext>
              </a:extLst>
            </p:cNvPr>
            <p:cNvSpPr txBox="1"/>
            <p:nvPr/>
          </p:nvSpPr>
          <p:spPr>
            <a:xfrm>
              <a:off x="9086503" y="2622903"/>
              <a:ext cx="646985" cy="8296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신호등</a:t>
              </a:r>
              <a:endPara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용접 </a:t>
              </a:r>
              <a:endPara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보안경</a:t>
              </a:r>
              <a:endPara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652D54-8C4E-4160-85F9-CEC9DBC02E02}"/>
                </a:ext>
              </a:extLst>
            </p:cNvPr>
            <p:cNvSpPr txBox="1"/>
            <p:nvPr/>
          </p:nvSpPr>
          <p:spPr>
            <a:xfrm>
              <a:off x="9696818" y="2622903"/>
              <a:ext cx="685085" cy="8296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금속이 녹스는 것 방지</a:t>
              </a:r>
              <a:endPara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253DAEE-41C5-4386-87FC-6C8D1D833E8E}"/>
                </a:ext>
              </a:extLst>
            </p:cNvPr>
            <p:cNvSpPr txBox="1"/>
            <p:nvPr/>
          </p:nvSpPr>
          <p:spPr>
            <a:xfrm>
              <a:off x="10425515" y="2744256"/>
              <a:ext cx="629809" cy="575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자동차의 창</a:t>
              </a:r>
              <a:endPara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936C159-2309-4114-AB02-E12178FF0385}"/>
              </a:ext>
            </a:extLst>
          </p:cNvPr>
          <p:cNvGrpSpPr/>
          <p:nvPr/>
        </p:nvGrpSpPr>
        <p:grpSpPr>
          <a:xfrm>
            <a:off x="7003127" y="3749733"/>
            <a:ext cx="4100378" cy="2606588"/>
            <a:chOff x="7003126" y="3581661"/>
            <a:chExt cx="4364769" cy="2774660"/>
          </a:xfrm>
        </p:grpSpPr>
        <p:pic>
          <p:nvPicPr>
            <p:cNvPr id="1026" name="Picture 2" descr="ytoptics.com/windows/sod...">
              <a:extLst>
                <a:ext uri="{FF2B5EF4-FFF2-40B4-BE49-F238E27FC236}">
                  <a16:creationId xmlns:a16="http://schemas.microsoft.com/office/drawing/2014/main" id="{F157B8B5-FB98-4297-BDA2-A332542D9A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03126" y="3602702"/>
              <a:ext cx="1432847" cy="1432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allaboutglass.cmog.org/d...">
              <a:extLst>
                <a:ext uri="{FF2B5EF4-FFF2-40B4-BE49-F238E27FC236}">
                  <a16:creationId xmlns:a16="http://schemas.microsoft.com/office/drawing/2014/main" id="{6D0F8E68-5CF3-4361-A179-5A4A9B44D9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9278" y="3602703"/>
              <a:ext cx="1469805" cy="1438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advancedtechnicalprod.co...">
              <a:extLst>
                <a:ext uri="{FF2B5EF4-FFF2-40B4-BE49-F238E27FC236}">
                  <a16:creationId xmlns:a16="http://schemas.microsoft.com/office/drawing/2014/main" id="{C82A12F6-1FFF-42B2-8919-D5745CFF0D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95104" y="3581661"/>
              <a:ext cx="1445081" cy="1445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continentaltrade.com.pl/...">
              <a:extLst>
                <a:ext uri="{FF2B5EF4-FFF2-40B4-BE49-F238E27FC236}">
                  <a16:creationId xmlns:a16="http://schemas.microsoft.com/office/drawing/2014/main" id="{3F0D3A54-16B6-476B-BE90-768A3E242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03126" y="4942302"/>
              <a:ext cx="2083377" cy="1414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F11E08EA-51EC-4374-B165-87AEC866F0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56" r="-986" b="52060"/>
            <a:stretch/>
          </p:blipFill>
          <p:spPr bwMode="auto">
            <a:xfrm>
              <a:off x="9074745" y="4942303"/>
              <a:ext cx="2293150" cy="13866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6404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FDAFED6-B98D-4927-9DE3-92CCC2DDD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114" y="0"/>
            <a:ext cx="4848301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0259F8A-ED44-4C76-B7FC-04F3CE8337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06" t="1296" r="1007" b="8552"/>
          <a:stretch/>
        </p:blipFill>
        <p:spPr>
          <a:xfrm>
            <a:off x="6726888" y="0"/>
            <a:ext cx="4657801" cy="635317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B19A9A8-2924-428D-BDEF-356775D9FC3C}"/>
              </a:ext>
            </a:extLst>
          </p:cNvPr>
          <p:cNvSpPr/>
          <p:nvPr/>
        </p:nvSpPr>
        <p:spPr>
          <a:xfrm>
            <a:off x="6393513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B74A65-B018-42AF-B8A0-532CE965917B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A7CF2EC-1A79-48A6-BC0E-C64A3DB0B561}"/>
              </a:ext>
            </a:extLst>
          </p:cNvPr>
          <p:cNvSpPr/>
          <p:nvPr/>
        </p:nvSpPr>
        <p:spPr>
          <a:xfrm>
            <a:off x="6536388" y="1438275"/>
            <a:ext cx="4969666" cy="2076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5EF39FDC-3F88-4BD5-811E-FC0D5870E864}"/>
              </a:ext>
            </a:extLst>
          </p:cNvPr>
          <p:cNvSpPr/>
          <p:nvPr/>
        </p:nvSpPr>
        <p:spPr>
          <a:xfrm>
            <a:off x="6258661" y="4665502"/>
            <a:ext cx="486562" cy="268448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A8F81C-AA3D-45BA-9D45-C4E2226B8A30}"/>
              </a:ext>
            </a:extLst>
          </p:cNvPr>
          <p:cNvSpPr txBox="1"/>
          <p:nvPr/>
        </p:nvSpPr>
        <p:spPr>
          <a:xfrm>
            <a:off x="25167" y="337217"/>
            <a:ext cx="1317072" cy="2607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en-US" altLang="ko-KR" sz="11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설명 방법 파악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시각 자료 활용</a:t>
            </a:r>
            <a:endParaRPr lang="ko-KR" altLang="en-US" sz="1100" dirty="0">
              <a:solidFill>
                <a:schemeClr val="accent6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ADDEDA-373B-4091-9247-F274A2A99BAE}"/>
              </a:ext>
            </a:extLst>
          </p:cNvPr>
          <p:cNvSpPr txBox="1"/>
          <p:nvPr/>
        </p:nvSpPr>
        <p:spPr>
          <a:xfrm>
            <a:off x="6834611" y="5522022"/>
            <a:ext cx="4469999" cy="1083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&lt;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생명을 가진 지구</a:t>
            </a:r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&gt;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글의 </a:t>
            </a:r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처음</a:t>
            </a:r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부분에서 지구가 병들어가는 까닭을 유해 가스</a:t>
            </a:r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폐수</a:t>
            </a:r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화학 물질 등 때문이라고 설명한다</a:t>
            </a:r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글의 시각 자료인 사진은 공장에서 배출되는 가스를 보여 주고 있으므로 글의 정보를 보충하고 설명을 뒷받침하기 때문에 적절하다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E0441C-7751-45CD-9ED7-9834A2B03AD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26" t="14082" r="25422" b="17303"/>
          <a:stretch/>
        </p:blipFill>
        <p:spPr>
          <a:xfrm>
            <a:off x="7058856" y="1403004"/>
            <a:ext cx="4064639" cy="227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0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21BF627-DEBF-4B4B-90FE-35E1EDD451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" t="1945" r="702" b="1528"/>
          <a:stretch/>
        </p:blipFill>
        <p:spPr>
          <a:xfrm>
            <a:off x="1383222" y="-1553"/>
            <a:ext cx="10176160" cy="683987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2AB8B74-12EE-4C59-B723-5FE7A8286893}"/>
              </a:ext>
            </a:extLst>
          </p:cNvPr>
          <p:cNvSpPr/>
          <p:nvPr/>
        </p:nvSpPr>
        <p:spPr>
          <a:xfrm>
            <a:off x="5901025" y="19678"/>
            <a:ext cx="381000" cy="6827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37337B-FD2E-476C-B1BE-F44959705966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풀이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11DFB73-CBF5-480B-84B8-FEF30822DB91}"/>
              </a:ext>
            </a:extLst>
          </p:cNvPr>
          <p:cNvSpPr/>
          <p:nvPr/>
        </p:nvSpPr>
        <p:spPr>
          <a:xfrm>
            <a:off x="1478473" y="628650"/>
            <a:ext cx="381000" cy="5886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66A1B-3386-436F-BF1C-728A9A39A539}"/>
              </a:ext>
            </a:extLst>
          </p:cNvPr>
          <p:cNvSpPr txBox="1"/>
          <p:nvPr/>
        </p:nvSpPr>
        <p:spPr>
          <a:xfrm>
            <a:off x="25167" y="337217"/>
            <a:ext cx="1317072" cy="2607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en-US" altLang="ko-KR" sz="11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설명 방법 파악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시각 자료 활용</a:t>
            </a:r>
            <a:endParaRPr lang="ko-KR" altLang="en-US" sz="1100" dirty="0">
              <a:solidFill>
                <a:schemeClr val="accent6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88AE30-4866-4387-A2D0-1DD29AD5778B}"/>
              </a:ext>
            </a:extLst>
          </p:cNvPr>
          <p:cNvSpPr/>
          <p:nvPr/>
        </p:nvSpPr>
        <p:spPr>
          <a:xfrm>
            <a:off x="1859473" y="6076949"/>
            <a:ext cx="4422551" cy="52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0E53D3-5EBE-4A15-9122-2C168331B66E}"/>
              </a:ext>
            </a:extLst>
          </p:cNvPr>
          <p:cNvSpPr txBox="1"/>
          <p:nvPr/>
        </p:nvSpPr>
        <p:spPr>
          <a:xfrm>
            <a:off x="7919101" y="2944277"/>
            <a:ext cx="4469999" cy="321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과거에 비해 오늘날 오존층에 난 구멍의 크기가 점점 커지고 있다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E5A3E2-9644-4DBC-99BF-60DF8F8C59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87" t="18226" r="26323" b="57068"/>
          <a:stretch/>
        </p:blipFill>
        <p:spPr>
          <a:xfrm>
            <a:off x="9586114" y="19678"/>
            <a:ext cx="2605886" cy="193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00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51BFA06-33D9-43CE-A550-64EF13A71C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9" t="1666" r="791" b="1528"/>
          <a:stretch/>
        </p:blipFill>
        <p:spPr>
          <a:xfrm>
            <a:off x="1342239" y="0"/>
            <a:ext cx="10121218" cy="685799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0E0A487-7B1E-4507-A11E-C560DC8EA954}"/>
              </a:ext>
            </a:extLst>
          </p:cNvPr>
          <p:cNvSpPr/>
          <p:nvPr/>
        </p:nvSpPr>
        <p:spPr>
          <a:xfrm>
            <a:off x="6096000" y="0"/>
            <a:ext cx="4762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7CCCA-284D-4DB9-9116-91176FE256E0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풀이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219DD2-A7E7-4F4C-8ADE-88A97773BE4E}"/>
              </a:ext>
            </a:extLst>
          </p:cNvPr>
          <p:cNvSpPr/>
          <p:nvPr/>
        </p:nvSpPr>
        <p:spPr>
          <a:xfrm>
            <a:off x="1257300" y="600076"/>
            <a:ext cx="476250" cy="6000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539A57-60BC-4661-8C4F-9A8C3E799485}"/>
              </a:ext>
            </a:extLst>
          </p:cNvPr>
          <p:cNvSpPr txBox="1"/>
          <p:nvPr/>
        </p:nvSpPr>
        <p:spPr>
          <a:xfrm>
            <a:off x="25167" y="337217"/>
            <a:ext cx="1317072" cy="2607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en-US" altLang="ko-KR" sz="11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└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설명 방법 파악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시각 자료 활용</a:t>
            </a:r>
            <a:endParaRPr lang="ko-KR" altLang="en-US" sz="1100" dirty="0">
              <a:solidFill>
                <a:schemeClr val="accent6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06F166-840A-4D64-8BAD-02E978ABB8AC}"/>
              </a:ext>
            </a:extLst>
          </p:cNvPr>
          <p:cNvSpPr/>
          <p:nvPr/>
        </p:nvSpPr>
        <p:spPr>
          <a:xfrm>
            <a:off x="5901025" y="66674"/>
            <a:ext cx="381000" cy="6780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82CFAF-8189-4951-9F5B-3390D0F298C1}"/>
              </a:ext>
            </a:extLst>
          </p:cNvPr>
          <p:cNvSpPr/>
          <p:nvPr/>
        </p:nvSpPr>
        <p:spPr>
          <a:xfrm>
            <a:off x="1859473" y="6076949"/>
            <a:ext cx="4422551" cy="52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6757C45-2A31-44E8-A706-874A755C25EC}"/>
              </a:ext>
            </a:extLst>
          </p:cNvPr>
          <p:cNvGrpSpPr/>
          <p:nvPr/>
        </p:nvGrpSpPr>
        <p:grpSpPr>
          <a:xfrm>
            <a:off x="7138571" y="2706152"/>
            <a:ext cx="2872204" cy="1626744"/>
            <a:chOff x="7138571" y="2706152"/>
            <a:chExt cx="2872204" cy="162674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8F3B95E-7347-4482-A11C-5A2908A7ECD2}"/>
                </a:ext>
              </a:extLst>
            </p:cNvPr>
            <p:cNvSpPr txBox="1"/>
            <p:nvPr/>
          </p:nvSpPr>
          <p:spPr>
            <a:xfrm>
              <a:off x="7138571" y="4011077"/>
              <a:ext cx="750752" cy="321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얼음</a:t>
              </a: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고체</a:t>
              </a: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  <a:endPara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2A8F0C3-9BDB-408D-947F-90026A023BA0}"/>
                </a:ext>
              </a:extLst>
            </p:cNvPr>
            <p:cNvSpPr txBox="1"/>
            <p:nvPr/>
          </p:nvSpPr>
          <p:spPr>
            <a:xfrm>
              <a:off x="8424446" y="3296702"/>
              <a:ext cx="750752" cy="321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물</a:t>
              </a: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액체</a:t>
              </a: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  <a:endPara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B2D9AF7-0C37-433F-8292-8923A2734C07}"/>
                </a:ext>
              </a:extLst>
            </p:cNvPr>
            <p:cNvSpPr txBox="1"/>
            <p:nvPr/>
          </p:nvSpPr>
          <p:spPr>
            <a:xfrm>
              <a:off x="9043571" y="2706152"/>
              <a:ext cx="967204" cy="321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수증기</a:t>
              </a: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기체</a:t>
              </a: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  <a:endPara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5C4DD130-E5BA-4750-BD2B-58DE2CDB3D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18" t="22922" r="9891" b="57068"/>
          <a:stretch/>
        </p:blipFill>
        <p:spPr>
          <a:xfrm>
            <a:off x="10161917" y="-3775"/>
            <a:ext cx="2054375" cy="108772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0DF0C40-0FC8-4369-A18E-804E52563A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333" t="16514" r="2512" b="57068"/>
          <a:stretch/>
        </p:blipFill>
        <p:spPr>
          <a:xfrm>
            <a:off x="10161917" y="1083949"/>
            <a:ext cx="2054375" cy="134193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34E0A57-2F10-4CE7-B1C3-A02A9687134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194" t="16636" r="2512" b="56946"/>
          <a:stretch/>
        </p:blipFill>
        <p:spPr>
          <a:xfrm>
            <a:off x="10161917" y="2425888"/>
            <a:ext cx="2054375" cy="128805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4EFE300-A9A5-4DD7-8811-FD11152B13E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194" t="21464" r="2838" b="56579"/>
          <a:stretch/>
        </p:blipFill>
        <p:spPr>
          <a:xfrm>
            <a:off x="1730104" y="5696750"/>
            <a:ext cx="2248350" cy="115063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EF1C50E-B010-404F-8C34-65EEB3C4A49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395" t="16981" r="221" b="57068"/>
          <a:stretch/>
        </p:blipFill>
        <p:spPr>
          <a:xfrm>
            <a:off x="3978455" y="5696751"/>
            <a:ext cx="1922569" cy="114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65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5080A0E9-A5E9-423E-BCC4-F75C155114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9" t="185" r="551" b="185"/>
          <a:stretch/>
        </p:blipFill>
        <p:spPr>
          <a:xfrm>
            <a:off x="1564122" y="0"/>
            <a:ext cx="9546356" cy="683260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FF08C136-01DD-4F73-B09C-BC2D92AE64C6}"/>
              </a:ext>
            </a:extLst>
          </p:cNvPr>
          <p:cNvGrpSpPr/>
          <p:nvPr/>
        </p:nvGrpSpPr>
        <p:grpSpPr>
          <a:xfrm>
            <a:off x="0" y="1"/>
            <a:ext cx="11318583" cy="6353450"/>
            <a:chOff x="0" y="1"/>
            <a:chExt cx="11318583" cy="635345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EBDE773-F9B6-4683-A83B-52846EFE833B}"/>
                </a:ext>
              </a:extLst>
            </p:cNvPr>
            <p:cNvSpPr/>
            <p:nvPr/>
          </p:nvSpPr>
          <p:spPr>
            <a:xfrm>
              <a:off x="5918200" y="12700"/>
              <a:ext cx="419100" cy="6245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033B956-31ED-4639-A41E-15A8F4A74A95}"/>
                </a:ext>
              </a:extLst>
            </p:cNvPr>
            <p:cNvSpPr/>
            <p:nvPr/>
          </p:nvSpPr>
          <p:spPr>
            <a:xfrm>
              <a:off x="1877473" y="630237"/>
              <a:ext cx="381000" cy="5010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649DF1C-FA83-4DCF-8FCA-8D52C7707453}"/>
                </a:ext>
              </a:extLst>
            </p:cNvPr>
            <p:cNvSpPr/>
            <p:nvPr/>
          </p:nvSpPr>
          <p:spPr>
            <a:xfrm>
              <a:off x="10807700" y="742950"/>
              <a:ext cx="381000" cy="5124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033B0B9-101B-419D-A557-077F673CDDA7}"/>
                </a:ext>
              </a:extLst>
            </p:cNvPr>
            <p:cNvSpPr/>
            <p:nvPr/>
          </p:nvSpPr>
          <p:spPr>
            <a:xfrm rot="5400000">
              <a:off x="6089650" y="-3806825"/>
              <a:ext cx="381000" cy="9055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9621079-5AF9-47ED-AC72-2C0A1D3F110C}"/>
                </a:ext>
              </a:extLst>
            </p:cNvPr>
            <p:cNvSpPr/>
            <p:nvPr/>
          </p:nvSpPr>
          <p:spPr>
            <a:xfrm>
              <a:off x="0" y="1"/>
              <a:ext cx="2914650" cy="787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2686D5C-12C7-442B-ABDB-E5A4EE4940A9}"/>
                </a:ext>
              </a:extLst>
            </p:cNvPr>
            <p:cNvSpPr/>
            <p:nvPr/>
          </p:nvSpPr>
          <p:spPr>
            <a:xfrm>
              <a:off x="10937583" y="1343301"/>
              <a:ext cx="381000" cy="5010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1BD58ABD-8356-41CC-83A8-57F7C20FAAB6}"/>
              </a:ext>
            </a:extLst>
          </p:cNvPr>
          <p:cNvSpPr/>
          <p:nvPr/>
        </p:nvSpPr>
        <p:spPr>
          <a:xfrm>
            <a:off x="5969000" y="6350"/>
            <a:ext cx="203200" cy="736600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17DE26-4DF7-4118-A486-7B26B89B1E94}"/>
              </a:ext>
            </a:extLst>
          </p:cNvPr>
          <p:cNvSpPr txBox="1"/>
          <p:nvPr/>
        </p:nvSpPr>
        <p:spPr>
          <a:xfrm>
            <a:off x="6781566" y="2492592"/>
            <a:ext cx="3920397" cy="2835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√    전   구   </a:t>
            </a:r>
            <a:r>
              <a:rPr lang="ko-KR" altLang="en-US" sz="12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연   결   하   는      방   법   은   </a:t>
            </a: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    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   </a:t>
            </a:r>
            <a:r>
              <a:rPr lang="ko-KR" altLang="en-US" sz="12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있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으    며      전   구   의      </a:t>
            </a:r>
            <a:r>
              <a:rPr lang="ko-KR" altLang="en-US" sz="12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밝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기   는 </a:t>
            </a: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 .  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  러   한     내   용   을     이  해   하   는    데</a:t>
            </a:r>
            <a:endParaRPr lang="en-US" altLang="ko-KR" sz="12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       시  각   자  료  ● </a:t>
            </a:r>
            <a:r>
              <a:rPr lang="ko-KR" altLang="en-US" sz="12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활   용  하  는  것  이 </a:t>
            </a: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~~~~~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 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~~~~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때   문   이   다  </a:t>
            </a: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12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B1E36E-78B2-4EB4-8E92-C4B0A379B3A5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확장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0468FC-C98A-41DB-B995-4ECD58F1CA9A}"/>
              </a:ext>
            </a:extLst>
          </p:cNvPr>
          <p:cNvSpPr txBox="1"/>
          <p:nvPr/>
        </p:nvSpPr>
        <p:spPr>
          <a:xfrm>
            <a:off x="25167" y="446274"/>
            <a:ext cx="1577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서술형 평가 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720717D-91D3-4C21-BD96-8E6D26431028}"/>
              </a:ext>
            </a:extLst>
          </p:cNvPr>
          <p:cNvSpPr/>
          <p:nvPr/>
        </p:nvSpPr>
        <p:spPr>
          <a:xfrm>
            <a:off x="6017818" y="3063714"/>
            <a:ext cx="486562" cy="268448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47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9BE7DA0-E7E6-4456-9589-0AAA06BBAD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69" t="8333" r="25391" b="3751"/>
          <a:stretch/>
        </p:blipFill>
        <p:spPr>
          <a:xfrm>
            <a:off x="6848135" y="-1"/>
            <a:ext cx="4777808" cy="685800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4A4BB47-8623-4140-B264-D5348E7633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312" t="9655" r="25344" b="4168"/>
          <a:stretch/>
        </p:blipFill>
        <p:spPr>
          <a:xfrm>
            <a:off x="1661272" y="114300"/>
            <a:ext cx="4777808" cy="67437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433D3A-9E23-429B-9064-ED46328F7BFD}"/>
              </a:ext>
            </a:extLst>
          </p:cNvPr>
          <p:cNvSpPr txBox="1"/>
          <p:nvPr/>
        </p:nvSpPr>
        <p:spPr>
          <a:xfrm>
            <a:off x="0" y="0"/>
            <a:ext cx="1407223" cy="369332"/>
          </a:xfrm>
          <a:prstGeom prst="rect">
            <a:avLst/>
          </a:prstGeom>
          <a:solidFill>
            <a:srgbClr val="D3A9CA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스스로 과제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2991FA-A49D-4F0D-A88B-7CFC3D105EB6}"/>
              </a:ext>
            </a:extLst>
          </p:cNvPr>
          <p:cNvSpPr txBox="1"/>
          <p:nvPr/>
        </p:nvSpPr>
        <p:spPr>
          <a:xfrm>
            <a:off x="25167" y="446274"/>
            <a:ext cx="1577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내용 확장하며 구조화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C9E02E-6ED5-451F-BFDE-03C1CF3C6F75}"/>
              </a:ext>
            </a:extLst>
          </p:cNvPr>
          <p:cNvSpPr/>
          <p:nvPr/>
        </p:nvSpPr>
        <p:spPr>
          <a:xfrm>
            <a:off x="1714500" y="3619499"/>
            <a:ext cx="2565400" cy="850901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290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433D3A-9E23-429B-9064-ED46328F7BFD}"/>
              </a:ext>
            </a:extLst>
          </p:cNvPr>
          <p:cNvSpPr txBox="1"/>
          <p:nvPr/>
        </p:nvSpPr>
        <p:spPr>
          <a:xfrm>
            <a:off x="0" y="0"/>
            <a:ext cx="140722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어휘 복습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2991FA-A49D-4F0D-A88B-7CFC3D105EB6}"/>
              </a:ext>
            </a:extLst>
          </p:cNvPr>
          <p:cNvSpPr txBox="1"/>
          <p:nvPr/>
        </p:nvSpPr>
        <p:spPr>
          <a:xfrm>
            <a:off x="25167" y="446274"/>
            <a:ext cx="1577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1100" dirty="0" err="1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퀴즈앤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퀴즈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729514-DD64-48D3-AECF-4C09307103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047" t="15731" r="36714" b="9842"/>
          <a:stretch/>
        </p:blipFill>
        <p:spPr>
          <a:xfrm>
            <a:off x="1407223" y="0"/>
            <a:ext cx="4789577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3FE3039-B821-4011-B59A-98FEE40EE6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929" t="15662" r="36832" b="9910"/>
          <a:stretch/>
        </p:blipFill>
        <p:spPr>
          <a:xfrm>
            <a:off x="6323534" y="0"/>
            <a:ext cx="4789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96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462</Words>
  <Application>Microsoft Office PowerPoint</Application>
  <PresentationFormat>와이드스크린</PresentationFormat>
  <Paragraphs>121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나눔스퀘어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heeya4170@gmail.com</cp:lastModifiedBy>
  <cp:revision>38</cp:revision>
  <dcterms:created xsi:type="dcterms:W3CDTF">2025-03-29T10:39:11Z</dcterms:created>
  <dcterms:modified xsi:type="dcterms:W3CDTF">2025-08-29T00:46:20Z</dcterms:modified>
</cp:coreProperties>
</file>