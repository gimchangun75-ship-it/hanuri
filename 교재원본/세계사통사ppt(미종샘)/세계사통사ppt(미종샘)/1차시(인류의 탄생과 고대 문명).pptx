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3" r:id="rId3"/>
    <p:sldId id="279" r:id="rId4"/>
    <p:sldId id="277" r:id="rId5"/>
    <p:sldId id="281" r:id="rId6"/>
    <p:sldId id="287" r:id="rId7"/>
    <p:sldId id="285" r:id="rId8"/>
    <p:sldId id="286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F09E-2F48-4E2E-887D-C83A1703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227155-6CC4-4A07-827B-08BD9D3C4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C9475-BBB8-4E7C-B71C-BA69F3E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115D5-E04F-46B4-9026-0897E20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601A8-7A5F-4A85-98F0-640FE50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AA440-2DC7-49F8-ABF3-AC42155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4BD65-C34B-4B31-861B-6B2FEA43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968D4-CEA1-4ED5-9831-87855B4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21234-7B8F-4404-9C12-CD50653A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11D50-9C5A-4226-8BDD-1FD3BB2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1B46-3C1C-4B65-83CE-29B306DB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3F87C-106D-4D19-8DB6-18A042F69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9D4D-0FED-4442-B439-26F9223B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3A45C-DBC1-4D4A-88AA-5D80C54C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BA1CB-1588-4222-AB69-59FEDF91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0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E135B-E430-499B-AD4A-44B43FD9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863E5-1843-4A4C-9004-0E5780BF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11DA0-B5AC-408A-9B24-910EC5B4F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0DE3B-1C4C-42BE-8C7E-0A03B3BC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75DDF-57E6-42DE-B908-F3D9F21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51BDF-7C0C-445E-BBE1-395731FA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37B-E50D-4CDA-B697-5F41D805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193AE-DBA3-43D7-9C42-86D280EDC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BD590-9B7A-4B1E-8CD5-CBC55361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791AA-4CA9-4EBD-ADCF-45995414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37961-538C-401B-BA6C-81B6E345E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2A739A-A9F7-41C3-8E73-C58B3966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234EBC-BA27-4A3B-BBAD-2A84BE0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7CE16-42DC-46A9-AD74-8AC77F1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6BFB-6767-4325-90A4-D87B215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661116-7BFA-4449-AA52-93E6DD0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57FBD7-122F-48CE-82E5-C3CFE3A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B7F33-CE8D-4098-8F32-5315E36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2BD6F-CF9D-499D-ABDD-DF4A5EB7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8FC5D9-2E9D-42A8-B651-C4A2CC6D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570DE-7E0C-485D-8328-72AC5FB7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748D-3391-40D5-992B-48BCB17B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AF4B-B7D5-49D9-8969-0CD238F5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B7B14-BF99-4106-AE0C-F05D09AE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3C3F4-1B10-4CD7-BD18-68EB586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03EB7-E983-4545-8671-7BE21E20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A0FE2-ED3E-4581-B0D5-88909DA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3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62667-DBBB-4A4D-BAE9-F2D59A9E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5DBF80-FFFA-4CD8-9BDA-A39A273A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F5535C-32B6-41A8-8D53-B84ECB90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587FB1-1472-4E7B-94B6-659863E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94D4-590D-493F-8138-53F7CA5A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7E70A-B0FA-4C12-ADF7-DC10C86C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0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077AA-FE8C-41FE-927E-C363475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3F264-7FEE-477D-B6AD-17E4A3B9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3B7DD-6D54-4392-8080-BC88ECF7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3D4E4-9827-46BB-860A-BB27586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6D0B1-EAAE-4ABE-A3A4-65BF6FB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3092B-8A1F-492F-932D-F9A5CE830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AA047-6D64-43A4-AFE0-246807DF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7278F-7610-4CDD-B60D-2518C3E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B3C1-A624-4119-9C3A-C5C227D7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C8147-0120-40A8-806B-9CC651F7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46CEAD-EDE2-479A-9F7E-BD61BDB0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E9DE0-42FC-4E12-A53D-088334F5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AFD70-A355-4236-8E75-E3F63258A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9C325-16F0-4E5B-9146-ADEC5507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10C-87C5-42DE-9363-2810FD536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2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DA6985-C3BD-4D21-B216-0AD1DA5A3AEB}"/>
              </a:ext>
            </a:extLst>
          </p:cNvPr>
          <p:cNvSpPr txBox="1"/>
          <p:nvPr/>
        </p:nvSpPr>
        <p:spPr>
          <a:xfrm>
            <a:off x="3663101" y="2514302"/>
            <a:ext cx="75668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인류의 탄생부터 </a:t>
            </a:r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문명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발생 시기까지의 역사를 파악한다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도구에 따른 인류의 생활 변화를 알아보고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여러 고대 문명의 특징을 이해할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6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58E71F-05F2-47C9-BA24-5019B9EC44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6" t="21070" r="20013" b="58235"/>
          <a:stretch/>
        </p:blipFill>
        <p:spPr>
          <a:xfrm>
            <a:off x="437956" y="408318"/>
            <a:ext cx="2609850" cy="141922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109D036-05BF-4D45-A4F0-B6884B9C5E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0" t="58186" r="6571" b="2952"/>
          <a:stretch/>
        </p:blipFill>
        <p:spPr>
          <a:xfrm>
            <a:off x="3838575" y="3429000"/>
            <a:ext cx="4295775" cy="280183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750985-C6A6-487E-A622-5A5C07F7BE52}"/>
              </a:ext>
            </a:extLst>
          </p:cNvPr>
          <p:cNvSpPr/>
          <p:nvPr/>
        </p:nvSpPr>
        <p:spPr>
          <a:xfrm>
            <a:off x="1923243" y="2580038"/>
            <a:ext cx="107604" cy="5091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F407F-2D88-4762-80A7-3DA7561A0052}"/>
              </a:ext>
            </a:extLst>
          </p:cNvPr>
          <p:cNvSpPr txBox="1"/>
          <p:nvPr/>
        </p:nvSpPr>
        <p:spPr>
          <a:xfrm>
            <a:off x="2054932" y="2433586"/>
            <a:ext cx="17836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목표</a:t>
            </a:r>
          </a:p>
        </p:txBody>
      </p:sp>
    </p:spTree>
    <p:extLst>
      <p:ext uri="{BB962C8B-B14F-4D97-AF65-F5344CB8AC3E}">
        <p14:creationId xmlns:p14="http://schemas.microsoft.com/office/powerpoint/2010/main" val="163950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브리핑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시간 타임라인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753B8C-131E-484F-848D-E0DDAE73C70D}"/>
              </a:ext>
            </a:extLst>
          </p:cNvPr>
          <p:cNvSpPr txBox="1"/>
          <p:nvPr/>
        </p:nvSpPr>
        <p:spPr>
          <a:xfrm>
            <a:off x="109056" y="551491"/>
            <a:ext cx="657749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연표와 지도를 보며 이번 시간에 학습할 세계사의 주요 사건 및 용어를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57439F-75D7-417F-BE5E-47A1A8AB0B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" t="8304" r="506" b="6974"/>
          <a:stretch/>
        </p:blipFill>
        <p:spPr>
          <a:xfrm>
            <a:off x="1204912" y="998772"/>
            <a:ext cx="9782176" cy="58102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D009AF5-EBB2-40AE-9FE1-6BED58BE6A36}"/>
              </a:ext>
            </a:extLst>
          </p:cNvPr>
          <p:cNvSpPr/>
          <p:nvPr/>
        </p:nvSpPr>
        <p:spPr>
          <a:xfrm>
            <a:off x="809625" y="998772"/>
            <a:ext cx="385762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A0AFAE-D339-4492-ADAB-FBF6035D306F}"/>
              </a:ext>
            </a:extLst>
          </p:cNvPr>
          <p:cNvSpPr/>
          <p:nvPr/>
        </p:nvSpPr>
        <p:spPr>
          <a:xfrm>
            <a:off x="2695575" y="2124075"/>
            <a:ext cx="438150" cy="20002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4622B43-A47F-4E93-9D52-1EA5FD8DCE3E}"/>
              </a:ext>
            </a:extLst>
          </p:cNvPr>
          <p:cNvSpPr/>
          <p:nvPr/>
        </p:nvSpPr>
        <p:spPr>
          <a:xfrm>
            <a:off x="4581524" y="3690938"/>
            <a:ext cx="862013" cy="2000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ABF9B82-9402-4264-81AD-519CF5535DB7}"/>
              </a:ext>
            </a:extLst>
          </p:cNvPr>
          <p:cNvSpPr/>
          <p:nvPr/>
        </p:nvSpPr>
        <p:spPr>
          <a:xfrm>
            <a:off x="3933825" y="5153978"/>
            <a:ext cx="733426" cy="2000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BBBDCEA-F6D3-47A0-92DF-9FC0446F5CF8}"/>
              </a:ext>
            </a:extLst>
          </p:cNvPr>
          <p:cNvSpPr/>
          <p:nvPr/>
        </p:nvSpPr>
        <p:spPr>
          <a:xfrm>
            <a:off x="5107305" y="5153978"/>
            <a:ext cx="676275" cy="2000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560C0C5-6DFC-482A-A2D6-0AC49323EB44}"/>
              </a:ext>
            </a:extLst>
          </p:cNvPr>
          <p:cNvSpPr/>
          <p:nvPr/>
        </p:nvSpPr>
        <p:spPr>
          <a:xfrm>
            <a:off x="6408422" y="5077778"/>
            <a:ext cx="510538" cy="2000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AA5BD4A-820E-4508-AF96-487553C29D6B}"/>
              </a:ext>
            </a:extLst>
          </p:cNvPr>
          <p:cNvSpPr/>
          <p:nvPr/>
        </p:nvSpPr>
        <p:spPr>
          <a:xfrm>
            <a:off x="6408422" y="5321618"/>
            <a:ext cx="510538" cy="2000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13DFE6-0993-46F1-A71B-7A7535509E19}"/>
              </a:ext>
            </a:extLst>
          </p:cNvPr>
          <p:cNvSpPr txBox="1"/>
          <p:nvPr/>
        </p:nvSpPr>
        <p:spPr>
          <a:xfrm>
            <a:off x="3987627" y="6013024"/>
            <a:ext cx="1932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청동기 시대</a:t>
            </a:r>
            <a:endParaRPr lang="en-US" altLang="ko-KR" sz="12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고조선 건국</a:t>
            </a:r>
            <a:endParaRPr lang="en-US" altLang="ko-KR" sz="12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기원전 </a:t>
            </a:r>
            <a:r>
              <a:rPr lang="en-US" altLang="ko-KR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2333</a:t>
            </a:r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12499B7-2C18-451A-AB20-89F92A456D5B}"/>
              </a:ext>
            </a:extLst>
          </p:cNvPr>
          <p:cNvSpPr/>
          <p:nvPr/>
        </p:nvSpPr>
        <p:spPr>
          <a:xfrm>
            <a:off x="3933825" y="6073145"/>
            <a:ext cx="53802" cy="7358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33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3D18585-6574-4CF2-9F76-993F086606FE}"/>
              </a:ext>
            </a:extLst>
          </p:cNvPr>
          <p:cNvSpPr/>
          <p:nvPr/>
        </p:nvSpPr>
        <p:spPr>
          <a:xfrm>
            <a:off x="3933825" y="5656898"/>
            <a:ext cx="733426" cy="2000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2B57CB1-F81D-41FF-9886-7A421E7AB80C}"/>
              </a:ext>
            </a:extLst>
          </p:cNvPr>
          <p:cNvSpPr/>
          <p:nvPr/>
        </p:nvSpPr>
        <p:spPr>
          <a:xfrm>
            <a:off x="5107305" y="5664518"/>
            <a:ext cx="676275" cy="2000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0A261F-403D-41D9-9721-134D8A753038}"/>
              </a:ext>
            </a:extLst>
          </p:cNvPr>
          <p:cNvSpPr/>
          <p:nvPr/>
        </p:nvSpPr>
        <p:spPr>
          <a:xfrm>
            <a:off x="6408422" y="5664518"/>
            <a:ext cx="570739" cy="2000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F5065608-E824-4BDB-BBBD-52CD1BF39D46}"/>
              </a:ext>
            </a:extLst>
          </p:cNvPr>
          <p:cNvCxnSpPr>
            <a:cxnSpLocks/>
          </p:cNvCxnSpPr>
          <p:nvPr/>
        </p:nvCxnSpPr>
        <p:spPr>
          <a:xfrm rot="5400000">
            <a:off x="7138034" y="5142548"/>
            <a:ext cx="642940" cy="358140"/>
          </a:xfrm>
          <a:prstGeom prst="bentConnector3">
            <a:avLst>
              <a:gd name="adj1" fmla="val 222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40B074F-7E70-4BBC-8F65-7EAF75F72BDE}"/>
              </a:ext>
            </a:extLst>
          </p:cNvPr>
          <p:cNvSpPr txBox="1"/>
          <p:nvPr/>
        </p:nvSpPr>
        <p:spPr>
          <a:xfrm>
            <a:off x="7196614" y="4734469"/>
            <a:ext cx="394382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 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크레타 문명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(BC.2,000)+</a:t>
            </a:r>
            <a:r>
              <a:rPr lang="ko-KR" altLang="en-US" sz="1000" dirty="0" err="1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미케네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문명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(B.C 1,400)</a:t>
            </a: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6E37C15F-341A-42D3-BA89-4C59C1977E81}"/>
              </a:ext>
            </a:extLst>
          </p:cNvPr>
          <p:cNvCxnSpPr/>
          <p:nvPr/>
        </p:nvCxnSpPr>
        <p:spPr>
          <a:xfrm rot="5400000">
            <a:off x="8052434" y="5142548"/>
            <a:ext cx="642940" cy="358140"/>
          </a:xfrm>
          <a:prstGeom prst="bentConnector3">
            <a:avLst>
              <a:gd name="adj1" fmla="val 222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5FC3B1F-7954-43B9-ABB5-C0333B200C69}"/>
              </a:ext>
            </a:extLst>
          </p:cNvPr>
          <p:cNvSpPr txBox="1"/>
          <p:nvPr/>
        </p:nvSpPr>
        <p:spPr>
          <a:xfrm>
            <a:off x="8486776" y="4974223"/>
            <a:ext cx="337232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아메리카 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 err="1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올메카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문명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(BC.1200)+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마야 문명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(B.C 1,400)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02AC4E-A48E-4FE8-94BF-0A37AFBA5A77}"/>
              </a:ext>
            </a:extLst>
          </p:cNvPr>
          <p:cNvSpPr txBox="1"/>
          <p:nvPr/>
        </p:nvSpPr>
        <p:spPr>
          <a:xfrm>
            <a:off x="298990" y="1046984"/>
            <a:ext cx="2396585" cy="246221"/>
          </a:xfrm>
          <a:prstGeom prst="rect">
            <a:avLst/>
          </a:prstGeom>
          <a:solidFill>
            <a:schemeClr val="bg1"/>
          </a:solidFill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★ 사실로서의 역사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기록의로서의 역사</a:t>
            </a:r>
          </a:p>
        </p:txBody>
      </p:sp>
    </p:spTree>
    <p:extLst>
      <p:ext uri="{BB962C8B-B14F-4D97-AF65-F5344CB8AC3E}">
        <p14:creationId xmlns:p14="http://schemas.microsoft.com/office/powerpoint/2010/main" val="386148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" t="12693" r="786" b="1153"/>
          <a:stretch/>
        </p:blipFill>
        <p:spPr>
          <a:xfrm>
            <a:off x="1204546" y="870438"/>
            <a:ext cx="9785839" cy="59084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도구가 변하다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538686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도구의 변화에 따라 인류의 생활이 어떻게 바뀌었는지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A13EA5-17DB-4BAB-A26C-4948B29CBEC9}"/>
              </a:ext>
            </a:extLst>
          </p:cNvPr>
          <p:cNvSpPr txBox="1"/>
          <p:nvPr/>
        </p:nvSpPr>
        <p:spPr>
          <a:xfrm>
            <a:off x="566255" y="5860685"/>
            <a:ext cx="429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이용해 맹수를 쫓을 수 있을 뿐더러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어둠과 추위를 이겨 낼 수 있었다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 날로는 먹지 못하던 음식물까지 익혀 먹을 수 있게 되자 몸집도 커지고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머리도 더 영리해지기 시작했다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도구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사용하며 조직적인 사냥 활동을 하고 축적된 지식을 후손들에게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계승시켰다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0FCD40-DF51-45CC-B1D9-5B2582C87B42}"/>
              </a:ext>
            </a:extLst>
          </p:cNvPr>
          <p:cNvSpPr txBox="1"/>
          <p:nvPr/>
        </p:nvSpPr>
        <p:spPr>
          <a:xfrm>
            <a:off x="1662550" y="5529220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12, 20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077820-67EA-467B-A0F7-73522B31A427}"/>
              </a:ext>
            </a:extLst>
          </p:cNvPr>
          <p:cNvSpPr txBox="1"/>
          <p:nvPr/>
        </p:nvSpPr>
        <p:spPr>
          <a:xfrm>
            <a:off x="6627302" y="5852075"/>
            <a:ext cx="4448874" cy="5078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많은 먹거리와 안정된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정착 생활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인구의 증가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가져왔고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마을은 점점 커져서 혈연 중심의 씨족 사회에서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부족 사회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되었다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수확한 농산물을 보관하기 위해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토기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만들고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농사를 위한 다양한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도구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 개발했다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DFA0B2-47F0-4974-98A8-B5E75AF53E9E}"/>
              </a:ext>
            </a:extLst>
          </p:cNvPr>
          <p:cNvSpPr txBox="1"/>
          <p:nvPr/>
        </p:nvSpPr>
        <p:spPr>
          <a:xfrm>
            <a:off x="6654000" y="5504859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20~21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389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" t="12435" r="807" b="3462"/>
          <a:stretch/>
        </p:blipFill>
        <p:spPr>
          <a:xfrm>
            <a:off x="1245131" y="843947"/>
            <a:ext cx="9829800" cy="57677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문명이 꽃피다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고대 문명이 발생한 배경과 주요 문명의 특징을 알아봅시다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1B5FE7-36AC-4D12-80E3-2DC8FA21F42A}"/>
              </a:ext>
            </a:extLst>
          </p:cNvPr>
          <p:cNvSpPr txBox="1"/>
          <p:nvPr/>
        </p:nvSpPr>
        <p:spPr>
          <a:xfrm>
            <a:off x="1645373" y="1770752"/>
            <a:ext cx="4001548" cy="246221"/>
          </a:xfrm>
          <a:prstGeom prst="rect">
            <a:avLst/>
          </a:prstGeom>
          <a:solidFill>
            <a:schemeClr val="bg1"/>
          </a:solidFill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★ 문명 발생의 요소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별: 꼭짓점 5개 5">
            <a:extLst>
              <a:ext uri="{FF2B5EF4-FFF2-40B4-BE49-F238E27FC236}">
                <a16:creationId xmlns:a16="http://schemas.microsoft.com/office/drawing/2014/main" id="{BC59ED75-3074-475A-BA99-1D71105DE390}"/>
              </a:ext>
            </a:extLst>
          </p:cNvPr>
          <p:cNvSpPr/>
          <p:nvPr/>
        </p:nvSpPr>
        <p:spPr>
          <a:xfrm>
            <a:off x="5849639" y="5192746"/>
            <a:ext cx="249482" cy="217947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358978-75E7-4AEE-BD4E-63F3E2CC3EB9}"/>
              </a:ext>
            </a:extLst>
          </p:cNvPr>
          <p:cNvSpPr txBox="1"/>
          <p:nvPr/>
        </p:nvSpPr>
        <p:spPr>
          <a:xfrm>
            <a:off x="6160031" y="5327634"/>
            <a:ext cx="5617412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큰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사람들과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가축에게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식수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되고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농사를 짓는 데 필요한 물을 공급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 주기 때문이다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228600" indent="-228600">
              <a:buAutoNum type="arabicPeriod"/>
            </a:pP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28600" indent="-228600">
              <a:buAutoNum type="arabicPeriod"/>
            </a:pP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문자는 다양한 기록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가능하게 했는데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고대인들은 거래한 물품과 수량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(p.38),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법의 내용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(p.42),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왕의 업적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(p.55),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왕의 점괘를 풀이한 내용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(p.105)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기록하였다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228600" indent="-228600">
              <a:buAutoNum type="arabicPeriod"/>
            </a:pP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28600" indent="-228600">
              <a:buAutoNum type="arabicPeriod"/>
            </a:pP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신전이나 왕의 무덤을 통해 당시의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건축 기술 능력을 짐작할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 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신의 권위와 왕의 권위가 높았음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짐작할 수 있는데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큰 신전이나 왕의 무덤을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짓도록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명령한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지배 계급이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있고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노동력을 제공한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노예 계급이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있었음을 유추할 수 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206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" t="12693" r="760" b="3974"/>
          <a:stretch/>
        </p:blipFill>
        <p:spPr>
          <a:xfrm>
            <a:off x="1128346" y="863449"/>
            <a:ext cx="9935308" cy="571500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EF9949-BC53-4FC4-8D34-7DE2C38137AD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각 문명의 주요 특징을 통해 당시 사회 모습을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2FFBF-584C-49EA-B045-BCF4E886AD9D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포커스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문명 더 들여다보기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6CB64FD-4457-42E1-8563-4CE26DBF34C5}"/>
              </a:ext>
            </a:extLst>
          </p:cNvPr>
          <p:cNvGrpSpPr/>
          <p:nvPr/>
        </p:nvGrpSpPr>
        <p:grpSpPr>
          <a:xfrm>
            <a:off x="1863034" y="3274967"/>
            <a:ext cx="3626040" cy="784830"/>
            <a:chOff x="1795245" y="3416413"/>
            <a:chExt cx="3626040" cy="784830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E93799D-A64D-4EE5-ADBD-B76C0B2832F4}"/>
                </a:ext>
              </a:extLst>
            </p:cNvPr>
            <p:cNvGrpSpPr/>
            <p:nvPr/>
          </p:nvGrpSpPr>
          <p:grpSpPr>
            <a:xfrm>
              <a:off x="1795245" y="3416413"/>
              <a:ext cx="3626040" cy="784830"/>
              <a:chOff x="1795245" y="3416413"/>
              <a:chExt cx="3626040" cy="784830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693BFE-434A-476A-A53A-BA0BC78EA4C5}"/>
                  </a:ext>
                </a:extLst>
              </p:cNvPr>
              <p:cNvSpPr txBox="1"/>
              <p:nvPr/>
            </p:nvSpPr>
            <p:spPr>
              <a:xfrm>
                <a:off x="1795245" y="3416413"/>
                <a:ext cx="3626040" cy="7848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               </a:t>
                </a:r>
                <a:r>
                  <a:rPr lang="ko-KR" altLang="en-US" sz="9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메소포타미아                     이집트</a:t>
                </a:r>
                <a:endPara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endParaRPr lang="en-US" altLang="ko-KR" sz="4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r>
                  <a:rPr lang="ko-KR" altLang="en-US" sz="9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지형              개방적</a:t>
                </a:r>
                <a:r>
                  <a:rPr lang="en-US" altLang="ko-KR" sz="9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, </a:t>
                </a:r>
                <a:r>
                  <a:rPr lang="ko-KR" altLang="en-US" sz="9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전쟁 빈번             폐쇄적</a:t>
                </a:r>
                <a:r>
                  <a:rPr lang="en-US" altLang="ko-KR" sz="9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(</a:t>
                </a:r>
                <a:r>
                  <a:rPr lang="ko-KR" altLang="en-US" sz="9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통일 왕조 지속</a:t>
                </a:r>
                <a:r>
                  <a:rPr lang="en-US" altLang="ko-KR" sz="9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)</a:t>
                </a:r>
              </a:p>
              <a:p>
                <a:endPara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r>
                  <a:rPr lang="ko-KR" altLang="en-US" sz="9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종교                    현세적</a:t>
                </a:r>
                <a:r>
                  <a:rPr lang="en-US" altLang="ko-KR" sz="9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                                 </a:t>
                </a:r>
                <a:r>
                  <a:rPr lang="ko-KR" altLang="en-US" sz="9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내세적</a:t>
                </a:r>
              </a:p>
            </p:txBody>
          </p: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E4A6C4A2-0AEE-49B8-B690-F790BF8D1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5245" y="3665989"/>
                <a:ext cx="3404730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D1A4F8B7-9337-4010-A957-6B1BC90CF6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5245" y="3892492"/>
                <a:ext cx="3404730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6A49C089-18E6-45B0-846D-2A33F6359E27}"/>
                  </a:ext>
                </a:extLst>
              </p:cNvPr>
              <p:cNvCxnSpPr/>
              <p:nvPr/>
            </p:nvCxnSpPr>
            <p:spPr>
              <a:xfrm>
                <a:off x="2256638" y="3429000"/>
                <a:ext cx="0" cy="726077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B956A009-7F5F-4696-A283-6836F86EC6D8}"/>
                  </a:ext>
                </a:extLst>
              </p:cNvPr>
              <p:cNvCxnSpPr/>
              <p:nvPr/>
            </p:nvCxnSpPr>
            <p:spPr>
              <a:xfrm>
                <a:off x="3558993" y="3429000"/>
                <a:ext cx="0" cy="726077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315C22C-0B6B-41D1-B621-EE77D677DC48}"/>
                </a:ext>
              </a:extLst>
            </p:cNvPr>
            <p:cNvSpPr/>
            <p:nvPr/>
          </p:nvSpPr>
          <p:spPr>
            <a:xfrm>
              <a:off x="1795245" y="3429000"/>
              <a:ext cx="3404730" cy="726077"/>
            </a:xfrm>
            <a:prstGeom prst="rect">
              <a:avLst/>
            </a:prstGeom>
            <a:noFill/>
            <a:ln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90D4A2A-F272-4813-8CCF-1B431C844FB2}"/>
              </a:ext>
            </a:extLst>
          </p:cNvPr>
          <p:cNvSpPr txBox="1"/>
          <p:nvPr/>
        </p:nvSpPr>
        <p:spPr>
          <a:xfrm>
            <a:off x="1863034" y="2007498"/>
            <a:ext cx="6863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36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B3D400-632C-4108-8EB0-D49A4E0C8AA6}"/>
              </a:ext>
            </a:extLst>
          </p:cNvPr>
          <p:cNvSpPr txBox="1"/>
          <p:nvPr/>
        </p:nvSpPr>
        <p:spPr>
          <a:xfrm>
            <a:off x="3890395" y="1684338"/>
            <a:ext cx="6863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66362C-F90E-4DB5-9D3F-290D041B2970}"/>
              </a:ext>
            </a:extLst>
          </p:cNvPr>
          <p:cNvSpPr txBox="1"/>
          <p:nvPr/>
        </p:nvSpPr>
        <p:spPr>
          <a:xfrm>
            <a:off x="1198436" y="5529335"/>
            <a:ext cx="5429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도시 국가 어디서나 도시 한복판에 크고 높은 신전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     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미라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스핑크스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피라미드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사자의 서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0C22E7-500A-4FA8-B700-4214920A1F33}"/>
              </a:ext>
            </a:extLst>
          </p:cNvPr>
          <p:cNvSpPr txBox="1"/>
          <p:nvPr/>
        </p:nvSpPr>
        <p:spPr>
          <a:xfrm>
            <a:off x="3939352" y="4063809"/>
            <a:ext cx="16652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죽어도 영혼이 남는다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＂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3187AF-88C2-49FA-8BA5-FF09F184E45D}"/>
              </a:ext>
            </a:extLst>
          </p:cNvPr>
          <p:cNvSpPr txBox="1"/>
          <p:nvPr/>
        </p:nvSpPr>
        <p:spPr>
          <a:xfrm>
            <a:off x="741094" y="5808323"/>
            <a:ext cx="6863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36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F36522-F2E7-4AF9-88D7-0EA652B6CA59}"/>
              </a:ext>
            </a:extLst>
          </p:cNvPr>
          <p:cNvSpPr txBox="1"/>
          <p:nvPr/>
        </p:nvSpPr>
        <p:spPr>
          <a:xfrm>
            <a:off x="741093" y="6034826"/>
            <a:ext cx="9348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56~57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5E57B6-7F77-43E2-9EB5-2AB5EC0B9ACA}"/>
              </a:ext>
            </a:extLst>
          </p:cNvPr>
          <p:cNvSpPr txBox="1"/>
          <p:nvPr/>
        </p:nvSpPr>
        <p:spPr>
          <a:xfrm>
            <a:off x="7351196" y="1255308"/>
            <a:ext cx="10814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p.88~89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C1A435-1633-4144-991E-EFB5D1A5767C}"/>
              </a:ext>
            </a:extLst>
          </p:cNvPr>
          <p:cNvSpPr txBox="1"/>
          <p:nvPr/>
        </p:nvSpPr>
        <p:spPr>
          <a:xfrm>
            <a:off x="9082943" y="636946"/>
            <a:ext cx="309972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★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원주민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인더스 문명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★ 아리아족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‘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철기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남쪽 내려와 인더스 강 침범하면서 </a:t>
            </a:r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인더스 문명 파괴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-&gt;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갠지스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강으로 이동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2E029D-9622-43C1-9DE7-F119A616EDB3}"/>
              </a:ext>
            </a:extLst>
          </p:cNvPr>
          <p:cNvSpPr txBox="1"/>
          <p:nvPr/>
        </p:nvSpPr>
        <p:spPr>
          <a:xfrm>
            <a:off x="741093" y="1725314"/>
            <a:ext cx="3073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★ </a:t>
            </a:r>
            <a:r>
              <a:rPr lang="ko-KR" altLang="en-US" sz="9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수메르인</a:t>
            </a:r>
            <a:r>
              <a:rPr lang="ko-KR" altLang="en-US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-&gt; </a:t>
            </a:r>
            <a:r>
              <a:rPr lang="ko-KR" altLang="en-US" sz="9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아카드</a:t>
            </a:r>
            <a:r>
              <a:rPr lang="ko-KR" altLang="en-US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왕국 </a:t>
            </a:r>
            <a:r>
              <a:rPr lang="en-US" altLang="ko-KR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-&gt; </a:t>
            </a:r>
            <a:r>
              <a:rPr lang="ko-KR" altLang="en-US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우르 왕조 </a:t>
            </a:r>
            <a:r>
              <a:rPr lang="en-US" altLang="ko-KR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-&gt; </a:t>
            </a:r>
            <a:r>
              <a:rPr lang="ko-KR" altLang="en-US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바빌로니아 왕국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5C4864-2799-4763-8D80-5DF731826AC5}"/>
              </a:ext>
            </a:extLst>
          </p:cNvPr>
          <p:cNvSpPr txBox="1"/>
          <p:nvPr/>
        </p:nvSpPr>
        <p:spPr>
          <a:xfrm>
            <a:off x="6559537" y="4006666"/>
            <a:ext cx="139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＊ 태어나면서 신분 결정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＊ 카스트 사이 이동 금지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A54A85-004E-4B99-9AA5-1B76D949E1C0}"/>
              </a:ext>
            </a:extLst>
          </p:cNvPr>
          <p:cNvSpPr txBox="1"/>
          <p:nvPr/>
        </p:nvSpPr>
        <p:spPr>
          <a:xfrm>
            <a:off x="10281472" y="5792934"/>
            <a:ext cx="1737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서유럽의 봉건제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(3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차시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BD0AC5-6001-4C7C-9F6B-84948A6A9C7F}"/>
              </a:ext>
            </a:extLst>
          </p:cNvPr>
          <p:cNvSpPr txBox="1"/>
          <p:nvPr/>
        </p:nvSpPr>
        <p:spPr>
          <a:xfrm>
            <a:off x="6193281" y="5631906"/>
            <a:ext cx="4088191" cy="10618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넓은 지역을 왕이 다스릴 수 없기 때문에 이를 </a:t>
            </a:r>
            <a:r>
              <a:rPr lang="ko-KR" altLang="en-US" sz="900" u="sng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효율적으로 통치하기 위한 제도이다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중앙은 왕이 직접 통치하고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지방은  제후가 다스린다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즉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왕이 수도와 주변 지역을 직접 통치하고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지방은 왕족이나 공신을 제후로 삼아 다스리는 것이다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u="sng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중국의 봉건제는 혈연을 중심으로 한 관계이다</a:t>
            </a:r>
            <a:r>
              <a:rPr lang="en-US" altLang="ko-KR" sz="9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r>
              <a:rPr lang="ko-KR" altLang="en-US" sz="9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900" u="sng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제후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왕을 천자로 받들며 왕실이 주관하는 제사에 참여하고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특산물을 바치고 위급할 때 왕의 요청에 따라 군사를 제공하는 의무를 가졌다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DABEDFE-C7B4-44A9-AEBB-F0D2E16AC152}"/>
              </a:ext>
            </a:extLst>
          </p:cNvPr>
          <p:cNvSpPr/>
          <p:nvPr/>
        </p:nvSpPr>
        <p:spPr>
          <a:xfrm>
            <a:off x="6559536" y="4606830"/>
            <a:ext cx="1212864" cy="15372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5C4864-2799-4763-8D80-5DF731826AC5}"/>
              </a:ext>
            </a:extLst>
          </p:cNvPr>
          <p:cNvSpPr txBox="1"/>
          <p:nvPr/>
        </p:nvSpPr>
        <p:spPr>
          <a:xfrm>
            <a:off x="8581767" y="1634567"/>
            <a:ext cx="26635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＊ 브라만교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신분제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차별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인정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!!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카스트제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인정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!!!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249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논평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문명 보고서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문명에 대해 배운 내용을 한 편의 글로 정리해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0" t="3590" r="1518" b="1667"/>
          <a:stretch/>
        </p:blipFill>
        <p:spPr>
          <a:xfrm>
            <a:off x="5917223" y="555775"/>
            <a:ext cx="4576325" cy="627440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7" t="13847" r="2626" b="1410"/>
          <a:stretch/>
        </p:blipFill>
        <p:spPr>
          <a:xfrm>
            <a:off x="641839" y="949568"/>
            <a:ext cx="4554415" cy="58117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BD0AC5-6001-4C7C-9F6B-84948A6A9C7F}"/>
              </a:ext>
            </a:extLst>
          </p:cNvPr>
          <p:cNvSpPr txBox="1"/>
          <p:nvPr/>
        </p:nvSpPr>
        <p:spPr>
          <a:xfrm>
            <a:off x="6161289" y="1437975"/>
            <a:ext cx="4088191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√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문명이란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~~~</a:t>
            </a: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√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문명이 발생하게 된 배경에는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</a:t>
            </a: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√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대표적인 문명으로는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 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그중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~~~~~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소개하려 한다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√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‘~~~~~~~’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문명은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~~~~~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792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D35CA82D-07EB-4E49-927A-5729FB1943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98" t="18170" r="25220" b="10458"/>
          <a:stretch/>
        </p:blipFill>
        <p:spPr>
          <a:xfrm>
            <a:off x="9331" y="1069552"/>
            <a:ext cx="6086669" cy="48598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9D701C6-1C78-4A57-85EC-255F2DF1EA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485" t="35294" r="24412" b="8758"/>
          <a:stretch/>
        </p:blipFill>
        <p:spPr>
          <a:xfrm>
            <a:off x="6096000" y="2121176"/>
            <a:ext cx="6105331" cy="375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98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F6F28A0-1DAC-48FD-A8BD-1DC88BCAA2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12" t="32157" r="25512" b="15424"/>
          <a:stretch/>
        </p:blipFill>
        <p:spPr>
          <a:xfrm>
            <a:off x="6078436" y="2257456"/>
            <a:ext cx="6105331" cy="35948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정리해요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B4D424CD-6431-41A2-B616-631486D57E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559" t="16601" r="25364" b="13540"/>
          <a:stretch/>
        </p:blipFill>
        <p:spPr>
          <a:xfrm>
            <a:off x="0" y="1226719"/>
            <a:ext cx="6105331" cy="479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600</Words>
  <Application>Microsoft Office PowerPoint</Application>
  <PresentationFormat>와이드스크린</PresentationFormat>
  <Paragraphs>94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THE봉숭아틴트</vt:lpstr>
      <vt:lpstr>나눔스퀘어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821098119832</dc:creator>
  <cp:lastModifiedBy>Administrator</cp:lastModifiedBy>
  <cp:revision>71</cp:revision>
  <dcterms:created xsi:type="dcterms:W3CDTF">2021-05-21T01:10:02Z</dcterms:created>
  <dcterms:modified xsi:type="dcterms:W3CDTF">2024-10-10T05:04:20Z</dcterms:modified>
</cp:coreProperties>
</file>