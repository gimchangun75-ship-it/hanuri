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86" r:id="rId3"/>
    <p:sldId id="283" r:id="rId4"/>
    <p:sldId id="287" r:id="rId5"/>
    <p:sldId id="288" r:id="rId6"/>
    <p:sldId id="294" r:id="rId7"/>
    <p:sldId id="281" r:id="rId8"/>
    <p:sldId id="295" r:id="rId9"/>
    <p:sldId id="296" r:id="rId10"/>
    <p:sldId id="285" r:id="rId11"/>
    <p:sldId id="293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DBF09E-2F48-4E2E-887D-C83A1703F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B227155-6CC4-4A07-827B-08BD9D3C46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FC9475-BBB8-4E7C-B71C-BA69F3EAE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2115D5-E04F-46B4-9026-0897E209E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D601A8-7A5F-4A85-98F0-640FE50AC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3802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6AA440-2DC7-49F8-ABF3-AC4215559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A4BD65-C34B-4B31-861B-6B2FEA438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9968D4-CEA1-4ED5-9831-87855B43E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421234-7B8F-4404-9C12-CD50653AD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F11D50-9C5A-4226-8BDD-1FD3BB21D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348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961B46-3C1C-4B65-83CE-29B306DB3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A3F87C-106D-4D19-8DB6-18A042F69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3C9D4D-0FED-4442-B439-26F9223BE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23A45C-DBC1-4D4A-88AA-5D80C54CF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CBA1CB-1588-4222-AB69-59FEDF91E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601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BE135B-E430-499B-AD4A-44B43FD9A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5863E5-1843-4A4C-9004-0E5780BF1A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411DA0-B5AC-408A-9B24-910EC5B4F2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E0DE3B-1C4C-42BE-8C7E-0A03B3BCC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375DDF-57E6-42DE-B908-F3D9F2156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E51BDF-7C0C-445E-BBE1-395731FAC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948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3A237B-E50D-4CDA-B697-5F41D805A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C193AE-DBA3-43D7-9C42-86D280EDC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2BD590-9B7A-4B1E-8CD5-CBC55361F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87791AA-4CA9-4EBD-ADCF-45995414FD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37961-538C-401B-BA6C-81B6E345ED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72A739A-A9F7-41C3-8E73-C58B39662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2234EBC-BA27-4A3B-BBAD-2A84BE06F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BC7CE16-42DC-46A9-AD74-8AC77F170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650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A66BFB-6767-4325-90A4-D87B215AE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661116-7BFA-4449-AA52-93E6DD062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C57FBD7-122F-48CE-82E5-C3CFE3AFF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CB7F33-CE8D-4098-8F32-5315E3652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066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AA2BD6F-CF9D-499D-ABDD-DF4A5EB7F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D8FC5D9-2E9D-42A8-B651-C4A2CC6DE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6570DE-7E0C-485D-8328-72AC5FB74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386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F8748D-3391-40D5-992B-48BCB17B9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97AF4B-B7D5-49D9-8969-0CD238F5E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FB7B14-BF99-4106-AE0C-F05D09AE6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33C3F4-1B10-4CD7-BD18-68EB58606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E03EB7-E983-4545-8671-7BE21E20F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5A0FE2-ED3E-4581-B0D5-88909DA40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236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462667-DBBB-4A4D-BAE9-F2D59A9E8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15DBF80-FFFA-4CD8-9BDA-A39A273A6D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F5535C-32B6-41A8-8D53-B84ECB908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587FB1-1472-4E7B-94B6-659863E3E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6294D4-590D-493F-8138-53F7CA5A3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47E70A-B0FA-4C12-ADF7-DC10C86C9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907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3077AA-FE8C-41FE-927E-C363475A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73F264-7FEE-477D-B6AD-17E4A3B9D3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F3B7DD-6D54-4392-8080-BC88ECF74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A3D4E4-9827-46BB-860A-BB275868C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A6D0B1-EAAE-4ABE-A3A4-65BF6FB02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6891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2D3092B-8A1F-492F-932D-F9A5CE830F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1AA047-6D64-43A4-AFE0-246807DF9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17278F-7610-4CDD-B60D-2518C3E27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85B3C1-A624-4119-9C3A-C5C227D70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6C8147-0120-40A8-806B-9CC651F7D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435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E46CEAD-EDE2-479A-9F7E-BD61BDB03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AE9DE0-42FC-4E12-A53D-088334F57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3AFD70-A355-4236-8E75-E3F63258A9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16A2E3-3A1D-4D3B-9152-FDAA0160F4E2}" type="datetimeFigureOut">
              <a:rPr lang="ko-KR" altLang="en-US" smtClean="0"/>
              <a:t>2024-10-24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69C325-16F0-4E5B-9146-ADEC5507B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1DE10C-87C5-42DE-9363-2810FD5360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8826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E3C3A3F9-CF27-4092-9E6E-84F8F66D18E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49" t="59726" r="11535" b="1212"/>
          <a:stretch/>
        </p:blipFill>
        <p:spPr>
          <a:xfrm>
            <a:off x="4086677" y="3184125"/>
            <a:ext cx="4268758" cy="320896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4767853-6FDC-45AE-8474-0EC99C30800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76" t="21529" r="20648" b="57698"/>
          <a:stretch/>
        </p:blipFill>
        <p:spPr>
          <a:xfrm>
            <a:off x="669204" y="430160"/>
            <a:ext cx="2572284" cy="142462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FB414AB-7D20-4C1B-8DA1-2BB34161EBA4}"/>
              </a:ext>
            </a:extLst>
          </p:cNvPr>
          <p:cNvSpPr txBox="1"/>
          <p:nvPr/>
        </p:nvSpPr>
        <p:spPr>
          <a:xfrm>
            <a:off x="9331" y="6528945"/>
            <a:ext cx="12192000" cy="28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한우리</a:t>
            </a:r>
            <a:r>
              <a: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</a:r>
            <a:r>
              <a:rPr lang="en-US" altLang="ko-KR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sk</a:t>
            </a:r>
            <a:r>
              <a:rPr lang="en-US" altLang="ko-KR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 </a:t>
            </a:r>
            <a:r>
              <a:rPr lang="ko-KR" altLang="en-US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논술교습소</a:t>
            </a:r>
            <a:endParaRPr lang="ko-KR" altLang="en-US" sz="900" dirty="0">
              <a:solidFill>
                <a:srgbClr val="003300"/>
              </a:solidFill>
              <a:latin typeface="THE봉숭아틴트" panose="02020603020101020101" pitchFamily="18" charset="-127"/>
              <a:ea typeface="THE봉숭아틴트" panose="02020603020101020101" pitchFamily="18" charset="-127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20186495-8991-42AD-B58A-9CBF1D38BA33}"/>
              </a:ext>
            </a:extLst>
          </p:cNvPr>
          <p:cNvCxnSpPr>
            <a:cxnSpLocks/>
          </p:cNvCxnSpPr>
          <p:nvPr/>
        </p:nvCxnSpPr>
        <p:spPr>
          <a:xfrm>
            <a:off x="0" y="6851340"/>
            <a:ext cx="12192000" cy="0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1DA6985-C3BD-4D21-B216-0AD1DA5A3AEB}"/>
              </a:ext>
            </a:extLst>
          </p:cNvPr>
          <p:cNvSpPr txBox="1"/>
          <p:nvPr/>
        </p:nvSpPr>
        <p:spPr>
          <a:xfrm>
            <a:off x="3663101" y="2514302"/>
            <a:ext cx="75668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6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동아시아 세계가 형성되던 시기</a:t>
            </a:r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</a:t>
            </a:r>
            <a:r>
              <a:rPr lang="ko-KR" altLang="en-US" sz="16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역사를 파악할 수 있다</a:t>
            </a:r>
            <a:r>
              <a:rPr lang="en-US" altLang="ko-KR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 marL="342900" indent="-342900">
              <a:buAutoNum type="arabicPeriod"/>
            </a:pPr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아시아 지역의 각 국가가 펼쳤던 정책과 국가들의 문화적 특징을 정리할 수 있다</a:t>
            </a:r>
            <a:r>
              <a:rPr lang="en-US" altLang="ko-KR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6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6C90F0-D105-427E-8B20-6195FD183CE2}"/>
              </a:ext>
            </a:extLst>
          </p:cNvPr>
          <p:cNvSpPr txBox="1"/>
          <p:nvPr/>
        </p:nvSpPr>
        <p:spPr>
          <a:xfrm>
            <a:off x="11397622" y="263760"/>
            <a:ext cx="5890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dirty="0">
                <a:solidFill>
                  <a:srgbClr val="0033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④</a:t>
            </a:r>
            <a:endParaRPr lang="en-US" altLang="ko-KR" sz="3000" dirty="0">
              <a:solidFill>
                <a:srgbClr val="0033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D750985-C6A6-487E-A622-5A5C07F7BE52}"/>
              </a:ext>
            </a:extLst>
          </p:cNvPr>
          <p:cNvSpPr/>
          <p:nvPr/>
        </p:nvSpPr>
        <p:spPr>
          <a:xfrm>
            <a:off x="1923243" y="2580038"/>
            <a:ext cx="107604" cy="50917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BF407F-2D88-4762-80A7-3DA7561A0052}"/>
              </a:ext>
            </a:extLst>
          </p:cNvPr>
          <p:cNvSpPr txBox="1"/>
          <p:nvPr/>
        </p:nvSpPr>
        <p:spPr>
          <a:xfrm>
            <a:off x="2054932" y="2433586"/>
            <a:ext cx="17836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학습 목표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61468F-02CC-4E99-B362-459290E1DBB5}"/>
              </a:ext>
            </a:extLst>
          </p:cNvPr>
          <p:cNvSpPr txBox="1"/>
          <p:nvPr/>
        </p:nvSpPr>
        <p:spPr>
          <a:xfrm>
            <a:off x="7098118" y="3491958"/>
            <a:ext cx="16496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인도네시아</a:t>
            </a:r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불교 </a:t>
            </a:r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(p.103)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9505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지난주 복습 정리해요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고대 통일 제국 </a:t>
            </a:r>
            <a:r>
              <a:rPr lang="en-US" altLang="ko-KR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이슬람 제국</a:t>
            </a:r>
            <a:r>
              <a:rPr lang="en-US" altLang="ko-KR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~</a:t>
            </a:r>
            <a:r>
              <a:rPr lang="ko-KR" altLang="en-US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로마 제국</a:t>
            </a:r>
            <a:r>
              <a:rPr lang="en-US" altLang="ko-KR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~</a:t>
            </a:r>
            <a:r>
              <a:rPr lang="ko-KR" altLang="en-US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십자군 전쟁</a:t>
            </a:r>
            <a:r>
              <a:rPr lang="en-US" altLang="ko-KR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dirty="0">
              <a:solidFill>
                <a:srgbClr val="7030A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EFE44863-DC15-433B-8FBC-D2FA898779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565" t="19248" r="26101" b="16697"/>
          <a:stretch/>
        </p:blipFill>
        <p:spPr>
          <a:xfrm>
            <a:off x="9330" y="1394271"/>
            <a:ext cx="6108999" cy="446154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29FF94A-6C09-404C-9CB3-9A4B7FAC21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596" t="31070" r="26169" b="14065"/>
          <a:stretch/>
        </p:blipFill>
        <p:spPr>
          <a:xfrm>
            <a:off x="6077145" y="2008610"/>
            <a:ext cx="6104732" cy="3905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073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A79A67E-2417-47DC-93A7-43E26BFEC4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4" t="4958" r="1224" b="-1"/>
          <a:stretch/>
        </p:blipFill>
        <p:spPr>
          <a:xfrm>
            <a:off x="1638853" y="575656"/>
            <a:ext cx="9146663" cy="61997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브리핑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시간 타임라인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C753B8C-131E-484F-848D-E0DDAE73C70D}"/>
              </a:ext>
            </a:extLst>
          </p:cNvPr>
          <p:cNvSpPr txBox="1"/>
          <p:nvPr/>
        </p:nvSpPr>
        <p:spPr>
          <a:xfrm>
            <a:off x="-1621" y="551491"/>
            <a:ext cx="609762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연표와 지도를 보며 이번 시간에 학습할 세계사의 주요 사건 및 용어를 살펴보자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1CAC95-0840-4CF3-A7E4-669B6B5D11C7}"/>
              </a:ext>
            </a:extLst>
          </p:cNvPr>
          <p:cNvSpPr txBox="1"/>
          <p:nvPr/>
        </p:nvSpPr>
        <p:spPr>
          <a:xfrm>
            <a:off x="3585221" y="3419119"/>
            <a:ext cx="80651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1. </a:t>
            </a:r>
            <a:r>
              <a:rPr lang="ko-KR" altLang="en-US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E16D62-697E-4A2E-BD85-DDFB457E05CB}"/>
              </a:ext>
            </a:extLst>
          </p:cNvPr>
          <p:cNvSpPr txBox="1"/>
          <p:nvPr/>
        </p:nvSpPr>
        <p:spPr>
          <a:xfrm>
            <a:off x="7585482" y="4104625"/>
            <a:ext cx="604003" cy="276999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3. </a:t>
            </a:r>
            <a:endParaRPr lang="ko-KR" altLang="en-US" sz="1200" dirty="0">
              <a:solidFill>
                <a:srgbClr val="7030A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3BC0D64-40F1-455B-8AA2-9A1A1ECBED52}"/>
              </a:ext>
            </a:extLst>
          </p:cNvPr>
          <p:cNvSpPr/>
          <p:nvPr/>
        </p:nvSpPr>
        <p:spPr>
          <a:xfrm>
            <a:off x="4086778" y="1941809"/>
            <a:ext cx="806519" cy="314510"/>
          </a:xfrm>
          <a:prstGeom prst="rect">
            <a:avLst/>
          </a:prstGeom>
          <a:noFill/>
          <a:ln w="1905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32C51DCD-6F10-46D4-8D43-63BC5D84875E}"/>
              </a:ext>
            </a:extLst>
          </p:cNvPr>
          <p:cNvSpPr/>
          <p:nvPr/>
        </p:nvSpPr>
        <p:spPr>
          <a:xfrm>
            <a:off x="1638853" y="3361034"/>
            <a:ext cx="806519" cy="314510"/>
          </a:xfrm>
          <a:prstGeom prst="rect">
            <a:avLst/>
          </a:prstGeom>
          <a:noFill/>
          <a:ln w="19050"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noFill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969529C-F458-4C71-9F2C-1549D2E07A54}"/>
              </a:ext>
            </a:extLst>
          </p:cNvPr>
          <p:cNvSpPr txBox="1"/>
          <p:nvPr/>
        </p:nvSpPr>
        <p:spPr>
          <a:xfrm>
            <a:off x="4552951" y="4478571"/>
            <a:ext cx="1543050" cy="246221"/>
          </a:xfrm>
          <a:prstGeom prst="rect">
            <a:avLst/>
          </a:prstGeom>
          <a:noFill/>
          <a:ln w="12700"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인도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·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이슬람 문화 전파</a:t>
            </a:r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724DF6D5-E06B-4692-9D44-F28D956CE8B1}"/>
              </a:ext>
            </a:extLst>
          </p:cNvPr>
          <p:cNvCxnSpPr>
            <a:cxnSpLocks/>
            <a:stCxn id="62" idx="1"/>
          </p:cNvCxnSpPr>
          <p:nvPr/>
        </p:nvCxnSpPr>
        <p:spPr>
          <a:xfrm rot="10800000" flipV="1">
            <a:off x="2619375" y="4601682"/>
            <a:ext cx="1933576" cy="40846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55E12593-A342-4969-A3C5-76FC142DDCA8}"/>
              </a:ext>
            </a:extLst>
          </p:cNvPr>
          <p:cNvSpPr txBox="1"/>
          <p:nvPr/>
        </p:nvSpPr>
        <p:spPr>
          <a:xfrm>
            <a:off x="1312400" y="4866919"/>
            <a:ext cx="1306975" cy="276999"/>
          </a:xfrm>
          <a:prstGeom prst="rect">
            <a:avLst/>
          </a:prstGeom>
          <a:noFill/>
          <a:ln w="127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2.</a:t>
            </a:r>
            <a:endParaRPr lang="ko-KR" altLang="en-US" sz="12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97C92BC-B55C-4349-B0F0-CB47853F0C40}"/>
              </a:ext>
            </a:extLst>
          </p:cNvPr>
          <p:cNvSpPr txBox="1"/>
          <p:nvPr/>
        </p:nvSpPr>
        <p:spPr>
          <a:xfrm>
            <a:off x="7804557" y="5038075"/>
            <a:ext cx="603997" cy="276999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4. </a:t>
            </a:r>
            <a:endParaRPr lang="ko-KR" altLang="en-US" sz="1200" dirty="0">
              <a:solidFill>
                <a:srgbClr val="7030A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1483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DC9C5C51-EDE3-4A56-AF65-7D477BD5FBDD}"/>
              </a:ext>
            </a:extLst>
          </p:cNvPr>
          <p:cNvGrpSpPr/>
          <p:nvPr/>
        </p:nvGrpSpPr>
        <p:grpSpPr>
          <a:xfrm>
            <a:off x="1158406" y="740288"/>
            <a:ext cx="9711161" cy="5879939"/>
            <a:chOff x="1158406" y="740288"/>
            <a:chExt cx="9711161" cy="5879939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6" t="12327" r="2314" b="1934"/>
            <a:stretch/>
          </p:blipFill>
          <p:spPr>
            <a:xfrm>
              <a:off x="1158406" y="740288"/>
              <a:ext cx="9711161" cy="5879939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FE4CE79-13EE-46C7-A097-954CCBA885B0}"/>
                </a:ext>
              </a:extLst>
            </p:cNvPr>
            <p:cNvSpPr/>
            <p:nvPr/>
          </p:nvSpPr>
          <p:spPr>
            <a:xfrm>
              <a:off x="6006517" y="740288"/>
              <a:ext cx="250398" cy="58799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이슈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인도와 동남아시아 국가의 성장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1FB145E-846A-454E-B89C-84C53F27A57D}"/>
              </a:ext>
            </a:extLst>
          </p:cNvPr>
          <p:cNvSpPr txBox="1"/>
          <p:nvPr/>
        </p:nvSpPr>
        <p:spPr>
          <a:xfrm>
            <a:off x="109056" y="551491"/>
            <a:ext cx="59617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인도와 동남아시아 역사에 등장하는 왕조의 특징과 발전 과정을 알아보자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0B04D4-0458-4765-A3EB-A02AA9E6F961}"/>
              </a:ext>
            </a:extLst>
          </p:cNvPr>
          <p:cNvSpPr txBox="1"/>
          <p:nvPr/>
        </p:nvSpPr>
        <p:spPr>
          <a:xfrm>
            <a:off x="5122231" y="2992198"/>
            <a:ext cx="9486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인도 북부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84A111-BEF9-451D-BC8C-9205727E98A6}"/>
              </a:ext>
            </a:extLst>
          </p:cNvPr>
          <p:cNvSpPr txBox="1"/>
          <p:nvPr/>
        </p:nvSpPr>
        <p:spPr>
          <a:xfrm>
            <a:off x="148043" y="1019960"/>
            <a:ext cx="986266" cy="246221"/>
          </a:xfrm>
          <a:prstGeom prst="rect">
            <a:avLst/>
          </a:prstGeom>
          <a:solidFill>
            <a:schemeClr val="bg1"/>
          </a:solidFill>
          <a:ln w="12700"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마우리아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왕조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9D561A-9DF8-4F11-931A-295BC78A2259}"/>
              </a:ext>
            </a:extLst>
          </p:cNvPr>
          <p:cNvSpPr txBox="1"/>
          <p:nvPr/>
        </p:nvSpPr>
        <p:spPr>
          <a:xfrm>
            <a:off x="148043" y="1693576"/>
            <a:ext cx="986266" cy="246221"/>
          </a:xfrm>
          <a:prstGeom prst="rect">
            <a:avLst/>
          </a:prstGeom>
          <a:solidFill>
            <a:schemeClr val="bg1"/>
          </a:solidFill>
          <a:ln w="12700"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쿠샨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왕조</a:t>
            </a: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FA54D7A2-4246-4D48-9F47-D10A5BCB8387}"/>
              </a:ext>
            </a:extLst>
          </p:cNvPr>
          <p:cNvCxnSpPr>
            <a:cxnSpLocks/>
          </p:cNvCxnSpPr>
          <p:nvPr/>
        </p:nvCxnSpPr>
        <p:spPr>
          <a:xfrm>
            <a:off x="511728" y="2011681"/>
            <a:ext cx="0" cy="648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9616CF6-B45A-463D-A62A-64EB0E4DEFCF}"/>
              </a:ext>
            </a:extLst>
          </p:cNvPr>
          <p:cNvSpPr txBox="1"/>
          <p:nvPr/>
        </p:nvSpPr>
        <p:spPr>
          <a:xfrm>
            <a:off x="468595" y="2011681"/>
            <a:ext cx="1208959" cy="4616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카니슈카</a:t>
            </a:r>
            <a:r>
              <a:rPr lang="ko-KR" altLang="en-US" sz="8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왕</a:t>
            </a:r>
            <a:endParaRPr lang="en-US" altLang="ko-KR" sz="800" dirty="0">
              <a:solidFill>
                <a:schemeClr val="accent2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8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8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대승 불교</a:t>
            </a:r>
            <a:endParaRPr lang="en-US" altLang="ko-KR" sz="800" dirty="0">
              <a:solidFill>
                <a:schemeClr val="accent2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8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8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간다라 양식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18F475-E91B-40C1-BB81-BFE73CCF08C3}"/>
              </a:ext>
            </a:extLst>
          </p:cNvPr>
          <p:cNvSpPr txBox="1"/>
          <p:nvPr/>
        </p:nvSpPr>
        <p:spPr>
          <a:xfrm>
            <a:off x="148044" y="2705187"/>
            <a:ext cx="855672" cy="246221"/>
          </a:xfrm>
          <a:prstGeom prst="rect">
            <a:avLst/>
          </a:prstGeom>
          <a:solidFill>
            <a:schemeClr val="bg1"/>
          </a:solidFill>
          <a:ln w="12700"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굽타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왕조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4EC66BD-557E-4258-9DB9-1B8ED253C488}"/>
              </a:ext>
            </a:extLst>
          </p:cNvPr>
          <p:cNvSpPr txBox="1"/>
          <p:nvPr/>
        </p:nvSpPr>
        <p:spPr>
          <a:xfrm>
            <a:off x="5544249" y="5628959"/>
            <a:ext cx="5441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92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AD43765-278C-4BD4-8B46-6E06C9C76C6C}"/>
              </a:ext>
            </a:extLst>
          </p:cNvPr>
          <p:cNvSpPr txBox="1"/>
          <p:nvPr/>
        </p:nvSpPr>
        <p:spPr>
          <a:xfrm>
            <a:off x="8493645" y="2908187"/>
            <a:ext cx="2121352" cy="230832"/>
          </a:xfrm>
          <a:prstGeom prst="rect">
            <a:avLst/>
          </a:prstGeom>
          <a:solidFill>
            <a:srgbClr val="003300"/>
          </a:solidFill>
          <a:ln w="12700"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인도의 북부 지역 → 남부 지역 진출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C0048E0-B97C-400B-94E4-6A6E6AE2560C}"/>
              </a:ext>
            </a:extLst>
          </p:cNvPr>
          <p:cNvSpPr txBox="1"/>
          <p:nvPr/>
        </p:nvSpPr>
        <p:spPr>
          <a:xfrm>
            <a:off x="9302155" y="3521503"/>
            <a:ext cx="5441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99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E313139-A0C1-4F0E-A4B8-F8DB7573024A}"/>
              </a:ext>
            </a:extLst>
          </p:cNvPr>
          <p:cNvSpPr txBox="1"/>
          <p:nvPr/>
        </p:nvSpPr>
        <p:spPr>
          <a:xfrm>
            <a:off x="468595" y="1269545"/>
            <a:ext cx="809781" cy="338554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아소카</a:t>
            </a:r>
            <a:r>
              <a:rPr lang="ko-KR" altLang="en-US" sz="8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왕</a:t>
            </a:r>
            <a:endParaRPr lang="en-US" altLang="ko-KR" sz="800" dirty="0">
              <a:solidFill>
                <a:schemeClr val="accent2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8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800" dirty="0" err="1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상좌부</a:t>
            </a:r>
            <a:r>
              <a:rPr lang="ko-KR" altLang="en-US" sz="8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불교</a:t>
            </a: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9E4160D4-1E06-44C4-9C87-EB8807CAC056}"/>
              </a:ext>
            </a:extLst>
          </p:cNvPr>
          <p:cNvCxnSpPr>
            <a:cxnSpLocks/>
          </p:cNvCxnSpPr>
          <p:nvPr/>
        </p:nvCxnSpPr>
        <p:spPr>
          <a:xfrm>
            <a:off x="511728" y="1278256"/>
            <a:ext cx="0" cy="3934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D8534A50-59A6-4FC2-A05C-6DCFE39FF12D}"/>
              </a:ext>
            </a:extLst>
          </p:cNvPr>
          <p:cNvSpPr txBox="1"/>
          <p:nvPr/>
        </p:nvSpPr>
        <p:spPr>
          <a:xfrm>
            <a:off x="468595" y="2983231"/>
            <a:ext cx="1208959" cy="338554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찬드라</a:t>
            </a:r>
            <a:r>
              <a:rPr lang="ko-KR" altLang="en-US" sz="8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800" dirty="0" err="1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굽타</a:t>
            </a:r>
            <a:r>
              <a:rPr lang="en-US" altLang="ko-KR" sz="8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ko-KR" altLang="en-US" sz="8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</a:t>
            </a:r>
            <a:endParaRPr lang="en-US" altLang="ko-KR" sz="800" dirty="0">
              <a:solidFill>
                <a:schemeClr val="accent2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8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8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힌두교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9D70C7A-8704-42C2-A4DC-F730ED411CA2}"/>
              </a:ext>
            </a:extLst>
          </p:cNvPr>
          <p:cNvSpPr txBox="1"/>
          <p:nvPr/>
        </p:nvSpPr>
        <p:spPr>
          <a:xfrm>
            <a:off x="1600412" y="3145016"/>
            <a:ext cx="8250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93~96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3C1425A-CCE0-4D42-8442-AC9548D52A05}"/>
              </a:ext>
            </a:extLst>
          </p:cNvPr>
          <p:cNvSpPr txBox="1"/>
          <p:nvPr/>
        </p:nvSpPr>
        <p:spPr>
          <a:xfrm>
            <a:off x="1570947" y="1827129"/>
            <a:ext cx="242097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                                          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해상 무역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5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                                                              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산스크리트어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12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                        0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2FCD1CF-3ED0-48A6-9AD5-8EF12BA4F101}"/>
              </a:ext>
            </a:extLst>
          </p:cNvPr>
          <p:cNvSpPr txBox="1"/>
          <p:nvPr/>
        </p:nvSpPr>
        <p:spPr>
          <a:xfrm>
            <a:off x="1000150" y="3416900"/>
            <a:ext cx="5215461" cy="5078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힌두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’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는 인도를 가리키는 말이다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따라서 힌두교는 인도의 종교라는 뜻이다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./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신의 수가 아주 많다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고대부터 내려오는 브라만교와 불교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인도의 민간 신앙이 합쳐진 종교다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/</a:t>
            </a:r>
            <a:r>
              <a:rPr lang="ko-KR" altLang="en-US" sz="9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카스트제의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신분 차별을 인정한다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왕을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신격화하기 위해 필요했다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./ </a:t>
            </a:r>
            <a:r>
              <a:rPr lang="ko-KR" altLang="en-US" sz="9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굽타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왕조는 힌두교를 장려하고 후원하면서 크게 발전할 수 있었다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C42CC6B-4350-452B-B5BA-1464EA78DE15}"/>
              </a:ext>
            </a:extLst>
          </p:cNvPr>
          <p:cNvSpPr txBox="1"/>
          <p:nvPr/>
        </p:nvSpPr>
        <p:spPr>
          <a:xfrm>
            <a:off x="54528" y="5161031"/>
            <a:ext cx="347854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굽타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양식은 간다라 양식에 인도 고유의 특색을 강조한 예술 사조이다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ko-KR" altLang="en-US" sz="9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아잔타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석굴의 사원과 벽화가 대표작으로 꼽힌다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556948F-DF58-4648-AF22-D5317BABAA5F}"/>
              </a:ext>
            </a:extLst>
          </p:cNvPr>
          <p:cNvSpPr txBox="1"/>
          <p:nvPr/>
        </p:nvSpPr>
        <p:spPr>
          <a:xfrm>
            <a:off x="4261514" y="6276121"/>
            <a:ext cx="4038163" cy="5078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굽타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왕조에서 힌두교를 국교로 정하면서 이전에 왕성했던 불교가 쇠퇴하기 시작했다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하지만 승려들은 계속 불경을 공부하고 불상을 제작하였으며 이 과정에서 불교 미술은 더 발전했다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576D64C-B818-4D1F-B57D-865560CDB4D2}"/>
              </a:ext>
            </a:extLst>
          </p:cNvPr>
          <p:cNvSpPr txBox="1"/>
          <p:nvPr/>
        </p:nvSpPr>
        <p:spPr>
          <a:xfrm>
            <a:off x="1918224" y="5763977"/>
            <a:ext cx="8946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90~92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34B0EAD-DF6E-48B7-86BC-47B3CF43D00D}"/>
              </a:ext>
            </a:extLst>
          </p:cNvPr>
          <p:cNvSpPr txBox="1"/>
          <p:nvPr/>
        </p:nvSpPr>
        <p:spPr>
          <a:xfrm>
            <a:off x="9331" y="5981833"/>
            <a:ext cx="4106824" cy="7848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여러 지역과 교역하며 경제적으로 풍요로웠고 예술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학문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과학의 발전도 </a:t>
            </a:r>
            <a:r>
              <a:rPr lang="ko-KR" altLang="en-US" sz="9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눈부셨다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시기에 발달한 과학은 이슬람 사회를 거쳐 유럽으로 전파되어 유럽 근대 과학에 영향을 미쳤을 정도라고 한다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뿐만 아니라 도시는 깨끗했고 사람들은 호화스럽게 살았고 사치품도 등장할 정도였다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경제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사회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문화적으로 풍성하고 통일을 이뤄 정치적으로도 안정적이었기 때문에 </a:t>
            </a:r>
            <a:r>
              <a:rPr lang="ko-KR" altLang="en-US" sz="9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굽타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왕조를 인도의 황금시대라고 하는 것이다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E3A9477-CEA4-4C13-BFA1-512B5062DEF3}"/>
              </a:ext>
            </a:extLst>
          </p:cNvPr>
          <p:cNvSpPr txBox="1"/>
          <p:nvPr/>
        </p:nvSpPr>
        <p:spPr>
          <a:xfrm>
            <a:off x="6136945" y="3800644"/>
            <a:ext cx="578197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지방의 자치를 어느 정도 허용하였고 인구의 다수를 차지하고 있던 힌두교에 대해 인두세를 걷는 것 외에는 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별다른 차별을 하지 않았다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또한 이슬람교로 개종하는 사람들에게는 세금을 줄여 주고 죄를 사면해 주었다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67A024F-0EBC-453A-B0C6-05CE19DE3EB5}"/>
              </a:ext>
            </a:extLst>
          </p:cNvPr>
          <p:cNvSpPr txBox="1"/>
          <p:nvPr/>
        </p:nvSpPr>
        <p:spPr>
          <a:xfrm>
            <a:off x="10755669" y="1765460"/>
            <a:ext cx="1288069" cy="246221"/>
          </a:xfrm>
          <a:prstGeom prst="rect">
            <a:avLst/>
          </a:prstGeom>
          <a:solidFill>
            <a:schemeClr val="bg1"/>
          </a:solidFill>
          <a:ln w="12700"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델리술탄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왕조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52D0C0F-EDDB-4B1B-ACDE-CE4C0ACFA55B}"/>
              </a:ext>
            </a:extLst>
          </p:cNvPr>
          <p:cNvSpPr txBox="1"/>
          <p:nvPr/>
        </p:nvSpPr>
        <p:spPr>
          <a:xfrm>
            <a:off x="10783371" y="2092801"/>
            <a:ext cx="991162" cy="338554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이슬람 세력 인도</a:t>
            </a:r>
            <a:endParaRPr lang="en-US" altLang="ko-KR" sz="800" dirty="0">
              <a:solidFill>
                <a:schemeClr val="accent2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800" dirty="0">
                <a:solidFill>
                  <a:schemeClr val="accent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확산 후 지배</a:t>
            </a:r>
          </a:p>
        </p:txBody>
      </p: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DB0FC1F2-9991-44B4-B866-42BD03DE5C45}"/>
              </a:ext>
            </a:extLst>
          </p:cNvPr>
          <p:cNvCxnSpPr>
            <a:cxnSpLocks/>
          </p:cNvCxnSpPr>
          <p:nvPr/>
        </p:nvCxnSpPr>
        <p:spPr>
          <a:xfrm>
            <a:off x="11803310" y="2011681"/>
            <a:ext cx="0" cy="21697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E32338D3-C37C-43AC-A310-0252671FAAAE}"/>
              </a:ext>
            </a:extLst>
          </p:cNvPr>
          <p:cNvSpPr txBox="1"/>
          <p:nvPr/>
        </p:nvSpPr>
        <p:spPr>
          <a:xfrm>
            <a:off x="10668756" y="4223408"/>
            <a:ext cx="1440318" cy="384721"/>
          </a:xfrm>
          <a:prstGeom prst="rect">
            <a:avLst/>
          </a:prstGeom>
          <a:noFill/>
          <a:ln w="127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동남 아시아로</a:t>
            </a:r>
            <a:endParaRPr lang="en-US" altLang="ko-KR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인도 이슬람 문화 전파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2AD88C7-10F2-405B-AAD8-497507C74F42}"/>
              </a:ext>
            </a:extLst>
          </p:cNvPr>
          <p:cNvSpPr txBox="1"/>
          <p:nvPr/>
        </p:nvSpPr>
        <p:spPr>
          <a:xfrm>
            <a:off x="9165545" y="4410726"/>
            <a:ext cx="8173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103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226ADC7-B492-444D-B6F9-1BFCF15F37DE}"/>
              </a:ext>
            </a:extLst>
          </p:cNvPr>
          <p:cNvSpPr txBox="1"/>
          <p:nvPr/>
        </p:nvSpPr>
        <p:spPr>
          <a:xfrm>
            <a:off x="10668756" y="4691120"/>
            <a:ext cx="1469822" cy="161582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인도와 중국 사이에 위치하여 두 지역 문화의 영향을 많이 받았다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특히 </a:t>
            </a:r>
            <a:r>
              <a:rPr lang="ko-KR" altLang="en-US" sz="9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인도로부터는 불교와 힌두교</a:t>
            </a:r>
            <a:r>
              <a:rPr lang="en-US" altLang="ko-KR" sz="9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 err="1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중국으로부터는</a:t>
            </a:r>
            <a:r>
              <a:rPr lang="ko-KR" altLang="en-US" sz="9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유교를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받아들이는 종교적 영향을 크게 받았다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여기에 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8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세경부터는 </a:t>
            </a:r>
            <a:r>
              <a:rPr lang="ko-KR" altLang="en-US" sz="9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이슬람 문화가 유입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되면서 동남아시아 문화는 고유의 토착 요소에 인도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중국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이슬람 문화가 섞이며 발전했다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4E7590B-BEEA-4049-9D62-7DE1A3C89BAA}"/>
              </a:ext>
            </a:extLst>
          </p:cNvPr>
          <p:cNvSpPr txBox="1"/>
          <p:nvPr/>
        </p:nvSpPr>
        <p:spPr>
          <a:xfrm>
            <a:off x="789672" y="4945307"/>
            <a:ext cx="10939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accent6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900" dirty="0">
                <a:solidFill>
                  <a:schemeClr val="accent6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영상</a:t>
            </a:r>
            <a:r>
              <a:rPr lang="en-US" altLang="ko-KR" sz="900" dirty="0">
                <a:solidFill>
                  <a:schemeClr val="accent6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+</a:t>
            </a:r>
            <a:r>
              <a:rPr lang="ko-KR" altLang="en-US" sz="900" dirty="0">
                <a:solidFill>
                  <a:schemeClr val="accent6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짐작</a:t>
            </a:r>
            <a:r>
              <a:rPr lang="en-US" altLang="ko-KR" sz="900" dirty="0">
                <a:solidFill>
                  <a:schemeClr val="accent6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900" dirty="0">
              <a:solidFill>
                <a:schemeClr val="accent6">
                  <a:lumMod val="7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756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72" grpId="0" animBg="1"/>
      <p:bldP spid="74" grpId="0" animBg="1"/>
      <p:bldP spid="75" grpId="0" animBg="1"/>
      <p:bldP spid="76" grpId="0" animBg="1"/>
      <p:bldP spid="79" grpId="0" animBg="1"/>
      <p:bldP spid="8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4" t="13589" r="51160" b="4102"/>
          <a:stretch/>
        </p:blipFill>
        <p:spPr>
          <a:xfrm>
            <a:off x="1099202" y="931985"/>
            <a:ext cx="4818185" cy="564466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이슈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다양한 제도를 정비한 중국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1FB145E-846A-454E-B89C-84C53F27A57D}"/>
              </a:ext>
            </a:extLst>
          </p:cNvPr>
          <p:cNvSpPr txBox="1"/>
          <p:nvPr/>
        </p:nvSpPr>
        <p:spPr>
          <a:xfrm>
            <a:off x="109056" y="551491"/>
            <a:ext cx="432006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수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당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송의 정치와 문화의 특징을 알아보자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957E8D9-156C-4542-AFBE-9D6F98AA01B9}"/>
              </a:ext>
            </a:extLst>
          </p:cNvPr>
          <p:cNvSpPr txBox="1"/>
          <p:nvPr/>
        </p:nvSpPr>
        <p:spPr>
          <a:xfrm>
            <a:off x="6348851" y="1587530"/>
            <a:ext cx="16222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1-1) [</a:t>
            </a:r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 문제</a:t>
            </a:r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 </a:t>
            </a:r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 </a:t>
            </a:r>
            <a:r>
              <a:rPr lang="ko-KR" altLang="en-US" sz="1000" dirty="0" err="1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양제</a:t>
            </a:r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000" dirty="0">
              <a:solidFill>
                <a:srgbClr val="7030A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5C242BE-11F7-4EFC-9AEB-4C3607A878F9}"/>
              </a:ext>
            </a:extLst>
          </p:cNvPr>
          <p:cNvSpPr txBox="1"/>
          <p:nvPr/>
        </p:nvSpPr>
        <p:spPr>
          <a:xfrm>
            <a:off x="6289527" y="1849140"/>
            <a:ext cx="4348085" cy="5078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강력한 제국을 만들고 왕권을 강화하기 위함이다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시험을 통해 관리를 뽑아 </a:t>
            </a:r>
            <a:r>
              <a:rPr lang="ko-KR" altLang="en-US" sz="900" u="sng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귀족의 세력을 약화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시키려고 했고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u="sng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나라의 재정을 강화하고자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균전제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실시했으며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</a:t>
            </a:r>
          </a:p>
          <a:p>
            <a:r>
              <a:rPr lang="ko-KR" altLang="en-US" sz="900" u="sng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황제의 명령을 잘 전달하고 물자를 자유롭게 주고받고자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대운하를 건설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한 것이다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668178A-473D-4683-8234-F6E3A4039A54}"/>
              </a:ext>
            </a:extLst>
          </p:cNvPr>
          <p:cNvSpPr txBox="1"/>
          <p:nvPr/>
        </p:nvSpPr>
        <p:spPr>
          <a:xfrm>
            <a:off x="6348851" y="2711655"/>
            <a:ext cx="16222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1-2) [</a:t>
            </a:r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당의 제도 정비</a:t>
            </a:r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000" dirty="0">
              <a:solidFill>
                <a:srgbClr val="7030A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E8A506B-55A8-458A-B366-FB9E078025B7}"/>
              </a:ext>
            </a:extLst>
          </p:cNvPr>
          <p:cNvSpPr txBox="1"/>
          <p:nvPr/>
        </p:nvSpPr>
        <p:spPr>
          <a:xfrm>
            <a:off x="6289527" y="2914542"/>
            <a:ext cx="4348085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여러 제도를 갖춘 당의 국력은 강해지고 백성들은 부유해졌다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F37C08C-09E7-4E54-B130-A3E41DF195C7}"/>
              </a:ext>
            </a:extLst>
          </p:cNvPr>
          <p:cNvSpPr txBox="1"/>
          <p:nvPr/>
        </p:nvSpPr>
        <p:spPr>
          <a:xfrm>
            <a:off x="6348851" y="3939542"/>
            <a:ext cx="16222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1-3) [</a:t>
            </a:r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당의 문화</a:t>
            </a:r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000" dirty="0">
              <a:solidFill>
                <a:srgbClr val="7030A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58837E7-84EE-4D90-956D-76870D2DD9B3}"/>
              </a:ext>
            </a:extLst>
          </p:cNvPr>
          <p:cNvSpPr txBox="1"/>
          <p:nvPr/>
        </p:nvSpPr>
        <p:spPr>
          <a:xfrm>
            <a:off x="6289527" y="4150457"/>
            <a:ext cx="4348085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당에서는 비단길을 통한 동서 교류가 활발하여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국제적인 성격을 띤 문화가 발달하였다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문화에 페르시아풍이 유행했다는 것을 보고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페르시아나 그 주변 서역과 교역이 활발했음을 짐작할 수 있다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이때 당은 활발한 교역을 바탕으로 국제적인 문화가 꽃피었으며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당의 수도 장안에는 주변 나라와 서역에서 온 사신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상인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유학생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유학승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등이 활동하였다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D0F08F6-DED6-47A5-96CA-7424B77EEDF9}"/>
              </a:ext>
            </a:extLst>
          </p:cNvPr>
          <p:cNvSpPr txBox="1"/>
          <p:nvPr/>
        </p:nvSpPr>
        <p:spPr>
          <a:xfrm>
            <a:off x="6348851" y="5267901"/>
            <a:ext cx="16222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1-4) [</a:t>
            </a:r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송의 문치주의</a:t>
            </a:r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000" dirty="0">
              <a:solidFill>
                <a:srgbClr val="7030A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EABBD93-B167-48FF-A45C-9D9828A1996E}"/>
              </a:ext>
            </a:extLst>
          </p:cNvPr>
          <p:cNvSpPr txBox="1"/>
          <p:nvPr/>
        </p:nvSpPr>
        <p:spPr>
          <a:xfrm>
            <a:off x="6289527" y="5470788"/>
            <a:ext cx="4432567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문치주의로 인해 귀족을 대신하는 유교 지식을 갖춘 사대부가 송의 새로운 지배층으로 떠올랐다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문치주의 덕분에 잠시 동안은 사회가 안정적이었지만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군사력을 약화시키는 결과를 가져왔다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송은 주변 민족의 공격을 자주 받게 되었으며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해마다 그들에게 막대한 공물을 보내야 했다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  <a:p>
            <a:r>
              <a:rPr lang="ko-KR" altLang="en-US" sz="900" u="sng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 지나친 문치주의 정책으로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관료 조직이 </a:t>
            </a:r>
            <a:r>
              <a:rPr lang="ko-KR" altLang="en-US" sz="9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비대해져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재정 낭비가 심했고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국방력이 약화되어 북방 민족의 침입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받았다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개혁 시도가 있었지만 실패하고 결국은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몽골에게 멸망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당한다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7A8FFB-765A-451E-A968-AC500316FC1B}"/>
              </a:ext>
            </a:extLst>
          </p:cNvPr>
          <p:cNvSpPr txBox="1"/>
          <p:nvPr/>
        </p:nvSpPr>
        <p:spPr>
          <a:xfrm>
            <a:off x="161502" y="1618180"/>
            <a:ext cx="1503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</a:t>
            </a:r>
            <a:r>
              <a:rPr lang="ko-KR" altLang="en-US" sz="9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 주 → 춘추전국 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 진→ 한→ </a:t>
            </a:r>
            <a:r>
              <a:rPr lang="ko-KR" altLang="en-US" sz="9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위진남북조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→</a:t>
            </a: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31DFD762-3DA8-469C-8E84-7FB5546A372C}"/>
              </a:ext>
            </a:extLst>
          </p:cNvPr>
          <p:cNvCxnSpPr>
            <a:cxnSpLocks/>
          </p:cNvCxnSpPr>
          <p:nvPr/>
        </p:nvCxnSpPr>
        <p:spPr>
          <a:xfrm>
            <a:off x="2488454" y="2568781"/>
            <a:ext cx="1" cy="830323"/>
          </a:xfrm>
          <a:prstGeom prst="straightConnector1">
            <a:avLst/>
          </a:prstGeom>
          <a:ln>
            <a:solidFill>
              <a:srgbClr val="0033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E3ECF06D-4A36-4C10-9830-20B97C56D17F}"/>
              </a:ext>
            </a:extLst>
          </p:cNvPr>
          <p:cNvSpPr txBox="1"/>
          <p:nvPr/>
        </p:nvSpPr>
        <p:spPr>
          <a:xfrm>
            <a:off x="4676051" y="1916657"/>
            <a:ext cx="101821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112~113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0EB799D1-0A26-46B8-8E89-82516EA33BFE}"/>
              </a:ext>
            </a:extLst>
          </p:cNvPr>
          <p:cNvCxnSpPr>
            <a:cxnSpLocks/>
          </p:cNvCxnSpPr>
          <p:nvPr/>
        </p:nvCxnSpPr>
        <p:spPr>
          <a:xfrm flipH="1">
            <a:off x="2488454" y="4116118"/>
            <a:ext cx="1" cy="1378486"/>
          </a:xfrm>
          <a:prstGeom prst="straightConnector1">
            <a:avLst/>
          </a:prstGeom>
          <a:ln>
            <a:solidFill>
              <a:srgbClr val="0033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CD3E4B9E-C9E6-4BA3-8507-BD0F4C57BC4D}"/>
              </a:ext>
            </a:extLst>
          </p:cNvPr>
          <p:cNvSpPr/>
          <p:nvPr/>
        </p:nvSpPr>
        <p:spPr>
          <a:xfrm>
            <a:off x="2488454" y="2401002"/>
            <a:ext cx="1816569" cy="167779"/>
          </a:xfrm>
          <a:prstGeom prst="rect">
            <a:avLst/>
          </a:prstGeom>
          <a:noFill/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8717B33-1A9E-4C8A-8F9F-94B5321BAF29}"/>
              </a:ext>
            </a:extLst>
          </p:cNvPr>
          <p:cNvSpPr txBox="1"/>
          <p:nvPr/>
        </p:nvSpPr>
        <p:spPr>
          <a:xfrm>
            <a:off x="4707281" y="3691612"/>
            <a:ext cx="8556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117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100D172-5082-4C02-BA32-F2E7D62A6D8C}"/>
              </a:ext>
            </a:extLst>
          </p:cNvPr>
          <p:cNvSpPr txBox="1"/>
          <p:nvPr/>
        </p:nvSpPr>
        <p:spPr>
          <a:xfrm>
            <a:off x="4872132" y="5157418"/>
            <a:ext cx="11844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124~126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06DFBE4-F067-47FA-A036-7094919899A8}"/>
              </a:ext>
            </a:extLst>
          </p:cNvPr>
          <p:cNvSpPr txBox="1"/>
          <p:nvPr/>
        </p:nvSpPr>
        <p:spPr>
          <a:xfrm>
            <a:off x="4845633" y="5666556"/>
            <a:ext cx="72459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121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723D8EE9-08B8-44F9-ABE5-0620ACE8B15B}"/>
              </a:ext>
            </a:extLst>
          </p:cNvPr>
          <p:cNvSpPr/>
          <p:nvPr/>
        </p:nvSpPr>
        <p:spPr>
          <a:xfrm>
            <a:off x="3428162" y="5503396"/>
            <a:ext cx="1967578" cy="167779"/>
          </a:xfrm>
          <a:prstGeom prst="rect">
            <a:avLst/>
          </a:prstGeom>
          <a:noFill/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3665D4-F043-4E0F-81C9-D5F93E4D2C51}"/>
              </a:ext>
            </a:extLst>
          </p:cNvPr>
          <p:cNvSpPr txBox="1"/>
          <p:nvPr/>
        </p:nvSpPr>
        <p:spPr>
          <a:xfrm>
            <a:off x="575593" y="5538463"/>
            <a:ext cx="85005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요 </a:t>
            </a:r>
            <a:r>
              <a:rPr lang="en-US" altLang="ko-KR" sz="9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vs </a:t>
            </a:r>
            <a:r>
              <a:rPr lang="ko-KR" altLang="en-US" sz="9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금   ←</a:t>
            </a:r>
            <a:endParaRPr lang="en-US" altLang="ko-KR" sz="900" dirty="0">
              <a:solidFill>
                <a:srgbClr val="FF505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↓</a:t>
            </a:r>
            <a:endParaRPr lang="en-US" altLang="ko-KR" sz="900" dirty="0">
              <a:solidFill>
                <a:srgbClr val="FF505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</a:t>
            </a:r>
            <a:r>
              <a:rPr lang="ko-KR" altLang="en-US" sz="900" dirty="0" err="1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남송</a:t>
            </a:r>
            <a:endParaRPr lang="en-US" altLang="ko-KR" sz="900" dirty="0">
              <a:solidFill>
                <a:srgbClr val="FF505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9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↓</a:t>
            </a:r>
            <a:endParaRPr lang="en-US" altLang="ko-KR" sz="900" dirty="0">
              <a:solidFill>
                <a:srgbClr val="FF505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9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</a:t>
            </a:r>
            <a:r>
              <a:rPr lang="ko-KR" altLang="en-US" sz="9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몽골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475C51-51C6-40B5-B506-6E3501060A83}"/>
              </a:ext>
            </a:extLst>
          </p:cNvPr>
          <p:cNvSpPr txBox="1"/>
          <p:nvPr/>
        </p:nvSpPr>
        <p:spPr>
          <a:xfrm>
            <a:off x="1385415" y="2221372"/>
            <a:ext cx="1056754" cy="2308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115~117 </a:t>
            </a:r>
            <a:r>
              <a:rPr lang="ko-KR" altLang="en-US" sz="9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밑줄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27E34D-752B-4A27-9DCD-02B00295E7E4}"/>
              </a:ext>
            </a:extLst>
          </p:cNvPr>
          <p:cNvSpPr txBox="1"/>
          <p:nvPr/>
        </p:nvSpPr>
        <p:spPr>
          <a:xfrm>
            <a:off x="1315221" y="5265831"/>
            <a:ext cx="1056750" cy="230832"/>
          </a:xfrm>
          <a:prstGeom prst="rect">
            <a:avLst/>
          </a:prstGeom>
          <a:solidFill>
            <a:srgbClr val="FF5050"/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당</a:t>
            </a:r>
            <a:r>
              <a:rPr lang="en-US" altLang="ko-KR" sz="9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vs</a:t>
            </a:r>
            <a:r>
              <a:rPr lang="ko-KR" altLang="en-US" sz="9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송 문화 비교</a:t>
            </a:r>
          </a:p>
        </p:txBody>
      </p:sp>
    </p:spTree>
    <p:extLst>
      <p:ext uri="{BB962C8B-B14F-4D97-AF65-F5344CB8AC3E}">
        <p14:creationId xmlns:p14="http://schemas.microsoft.com/office/powerpoint/2010/main" val="1890939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8" grpId="0" animBg="1"/>
      <p:bldP spid="62" grpId="0" animBg="1"/>
      <p:bldP spid="7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85" t="13205" r="571" b="2692"/>
          <a:stretch/>
        </p:blipFill>
        <p:spPr>
          <a:xfrm>
            <a:off x="6360216" y="670204"/>
            <a:ext cx="5312329" cy="61245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이슈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 제국을 건설한 몽골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그리고 원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1FB145E-846A-454E-B89C-84C53F27A57D}"/>
              </a:ext>
            </a:extLst>
          </p:cNvPr>
          <p:cNvSpPr txBox="1"/>
          <p:nvPr/>
        </p:nvSpPr>
        <p:spPr>
          <a:xfrm>
            <a:off x="109056" y="551491"/>
            <a:ext cx="565418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몽골족이 세운 원의 제도와 문화에 대해 알아보자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DB0D87E-EB2F-422E-AB26-E7F365231CB4}"/>
              </a:ext>
            </a:extLst>
          </p:cNvPr>
          <p:cNvSpPr txBox="1"/>
          <p:nvPr/>
        </p:nvSpPr>
        <p:spPr>
          <a:xfrm>
            <a:off x="1015285" y="1135336"/>
            <a:ext cx="41019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1-1) [</a:t>
            </a:r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원의 영토 </a:t>
            </a:r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 + [ </a:t>
            </a:r>
            <a:r>
              <a:rPr lang="ko-KR" altLang="en-US" sz="1000" u="sng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몽골족이 세계 제국 건설할 수 있었던 이유는</a:t>
            </a:r>
            <a:r>
              <a:rPr lang="en-US" altLang="ko-KR" sz="1000" u="sng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? </a:t>
            </a:r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000" u="sng" dirty="0">
              <a:solidFill>
                <a:srgbClr val="7030A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8D019AB-4551-493E-BA6B-CDEFE83834E2}"/>
              </a:ext>
            </a:extLst>
          </p:cNvPr>
          <p:cNvSpPr txBox="1"/>
          <p:nvPr/>
        </p:nvSpPr>
        <p:spPr>
          <a:xfrm>
            <a:off x="955961" y="1396946"/>
            <a:ext cx="4807276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말 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뛰어난 전투력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작은 화살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투석기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 /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몽골 협조 민족 자치권 부여 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 </a:t>
            </a:r>
            <a:r>
              <a:rPr lang="ko-KR" altLang="en-US" sz="9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천호제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엄격한 법</a:t>
            </a:r>
            <a:endParaRPr lang="en-US" altLang="ko-KR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병사 한 명이 여러 마리의 말을 바꾸어 타면서 장거리를 빠르게 이동할 수 있었으며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비상시에는 말을 식량과 무기의 재료로도 이용하였다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기마병에 적합한 작은 활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투석기 같은 우수한 무기와 말 위에서 몸을 뒤쪽으로 틀어 화살을 쏠 수 있을 정도의 뛰어난 전투력을 갖고 있었다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몽골에 협조한 민족에게는 자치권을 부여하는 등 우대하였다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특히 이슬람 지역 사람들을 기용해 세계 각지의 정보를 얻거나 재정과 상업적인 방면에서 도움을 받았다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반대로 저항하는 자들에게는 철저하게 응징하였다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CA95CDD-A0AE-4D21-A932-1934153E7A82}"/>
              </a:ext>
            </a:extLst>
          </p:cNvPr>
          <p:cNvSpPr txBox="1"/>
          <p:nvPr/>
        </p:nvSpPr>
        <p:spPr>
          <a:xfrm>
            <a:off x="1015285" y="2680713"/>
            <a:ext cx="16222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1-2) [</a:t>
            </a:r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몽골 제일주의</a:t>
            </a:r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000" dirty="0">
              <a:solidFill>
                <a:srgbClr val="7030A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900576D-EE5D-49AA-AAD2-1B4AB2251C6A}"/>
              </a:ext>
            </a:extLst>
          </p:cNvPr>
          <p:cNvSpPr txBox="1"/>
          <p:nvPr/>
        </p:nvSpPr>
        <p:spPr>
          <a:xfrm>
            <a:off x="955961" y="2918744"/>
            <a:ext cx="4807276" cy="7848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원은 몽골 제일주의를 내세워 민족에 따라 대우를 달리하는 방식으로 중국을 지배하였다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정치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군사와 관련된 중요한 관직은 모두 </a:t>
            </a:r>
            <a:r>
              <a:rPr lang="ko-KR" altLang="en-US" sz="9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몽골인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차지했는데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적은 수의 몽골인으로 엄청난 인구의 중국인을 다스리기 </a:t>
            </a:r>
            <a:r>
              <a:rPr lang="ko-KR" altLang="en-US" sz="9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위함이었다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서역 출신의 색목인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우대해 재정과 행정 실무를 맡겼다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반면 </a:t>
            </a:r>
            <a:r>
              <a:rPr lang="ko-KR" altLang="en-US" sz="9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한족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은 정치적 진출과 사회적 지위 등에서 차별을 받았다</a:t>
            </a:r>
            <a:r>
              <a:rPr lang="en-US" altLang="ko-KR" sz="900" dirty="0">
                <a:solidFill>
                  <a:srgbClr val="FF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즉 몽골 제일주의는 중국을 오랫동안 지배했던 한족을 철저히 배척한 제도였다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F60EE05-90A3-40C8-B1C6-5610B53CF5D5}"/>
              </a:ext>
            </a:extLst>
          </p:cNvPr>
          <p:cNvSpPr txBox="1"/>
          <p:nvPr/>
        </p:nvSpPr>
        <p:spPr>
          <a:xfrm>
            <a:off x="1015285" y="3793208"/>
            <a:ext cx="16222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1-3) [</a:t>
            </a:r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역참 제도</a:t>
            </a:r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000" dirty="0">
              <a:solidFill>
                <a:srgbClr val="7030A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66A4FD0-63D8-446F-BD87-8AF76ED5AD7E}"/>
              </a:ext>
            </a:extLst>
          </p:cNvPr>
          <p:cNvSpPr txBox="1"/>
          <p:nvPr/>
        </p:nvSpPr>
        <p:spPr>
          <a:xfrm>
            <a:off x="955961" y="4015063"/>
            <a:ext cx="4807276" cy="5078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역참은 오늘날의 역과 같은데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역참은 갈아탈 수 있는 말과 숙박 시설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식량 등을 갖추고 있었다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이와 같은 교통망을 통해 상인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선교사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여행가 등이 중국을 자주 찾아왔다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역참은 동서 교역을 보다 활발하게 이뤄질 수 있도록 도움을 주었다</a:t>
            </a:r>
            <a:r>
              <a:rPr lang="en-US" altLang="ko-KR" sz="9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F066595-7B48-4415-AB50-ED7BFA203595}"/>
              </a:ext>
            </a:extLst>
          </p:cNvPr>
          <p:cNvSpPr txBox="1"/>
          <p:nvPr/>
        </p:nvSpPr>
        <p:spPr>
          <a:xfrm>
            <a:off x="1015285" y="5104343"/>
            <a:ext cx="16222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2. [</a:t>
            </a:r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원의 사회와 문화</a:t>
            </a:r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1000" dirty="0">
              <a:solidFill>
                <a:srgbClr val="7030A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B938BFF-64D8-4A48-9A2E-CC3511373EE1}"/>
              </a:ext>
            </a:extLst>
          </p:cNvPr>
          <p:cNvSpPr txBox="1"/>
          <p:nvPr/>
        </p:nvSpPr>
        <p:spPr>
          <a:xfrm>
            <a:off x="955961" y="5307230"/>
            <a:ext cx="4348085" cy="5078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외국인들이 마음대로 다닌 것을 보아 개방적인 사회였을 것이다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교역이 활발하고 세금을 많이 걷는 것을 보니 국가의 경제가 부유했을 것이다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백성들도 문화를 즐긴 것을 보니 서민적인 문화가 발달했을 것이다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33E2FF4-299F-4A1F-83D8-14287DCC7833}"/>
              </a:ext>
            </a:extLst>
          </p:cNvPr>
          <p:cNvSpPr txBox="1"/>
          <p:nvPr/>
        </p:nvSpPr>
        <p:spPr>
          <a:xfrm>
            <a:off x="8630251" y="2713337"/>
            <a:ext cx="8556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141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68DFAD4-70C6-437E-AC12-59DC91BAE408}"/>
              </a:ext>
            </a:extLst>
          </p:cNvPr>
          <p:cNvSpPr txBox="1"/>
          <p:nvPr/>
        </p:nvSpPr>
        <p:spPr>
          <a:xfrm>
            <a:off x="11345653" y="2704545"/>
            <a:ext cx="8556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p.145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8199932-0644-4DBA-A836-B95BD6214E89}"/>
              </a:ext>
            </a:extLst>
          </p:cNvPr>
          <p:cNvSpPr txBox="1"/>
          <p:nvPr/>
        </p:nvSpPr>
        <p:spPr>
          <a:xfrm>
            <a:off x="9328552" y="3117521"/>
            <a:ext cx="8556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148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283CD8E-EB41-49DB-A5CF-9B10B10DEBD9}"/>
              </a:ext>
            </a:extLst>
          </p:cNvPr>
          <p:cNvSpPr txBox="1"/>
          <p:nvPr/>
        </p:nvSpPr>
        <p:spPr>
          <a:xfrm>
            <a:off x="9553017" y="4062237"/>
            <a:ext cx="8556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accent6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900" dirty="0">
                <a:solidFill>
                  <a:schemeClr val="accent6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짐작하기</a:t>
            </a:r>
            <a:r>
              <a:rPr lang="en-US" altLang="ko-KR" sz="900" dirty="0">
                <a:solidFill>
                  <a:schemeClr val="accent6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900" dirty="0">
              <a:solidFill>
                <a:schemeClr val="accent6">
                  <a:lumMod val="7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1847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2" grpId="0" animBg="1"/>
      <p:bldP spid="58" grpId="0" animBg="1"/>
      <p:bldP spid="6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3" t="13719" r="51173" b="1666"/>
          <a:stretch/>
        </p:blipFill>
        <p:spPr>
          <a:xfrm>
            <a:off x="4343012" y="866658"/>
            <a:ext cx="4730261" cy="5802924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8EF9949-BC53-4FC4-8D34-7DE2C38137AD}"/>
              </a:ext>
            </a:extLst>
          </p:cNvPr>
          <p:cNvSpPr txBox="1"/>
          <p:nvPr/>
        </p:nvSpPr>
        <p:spPr>
          <a:xfrm>
            <a:off x="109057" y="536170"/>
            <a:ext cx="531222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실크로드를 통한 교류가 동서양에 미친 영향을 알아보자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F2FFBF-584C-49EA-B045-BCF4E886AD9D}"/>
              </a:ext>
            </a:extLst>
          </p:cNvPr>
          <p:cNvSpPr txBox="1"/>
          <p:nvPr/>
        </p:nvSpPr>
        <p:spPr>
          <a:xfrm>
            <a:off x="109058" y="3641"/>
            <a:ext cx="5234468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포커스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동서양의 문화를 실어 나른 실크로드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4F17DCF-21B8-421B-9718-3B9FBDEC32A3}"/>
              </a:ext>
            </a:extLst>
          </p:cNvPr>
          <p:cNvSpPr txBox="1"/>
          <p:nvPr/>
        </p:nvSpPr>
        <p:spPr>
          <a:xfrm>
            <a:off x="4598277" y="5902375"/>
            <a:ext cx="4484465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실크로드를 통하여 동서양의 문화가 활발하게 교류하며 문화가 전파되고 발전하게 되었다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2496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62" t="13719" r="2114" b="1666"/>
          <a:stretch/>
        </p:blipFill>
        <p:spPr>
          <a:xfrm>
            <a:off x="4343012" y="866658"/>
            <a:ext cx="4730261" cy="5802924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8EF9949-BC53-4FC4-8D34-7DE2C38137AD}"/>
              </a:ext>
            </a:extLst>
          </p:cNvPr>
          <p:cNvSpPr txBox="1"/>
          <p:nvPr/>
        </p:nvSpPr>
        <p:spPr>
          <a:xfrm>
            <a:off x="109057" y="536170"/>
            <a:ext cx="531222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동아시아 공통의 문화 요소가 무엇인지 살펴보자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F2FFBF-584C-49EA-B045-BCF4E886AD9D}"/>
              </a:ext>
            </a:extLst>
          </p:cNvPr>
          <p:cNvSpPr txBox="1"/>
          <p:nvPr/>
        </p:nvSpPr>
        <p:spPr>
          <a:xfrm>
            <a:off x="109058" y="3641"/>
            <a:ext cx="5234468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포커스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닮은 꼴의 동아시아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E8F3342-5747-48B7-AFFD-19FE24FC5CB8}"/>
              </a:ext>
            </a:extLst>
          </p:cNvPr>
          <p:cNvSpPr txBox="1"/>
          <p:nvPr/>
        </p:nvSpPr>
        <p:spPr>
          <a:xfrm>
            <a:off x="6195533" y="3641"/>
            <a:ext cx="5234468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C20B882-B7D6-419A-9284-0D3585ED91D9}"/>
              </a:ext>
            </a:extLst>
          </p:cNvPr>
          <p:cNvSpPr txBox="1"/>
          <p:nvPr/>
        </p:nvSpPr>
        <p:spPr>
          <a:xfrm>
            <a:off x="4502646" y="5999184"/>
            <a:ext cx="4412754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지리적으로 가깝고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당 시대에는 교류가 활발했기 때문에 문화가 전파될 수 있었다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특히 당 시대의 문화가 주변 국가보다 발달해서 유학생이나 유학승이 많았기 때문에 중국 문화를 중심으로 동아시아 문화가 형성되었다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0032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1" t="14359" r="1875" b="1282"/>
          <a:stretch/>
        </p:blipFill>
        <p:spPr>
          <a:xfrm>
            <a:off x="474785" y="1028697"/>
            <a:ext cx="4756638" cy="578533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1" t="4102" r="1628" b="1282"/>
          <a:stretch/>
        </p:blipFill>
        <p:spPr>
          <a:xfrm>
            <a:off x="6029188" y="500382"/>
            <a:ext cx="4553511" cy="630486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논평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문화 지도로 만나는 역사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8D81FBF9-8558-421A-B8F3-EDA21673DB14}"/>
              </a:ext>
            </a:extLst>
          </p:cNvPr>
          <p:cNvSpPr txBox="1"/>
          <p:nvPr/>
        </p:nvSpPr>
        <p:spPr>
          <a:xfrm>
            <a:off x="109057" y="536170"/>
            <a:ext cx="531222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아시아 지역 세계의 문화 지도를 만들어 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98FCAB-8899-4B4A-9653-0A2E99572004}"/>
              </a:ext>
            </a:extLst>
          </p:cNvPr>
          <p:cNvSpPr txBox="1"/>
          <p:nvPr/>
        </p:nvSpPr>
        <p:spPr>
          <a:xfrm>
            <a:off x="8117722" y="5018037"/>
            <a:ext cx="8556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52~53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490DD8-3AF4-4A2A-9B6F-B3357F705AA5}"/>
              </a:ext>
            </a:extLst>
          </p:cNvPr>
          <p:cNvSpPr txBox="1"/>
          <p:nvPr/>
        </p:nvSpPr>
        <p:spPr>
          <a:xfrm>
            <a:off x="7538881" y="2004790"/>
            <a:ext cx="13657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녹색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갈색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흰색 등의 세 가지 색깔을 넣어 만든 도자기다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화려한 당의 문화를 엿볼 수 있다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E31A82-98CD-4E24-BB32-6E191236CAB1}"/>
              </a:ext>
            </a:extLst>
          </p:cNvPr>
          <p:cNvSpPr txBox="1"/>
          <p:nvPr/>
        </p:nvSpPr>
        <p:spPr>
          <a:xfrm>
            <a:off x="6112752" y="5826886"/>
            <a:ext cx="200497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인도에 남아 있는 이슬람 왕조 건축물이다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인도에 최초의 이슬람 왕조가 성립된 후 승리의 기념으로 힌두교 신전 자리에 세운 탑으로 곳곳에 이슬람 경전 구절이 새겨져 있다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D9AA16AB-AAB0-4689-9608-257BC688C6B0}"/>
              </a:ext>
            </a:extLst>
          </p:cNvPr>
          <p:cNvGrpSpPr/>
          <p:nvPr/>
        </p:nvGrpSpPr>
        <p:grpSpPr>
          <a:xfrm>
            <a:off x="5955046" y="1123718"/>
            <a:ext cx="3867327" cy="4711060"/>
            <a:chOff x="3979750" y="979299"/>
            <a:chExt cx="3867327" cy="471106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344D3FE-A40F-47F1-900B-6C52517113D7}"/>
                </a:ext>
              </a:extLst>
            </p:cNvPr>
            <p:cNvSpPr txBox="1"/>
            <p:nvPr/>
          </p:nvSpPr>
          <p:spPr>
            <a:xfrm>
              <a:off x="4187895" y="1019137"/>
              <a:ext cx="136572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 err="1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아잔타</a:t>
              </a:r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석굴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F1D1860-707A-4696-8883-3AFFDAF87598}"/>
                </a:ext>
              </a:extLst>
            </p:cNvPr>
            <p:cNvSpPr txBox="1"/>
            <p:nvPr/>
          </p:nvSpPr>
          <p:spPr>
            <a:xfrm>
              <a:off x="5563585" y="1614150"/>
              <a:ext cx="64426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당삼채</a:t>
              </a:r>
              <a:endPara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175AE08-EB4F-4105-8AB7-203AE3BD3092}"/>
                </a:ext>
              </a:extLst>
            </p:cNvPr>
            <p:cNvSpPr txBox="1"/>
            <p:nvPr/>
          </p:nvSpPr>
          <p:spPr>
            <a:xfrm>
              <a:off x="6991399" y="979299"/>
              <a:ext cx="85567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앙코르 와트</a:t>
              </a:r>
              <a:endPara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901C8A4-67A7-4190-8BE9-9B48D9850DF1}"/>
                </a:ext>
              </a:extLst>
            </p:cNvPr>
            <p:cNvSpPr txBox="1"/>
            <p:nvPr/>
          </p:nvSpPr>
          <p:spPr>
            <a:xfrm>
              <a:off x="3979750" y="2902643"/>
              <a:ext cx="97814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파괴의 신 시바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8905C3D-D6CF-4234-BD1A-B83635CD2DBD}"/>
                </a:ext>
              </a:extLst>
            </p:cNvPr>
            <p:cNvSpPr txBox="1"/>
            <p:nvPr/>
          </p:nvSpPr>
          <p:spPr>
            <a:xfrm>
              <a:off x="6246445" y="5444138"/>
              <a:ext cx="11308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 err="1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보로부두르</a:t>
              </a:r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불탑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84140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문제 풀며 스스로 정리해요 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4BEB35AC-DE80-4618-B15E-11BECC9D84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426" t="18349" r="24863" b="15963"/>
          <a:stretch/>
        </p:blipFill>
        <p:spPr>
          <a:xfrm>
            <a:off x="1" y="1582854"/>
            <a:ext cx="6110696" cy="445243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0972A6F-6054-42B8-8FAB-CA5EB4275C0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944" t="19248" r="25344" b="19249"/>
          <a:stretch/>
        </p:blipFill>
        <p:spPr>
          <a:xfrm>
            <a:off x="6081304" y="1808586"/>
            <a:ext cx="6110696" cy="416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698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E83F67E-95A3-41F4-8267-31F8117869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290" t="15780" r="24999" b="21346"/>
          <a:stretch/>
        </p:blipFill>
        <p:spPr>
          <a:xfrm>
            <a:off x="9330" y="1466667"/>
            <a:ext cx="6182686" cy="43119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문제 풀며 스스로 정리해요 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E61DCDFC-3F56-40DC-B7CA-954F706BFA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358" t="24465" r="25482" b="15123"/>
          <a:stretch/>
        </p:blipFill>
        <p:spPr>
          <a:xfrm>
            <a:off x="6166849" y="1593687"/>
            <a:ext cx="6018371" cy="407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696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2078</TotalTime>
  <Words>1179</Words>
  <Application>Microsoft Office PowerPoint</Application>
  <PresentationFormat>와이드스크린</PresentationFormat>
  <Paragraphs>127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THE봉숭아틴트</vt:lpstr>
      <vt:lpstr>나눔스퀘어 Bold</vt:lpstr>
      <vt:lpstr>나눔스퀘어_ac 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821098119832</dc:creator>
  <cp:lastModifiedBy>Administrator</cp:lastModifiedBy>
  <cp:revision>96</cp:revision>
  <dcterms:created xsi:type="dcterms:W3CDTF">2021-05-21T01:10:02Z</dcterms:created>
  <dcterms:modified xsi:type="dcterms:W3CDTF">2024-10-24T05:20:10Z</dcterms:modified>
</cp:coreProperties>
</file>