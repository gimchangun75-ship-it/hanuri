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94" r:id="rId6"/>
    <p:sldId id="281" r:id="rId7"/>
    <p:sldId id="288" r:id="rId8"/>
    <p:sldId id="295" r:id="rId9"/>
    <p:sldId id="285" r:id="rId10"/>
    <p:sldId id="29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0B4FEB-6465-4B74-A4DE-3C4911FF65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9" t="21336" r="28565" b="59848"/>
          <a:stretch/>
        </p:blipFill>
        <p:spPr>
          <a:xfrm>
            <a:off x="777943" y="561598"/>
            <a:ext cx="1948166" cy="1290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060F5F-3CB6-41E7-BB3E-70723E3502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2" t="57600" r="11024" b="3524"/>
          <a:stretch/>
        </p:blipFill>
        <p:spPr>
          <a:xfrm>
            <a:off x="3838575" y="3444693"/>
            <a:ext cx="4550832" cy="336432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문명 시기부터 무사가 지배했던 시기까지의 일본의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한국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중국이 서로 영향을 주고받은 역사적 사실을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⑦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9A24-F8D7-407A-AF47-DD88CBD9BA8E}"/>
              </a:ext>
            </a:extLst>
          </p:cNvPr>
          <p:cNvSpPr txBox="1"/>
          <p:nvPr/>
        </p:nvSpPr>
        <p:spPr>
          <a:xfrm>
            <a:off x="7768217" y="3652676"/>
            <a:ext cx="2527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74 </a:t>
            </a:r>
          </a:p>
          <a:p>
            <a:r>
              <a:rPr lang="ko-KR" altLang="en-US" sz="11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조닌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계층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서민층까지 확대</a:t>
            </a: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르네상스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개혁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6D9861A-DBBA-4D4D-9AA8-446BA904DE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48" t="17370" r="29817" b="36880"/>
          <a:stretch/>
        </p:blipFill>
        <p:spPr>
          <a:xfrm>
            <a:off x="9331" y="1203730"/>
            <a:ext cx="5966650" cy="36702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4C4C4EF-B123-4D2B-819F-4C29EB9224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31" t="32661" r="29541" b="9725"/>
          <a:stretch/>
        </p:blipFill>
        <p:spPr>
          <a:xfrm>
            <a:off x="6096000" y="1203730"/>
            <a:ext cx="6086669" cy="47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" t="1923" r="945" b="641"/>
          <a:stretch/>
        </p:blipFill>
        <p:spPr>
          <a:xfrm>
            <a:off x="1395346" y="551491"/>
            <a:ext cx="9180457" cy="6257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2AA0C-A833-4EE4-B4FD-623F6D0F4ABE}"/>
              </a:ext>
            </a:extLst>
          </p:cNvPr>
          <p:cNvSpPr txBox="1"/>
          <p:nvPr/>
        </p:nvSpPr>
        <p:spPr>
          <a:xfrm>
            <a:off x="2667698" y="1879532"/>
            <a:ext cx="280192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훗카이도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혼슈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5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규슈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5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시코쿠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2A4EF-75AC-4D78-BF60-6B2CE3EB565D}"/>
              </a:ext>
            </a:extLst>
          </p:cNvPr>
          <p:cNvSpPr txBox="1"/>
          <p:nvPr/>
        </p:nvSpPr>
        <p:spPr>
          <a:xfrm>
            <a:off x="0" y="4632604"/>
            <a:ext cx="436228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조몬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E671C24-1494-472B-A1C5-C029B2DB8EEF}"/>
              </a:ext>
            </a:extLst>
          </p:cNvPr>
          <p:cNvCxnSpPr>
            <a:cxnSpLocks/>
          </p:cNvCxnSpPr>
          <p:nvPr/>
        </p:nvCxnSpPr>
        <p:spPr>
          <a:xfrm>
            <a:off x="436228" y="4745053"/>
            <a:ext cx="285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CA6A9E-4DC1-44D1-82FC-FC0162724DB1}"/>
              </a:ext>
            </a:extLst>
          </p:cNvPr>
          <p:cNvSpPr txBox="1"/>
          <p:nvPr/>
        </p:nvSpPr>
        <p:spPr>
          <a:xfrm>
            <a:off x="738232" y="4632604"/>
            <a:ext cx="554059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야요이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B1978B-E22B-4DBA-A40C-5642B87B7AD6}"/>
              </a:ext>
            </a:extLst>
          </p:cNvPr>
          <p:cNvSpPr/>
          <p:nvPr/>
        </p:nvSpPr>
        <p:spPr>
          <a:xfrm>
            <a:off x="1568741" y="4686330"/>
            <a:ext cx="419450" cy="13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642CEB-38BB-4FA5-AD10-F60C2AB43FBA}"/>
              </a:ext>
            </a:extLst>
          </p:cNvPr>
          <p:cNvSpPr/>
          <p:nvPr/>
        </p:nvSpPr>
        <p:spPr>
          <a:xfrm>
            <a:off x="2206304" y="4686330"/>
            <a:ext cx="419450" cy="13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899A10-5D65-4D2F-801B-ABFB072CDBE1}"/>
              </a:ext>
            </a:extLst>
          </p:cNvPr>
          <p:cNvSpPr/>
          <p:nvPr/>
        </p:nvSpPr>
        <p:spPr>
          <a:xfrm>
            <a:off x="3447875" y="4686330"/>
            <a:ext cx="419450" cy="13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C39B81-0B90-4692-A895-5B1E56AC5773}"/>
              </a:ext>
            </a:extLst>
          </p:cNvPr>
          <p:cNvSpPr/>
          <p:nvPr/>
        </p:nvSpPr>
        <p:spPr>
          <a:xfrm>
            <a:off x="4647501" y="4686330"/>
            <a:ext cx="511728" cy="13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ADB13-74C1-45EB-9E25-E3A85932A02E}"/>
              </a:ext>
            </a:extLst>
          </p:cNvPr>
          <p:cNvSpPr txBox="1"/>
          <p:nvPr/>
        </p:nvSpPr>
        <p:spPr>
          <a:xfrm>
            <a:off x="5888686" y="4632604"/>
            <a:ext cx="753681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막부 시대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E5A8352-1C5D-4844-ABD2-468C90AE2CD8}"/>
              </a:ext>
            </a:extLst>
          </p:cNvPr>
          <p:cNvCxnSpPr>
            <a:cxnSpLocks/>
          </p:cNvCxnSpPr>
          <p:nvPr/>
        </p:nvCxnSpPr>
        <p:spPr>
          <a:xfrm>
            <a:off x="5427678" y="4745053"/>
            <a:ext cx="343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ADCE9E-B9B5-47D3-A155-44E02B266E05}"/>
              </a:ext>
            </a:extLst>
          </p:cNvPr>
          <p:cNvSpPr/>
          <p:nvPr/>
        </p:nvSpPr>
        <p:spPr>
          <a:xfrm>
            <a:off x="9025016" y="5128528"/>
            <a:ext cx="419450" cy="13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E39F6B6-435B-42B9-8F0B-9AEF6D6515E3}"/>
              </a:ext>
            </a:extLst>
          </p:cNvPr>
          <p:cNvCxnSpPr>
            <a:cxnSpLocks/>
          </p:cNvCxnSpPr>
          <p:nvPr/>
        </p:nvCxnSpPr>
        <p:spPr>
          <a:xfrm>
            <a:off x="1292291" y="4745053"/>
            <a:ext cx="276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D88534-45EA-46B5-ACB8-09FA447E70AA}"/>
              </a:ext>
            </a:extLst>
          </p:cNvPr>
          <p:cNvSpPr txBox="1"/>
          <p:nvPr/>
        </p:nvSpPr>
        <p:spPr>
          <a:xfrm>
            <a:off x="8934221" y="5409316"/>
            <a:ext cx="14078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도쿠가와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이에야스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" t="12821" r="50829" b="3633"/>
          <a:stretch/>
        </p:blipFill>
        <p:spPr>
          <a:xfrm>
            <a:off x="2458265" y="831740"/>
            <a:ext cx="5077249" cy="5964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통일 국가를 성립하고 성장하기 시작하다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일본이 통일 국가를 성립한 뒤 고유의 문화를 만들어 가는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FB6D38-EA1E-4F7E-97C7-EB1B94F1BF76}"/>
              </a:ext>
            </a:extLst>
          </p:cNvPr>
          <p:cNvSpPr txBox="1"/>
          <p:nvPr/>
        </p:nvSpPr>
        <p:spPr>
          <a:xfrm>
            <a:off x="6817627" y="1932600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27~28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745F70-00B8-4FAF-BC4F-25AB59EFDDF6}"/>
              </a:ext>
            </a:extLst>
          </p:cNvPr>
          <p:cNvSpPr txBox="1"/>
          <p:nvPr/>
        </p:nvSpPr>
        <p:spPr>
          <a:xfrm>
            <a:off x="7632226" y="2167613"/>
            <a:ext cx="3864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개혁을 주도한 황자가 솔선수범하여 자신의 토지를 모두 국가에 바치고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호족들의 토지도 바치게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그리고 호족이 왕에게 충성을 바치겠다고 하면 왕은 그 호족에게 관직과 땅을 내려 주는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식읍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제도를 실시했다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원칙을 세움으로써 왕의 권위는 높아지고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호족들이 마음대로 세력을 키우는 것을 방지해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점차 호족 세력은 약화되고 왕권은 강화되었다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국왕 중심의 국가 체제 정비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0C736-CBE9-4D32-AFCA-9B9BDE7147B9}"/>
              </a:ext>
            </a:extLst>
          </p:cNvPr>
          <p:cNvSpPr txBox="1"/>
          <p:nvPr/>
        </p:nvSpPr>
        <p:spPr>
          <a:xfrm>
            <a:off x="6817627" y="3982257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6909E0-1A8B-4DE4-AFB0-D10D71DA9E6B}"/>
              </a:ext>
            </a:extLst>
          </p:cNvPr>
          <p:cNvSpPr/>
          <p:nvPr/>
        </p:nvSpPr>
        <p:spPr>
          <a:xfrm>
            <a:off x="3066222" y="2144102"/>
            <a:ext cx="1252057" cy="1786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393CAC-F64A-4F4F-8AFA-4B5E316E6D75}"/>
              </a:ext>
            </a:extLst>
          </p:cNvPr>
          <p:cNvSpPr/>
          <p:nvPr/>
        </p:nvSpPr>
        <p:spPr>
          <a:xfrm>
            <a:off x="3066222" y="3479892"/>
            <a:ext cx="1252057" cy="1786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F2B19D-F5AF-434C-8FA4-1F0CEF94E315}"/>
              </a:ext>
            </a:extLst>
          </p:cNvPr>
          <p:cNvSpPr/>
          <p:nvPr/>
        </p:nvSpPr>
        <p:spPr>
          <a:xfrm>
            <a:off x="3066222" y="4545293"/>
            <a:ext cx="1252057" cy="1786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AC39FB-8EAD-4EF5-A0BD-B3A7FFFEB777}"/>
              </a:ext>
            </a:extLst>
          </p:cNvPr>
          <p:cNvSpPr/>
          <p:nvPr/>
        </p:nvSpPr>
        <p:spPr>
          <a:xfrm>
            <a:off x="3066223" y="1565987"/>
            <a:ext cx="1067500" cy="178632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1EED2-906D-48AE-9D6E-F75B80258493}"/>
              </a:ext>
            </a:extLst>
          </p:cNvPr>
          <p:cNvSpPr txBox="1"/>
          <p:nvPr/>
        </p:nvSpPr>
        <p:spPr>
          <a:xfrm>
            <a:off x="2810031" y="1534397"/>
            <a:ext cx="337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BD2992-A340-4EC4-8568-4A9027DE484E}"/>
              </a:ext>
            </a:extLst>
          </p:cNvPr>
          <p:cNvSpPr txBox="1"/>
          <p:nvPr/>
        </p:nvSpPr>
        <p:spPr>
          <a:xfrm>
            <a:off x="2810031" y="2111222"/>
            <a:ext cx="337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3EBB96-43F0-43BA-BD29-D7810758BDA0}"/>
              </a:ext>
            </a:extLst>
          </p:cNvPr>
          <p:cNvSpPr txBox="1"/>
          <p:nvPr/>
        </p:nvSpPr>
        <p:spPr>
          <a:xfrm>
            <a:off x="2810031" y="3447012"/>
            <a:ext cx="337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0A4A79-1BD4-4E7D-9CB7-0EA9FB56EBD5}"/>
              </a:ext>
            </a:extLst>
          </p:cNvPr>
          <p:cNvSpPr txBox="1"/>
          <p:nvPr/>
        </p:nvSpPr>
        <p:spPr>
          <a:xfrm>
            <a:off x="2810031" y="4520802"/>
            <a:ext cx="337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④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79EA7A-1CD0-4CF1-85E7-41098AC36778}"/>
              </a:ext>
            </a:extLst>
          </p:cNvPr>
          <p:cNvSpPr txBox="1"/>
          <p:nvPr/>
        </p:nvSpPr>
        <p:spPr>
          <a:xfrm>
            <a:off x="73746" y="4283442"/>
            <a:ext cx="24618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 세력이 강한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헤이조코에서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벗어나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승려의 정치 개입을 막고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율령제를 다시 일으켜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 재정을 확보하기 위해서이다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37DD93-BB47-4402-96CB-02E1F623C539}"/>
              </a:ext>
            </a:extLst>
          </p:cNvPr>
          <p:cNvSpPr txBox="1"/>
          <p:nvPr/>
        </p:nvSpPr>
        <p:spPr>
          <a:xfrm>
            <a:off x="165158" y="3954347"/>
            <a:ext cx="1428750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Q.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왜 수도를 옮겼을까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3506A-1D6D-41B1-AE31-56E85342D5E3}"/>
              </a:ext>
            </a:extLst>
          </p:cNvPr>
          <p:cNvSpPr txBox="1"/>
          <p:nvPr/>
        </p:nvSpPr>
        <p:spPr>
          <a:xfrm>
            <a:off x="1593908" y="3945958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EC88D6-2AE2-4528-A3B3-C4F44590065A}"/>
              </a:ext>
            </a:extLst>
          </p:cNvPr>
          <p:cNvSpPr txBox="1"/>
          <p:nvPr/>
        </p:nvSpPr>
        <p:spPr>
          <a:xfrm>
            <a:off x="7632226" y="4366959"/>
            <a:ext cx="3864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문화의 영향이 줄면서 황궁을 중심으로 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귀족적인 취향의 일본 고유의 색깔을 띤 문화를 뜻한다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한자를 변형하여 만든 가나 문자가 국풍 문화의 대표적인 예이다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D9FC58-0B10-4708-B3DC-3119E1A0C40B}"/>
              </a:ext>
            </a:extLst>
          </p:cNvPr>
          <p:cNvSpPr txBox="1"/>
          <p:nvPr/>
        </p:nvSpPr>
        <p:spPr>
          <a:xfrm>
            <a:off x="7632226" y="5290112"/>
            <a:ext cx="3864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당에 대한 생각이 처음에는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선진문물을 받아들이고 배울 것이 많은 국가로 생각하다가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당의 세력이 기울자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당을 따르는 게 의미가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없다는 식으로 생각이 달라졌다는 것을 알 수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1E248F-1C7B-4FD0-A63F-486A33FED605}"/>
              </a:ext>
            </a:extLst>
          </p:cNvPr>
          <p:cNvSpPr txBox="1"/>
          <p:nvPr/>
        </p:nvSpPr>
        <p:spPr>
          <a:xfrm>
            <a:off x="7632226" y="6058464"/>
            <a:ext cx="3864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불교를 수용함으로써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백성의 사상을 하나로 통일할 수 있었고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율령을 반포함으로써 </a:t>
            </a:r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법을 바탕으로 국가를 운영하게 되었다</a:t>
            </a: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이로 인해 강력한 중앙 집권 체제 국가를 만들 수 있었다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C5AA1D-7801-4245-9CB9-DC0DA27E307D}"/>
              </a:ext>
            </a:extLst>
          </p:cNvPr>
          <p:cNvSpPr txBox="1"/>
          <p:nvPr/>
        </p:nvSpPr>
        <p:spPr>
          <a:xfrm>
            <a:off x="4681075" y="2644023"/>
            <a:ext cx="1149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국왕 체제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중앙 집권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2E8AB9-F75F-4BDF-B9D3-02A5D0EB429D}"/>
              </a:ext>
            </a:extLst>
          </p:cNvPr>
          <p:cNvSpPr txBox="1"/>
          <p:nvPr/>
        </p:nvSpPr>
        <p:spPr>
          <a:xfrm>
            <a:off x="3087167" y="2753080"/>
            <a:ext cx="1149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정부 개혁 정치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41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6154" r="51186" b="43461"/>
          <a:stretch/>
        </p:blipFill>
        <p:spPr>
          <a:xfrm>
            <a:off x="6714019" y="907534"/>
            <a:ext cx="4830052" cy="36858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9" t="12820" r="931" b="3205"/>
          <a:stretch/>
        </p:blipFill>
        <p:spPr>
          <a:xfrm>
            <a:off x="1306973" y="824561"/>
            <a:ext cx="5042396" cy="59832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무사들이 지배하다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79985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일본에서 무사 정권이 출현한 배경과 발전 과정을 살펴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29A0B4-BE0B-4A6D-A006-17E0722C9B3F}"/>
              </a:ext>
            </a:extLst>
          </p:cNvPr>
          <p:cNvSpPr txBox="1"/>
          <p:nvPr/>
        </p:nvSpPr>
        <p:spPr>
          <a:xfrm>
            <a:off x="4985173" y="859671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43~46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745F70-00B8-4FAF-BC4F-25AB59EFDDF6}"/>
              </a:ext>
            </a:extLst>
          </p:cNvPr>
          <p:cNvSpPr txBox="1"/>
          <p:nvPr/>
        </p:nvSpPr>
        <p:spPr>
          <a:xfrm>
            <a:off x="6560309" y="4888625"/>
            <a:ext cx="515911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쇼군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다이묘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사무라이는 모두 무사이다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중에서도 쇼군은 무사들의 우두머리이자 막부의 최고 책임자이다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우두머리가 되는 쇼군은 그 아래에 있는 다이묘에게 장원을 내려주고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다이묘는 쇼군에서 충성을 맹세했다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다이묘는 자기보다 아래 계급인 사무라이에게 자기의 땅을 나눠 주고 똑같은 충성을 요구했다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쇼군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다이묘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사무라이는 위계에 따라 군림하고 복종하는 관계였다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38C7BE-3ECE-453E-84D5-4F4DD697F4DE}"/>
              </a:ext>
            </a:extLst>
          </p:cNvPr>
          <p:cNvSpPr txBox="1"/>
          <p:nvPr/>
        </p:nvSpPr>
        <p:spPr>
          <a:xfrm>
            <a:off x="223720" y="1436532"/>
            <a:ext cx="1154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무사들이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집권하며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쇼군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통치하는 정치 체제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CB618-77E3-439A-A9A5-49C4D47652A4}"/>
              </a:ext>
            </a:extLst>
          </p:cNvPr>
          <p:cNvSpPr txBox="1"/>
          <p:nvPr/>
        </p:nvSpPr>
        <p:spPr>
          <a:xfrm>
            <a:off x="250616" y="1164177"/>
            <a:ext cx="958074" cy="261610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⑤  막부 시대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18A636-2371-45FB-A799-A01A43268F5A}"/>
              </a:ext>
            </a:extLst>
          </p:cNvPr>
          <p:cNvSpPr txBox="1"/>
          <p:nvPr/>
        </p:nvSpPr>
        <p:spPr>
          <a:xfrm>
            <a:off x="3651324" y="3381130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FD25C-8A5F-406E-B3DE-007E9734B5CA}"/>
              </a:ext>
            </a:extLst>
          </p:cNvPr>
          <p:cNvSpPr txBox="1"/>
          <p:nvPr/>
        </p:nvSpPr>
        <p:spPr>
          <a:xfrm>
            <a:off x="3349321" y="4157673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F607D5-0BCF-4353-9DC3-CEB5D4DABA99}"/>
              </a:ext>
            </a:extLst>
          </p:cNvPr>
          <p:cNvSpPr/>
          <p:nvPr/>
        </p:nvSpPr>
        <p:spPr>
          <a:xfrm>
            <a:off x="7216991" y="1854645"/>
            <a:ext cx="467325" cy="1838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C221F5-8672-4638-86FD-CDFA13B51F1F}"/>
              </a:ext>
            </a:extLst>
          </p:cNvPr>
          <p:cNvSpPr txBox="1"/>
          <p:nvPr/>
        </p:nvSpPr>
        <p:spPr>
          <a:xfrm>
            <a:off x="7450653" y="1618202"/>
            <a:ext cx="33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⑥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90FA842A-6878-402C-A29C-73CCAADE3519}"/>
              </a:ext>
            </a:extLst>
          </p:cNvPr>
          <p:cNvCxnSpPr>
            <a:cxnSpLocks/>
          </p:cNvCxnSpPr>
          <p:nvPr/>
        </p:nvCxnSpPr>
        <p:spPr>
          <a:xfrm>
            <a:off x="6154723" y="1402976"/>
            <a:ext cx="585202" cy="5432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F148CAF-FB5A-4F45-93DE-5697D1C3CFAC}"/>
              </a:ext>
            </a:extLst>
          </p:cNvPr>
          <p:cNvSpPr txBox="1"/>
          <p:nvPr/>
        </p:nvSpPr>
        <p:spPr>
          <a:xfrm>
            <a:off x="6401185" y="1390365"/>
            <a:ext cx="1060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가마쿠라 막부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무로마치 막부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D46B85C-3560-4883-A1AC-3CD517BA3DDA}"/>
              </a:ext>
            </a:extLst>
          </p:cNvPr>
          <p:cNvSpPr/>
          <p:nvPr/>
        </p:nvSpPr>
        <p:spPr>
          <a:xfrm>
            <a:off x="7065989" y="3406608"/>
            <a:ext cx="467325" cy="183880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13D308-2B30-46A1-9EF9-E14BDC262724}"/>
              </a:ext>
            </a:extLst>
          </p:cNvPr>
          <p:cNvSpPr txBox="1"/>
          <p:nvPr/>
        </p:nvSpPr>
        <p:spPr>
          <a:xfrm>
            <a:off x="6560309" y="5759868"/>
            <a:ext cx="515911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정권을 장악한 막부의 쇼군은 나라를 다스리는 실질적인 권력자였다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반면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천황은 유명무실한 존재로 나랏일에 관여할 수 없었다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시간이 지남에 따라 천황은 더욱 무력화되었고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허수아비 같은 존재가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E29FBF-4613-4B1D-A199-A2051441F075}"/>
              </a:ext>
            </a:extLst>
          </p:cNvPr>
          <p:cNvSpPr txBox="1"/>
          <p:nvPr/>
        </p:nvSpPr>
        <p:spPr>
          <a:xfrm>
            <a:off x="5474735" y="3791273"/>
            <a:ext cx="1591254" cy="215444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무사 우두머리</a:t>
            </a:r>
            <a:r>
              <a:rPr lang="en-US" altLang="ko-KR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막부 최고 책임자</a:t>
            </a:r>
            <a:r>
              <a:rPr lang="en-US" altLang="ko-KR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C05921-BFCB-459C-9509-428111CD77F4}"/>
              </a:ext>
            </a:extLst>
          </p:cNvPr>
          <p:cNvSpPr txBox="1"/>
          <p:nvPr/>
        </p:nvSpPr>
        <p:spPr>
          <a:xfrm>
            <a:off x="4414581" y="4427098"/>
            <a:ext cx="651160" cy="215444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상급 무사</a:t>
            </a:r>
            <a:r>
              <a:rPr lang="en-US" altLang="ko-KR"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EC8508-BD94-4381-A840-A50A71600062}"/>
              </a:ext>
            </a:extLst>
          </p:cNvPr>
          <p:cNvSpPr txBox="1"/>
          <p:nvPr/>
        </p:nvSpPr>
        <p:spPr>
          <a:xfrm>
            <a:off x="6404142" y="2159754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55~56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14C994-10F1-42DA-A273-6429F5DFCDB6}"/>
              </a:ext>
            </a:extLst>
          </p:cNvPr>
          <p:cNvSpPr txBox="1"/>
          <p:nvPr/>
        </p:nvSpPr>
        <p:spPr>
          <a:xfrm>
            <a:off x="8023217" y="2159754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58~59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60A30A-00E5-4934-8F21-0E9727DBBD67}"/>
              </a:ext>
            </a:extLst>
          </p:cNvPr>
          <p:cNvSpPr txBox="1"/>
          <p:nvPr/>
        </p:nvSpPr>
        <p:spPr>
          <a:xfrm>
            <a:off x="9784905" y="2159754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93C883-FBD0-4A1F-9599-98A2CB34C2BB}"/>
              </a:ext>
            </a:extLst>
          </p:cNvPr>
          <p:cNvSpPr txBox="1"/>
          <p:nvPr/>
        </p:nvSpPr>
        <p:spPr>
          <a:xfrm>
            <a:off x="6988340" y="3712800"/>
            <a:ext cx="1224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중앙집권 봉건국가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D22DC1-7CA2-4BCD-9FF5-26E672518B1D}"/>
              </a:ext>
            </a:extLst>
          </p:cNvPr>
          <p:cNvSpPr txBox="1"/>
          <p:nvPr/>
        </p:nvSpPr>
        <p:spPr>
          <a:xfrm>
            <a:off x="10083878" y="3880580"/>
            <a:ext cx="1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대륙 진출 계획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27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3" t="14231" r="836" b="7436"/>
          <a:stretch/>
        </p:blipFill>
        <p:spPr>
          <a:xfrm>
            <a:off x="5959595" y="970928"/>
            <a:ext cx="4882977" cy="54642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" t="57179" r="50653" b="5256"/>
          <a:stretch/>
        </p:blipFill>
        <p:spPr>
          <a:xfrm>
            <a:off x="660878" y="933981"/>
            <a:ext cx="5073813" cy="2778743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무사들이 지배하다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79985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일본 무사 정권의 특징을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8F74AB-9720-4334-8AFF-C1DFE4C46B33}"/>
              </a:ext>
            </a:extLst>
          </p:cNvPr>
          <p:cNvSpPr/>
          <p:nvPr/>
        </p:nvSpPr>
        <p:spPr>
          <a:xfrm>
            <a:off x="1080670" y="1205709"/>
            <a:ext cx="433769" cy="1642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A5E64-8E1F-442C-BDAA-CCC441854FDD}"/>
              </a:ext>
            </a:extLst>
          </p:cNvPr>
          <p:cNvSpPr txBox="1"/>
          <p:nvPr/>
        </p:nvSpPr>
        <p:spPr>
          <a:xfrm>
            <a:off x="709479" y="1047223"/>
            <a:ext cx="337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⑦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5D84D-6AFA-4278-ADCD-5885E8F2191D}"/>
              </a:ext>
            </a:extLst>
          </p:cNvPr>
          <p:cNvSpPr txBox="1"/>
          <p:nvPr/>
        </p:nvSpPr>
        <p:spPr>
          <a:xfrm>
            <a:off x="4433188" y="1308833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67~68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ED989-BED9-4A63-9692-961BC95A8561}"/>
              </a:ext>
            </a:extLst>
          </p:cNvPr>
          <p:cNvSpPr txBox="1"/>
          <p:nvPr/>
        </p:nvSpPr>
        <p:spPr>
          <a:xfrm>
            <a:off x="653110" y="3872399"/>
            <a:ext cx="515911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무로마치 막부 말기의 혼란은 전국 다이묘들의 힘겨루기 장으로 이어져 그 혼란이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년간의 전국 시대로 이어졌다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에도 막부에서는 다이묘들이 가지고 있는 군사력과 경제력을 약화시키기 위하여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막번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산킨코타이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후신야쿠와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같은 제도를 도입하였다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697F63-CA6B-43AB-A67E-2EB07760E029}"/>
              </a:ext>
            </a:extLst>
          </p:cNvPr>
          <p:cNvSpPr txBox="1"/>
          <p:nvPr/>
        </p:nvSpPr>
        <p:spPr>
          <a:xfrm>
            <a:off x="690385" y="5264089"/>
            <a:ext cx="5048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백성들에게 세금을 잘 거둬들이며 재정이 풍요로워졌다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농민들의 토지 매매를 금지시키고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토지의 분할 상속을 엄격히 제한하는 법을 시행했고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백성들의 세세한 생활까지 규칙으로 정하면서 간섭했다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막부 초기의 강력한 무단 통치가 흔들리면서 유교를 받아들였고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농업을 기반으로 하는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농본주의의 체제가 상업 자본주의로 발전하게 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C5FCB3-AF92-41AB-AD27-C58D6C22BFCE}"/>
              </a:ext>
            </a:extLst>
          </p:cNvPr>
          <p:cNvSpPr txBox="1"/>
          <p:nvPr/>
        </p:nvSpPr>
        <p:spPr>
          <a:xfrm>
            <a:off x="690386" y="4974247"/>
            <a:ext cx="4141674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Q.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막번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산킨코타이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후신야쿠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제도를 도입한 결과 막부는 어떻게 되었나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D7141-CA34-4377-AB72-179F2E733684}"/>
              </a:ext>
            </a:extLst>
          </p:cNvPr>
          <p:cNvSpPr txBox="1"/>
          <p:nvPr/>
        </p:nvSpPr>
        <p:spPr>
          <a:xfrm>
            <a:off x="4212202" y="4696808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68~69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786E6A6-B6D8-400D-96ED-F42AF15F7865}"/>
              </a:ext>
            </a:extLst>
          </p:cNvPr>
          <p:cNvGrpSpPr/>
          <p:nvPr/>
        </p:nvGrpSpPr>
        <p:grpSpPr>
          <a:xfrm>
            <a:off x="4896032" y="1205710"/>
            <a:ext cx="2605837" cy="3905543"/>
            <a:chOff x="4896032" y="1323156"/>
            <a:chExt cx="2605837" cy="3905543"/>
          </a:xfrm>
        </p:grpSpPr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BA28FBFB-3AF2-4F4E-B9ED-947E88741FB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67323" y="2591797"/>
              <a:ext cx="3903188" cy="1365905"/>
            </a:xfrm>
            <a:prstGeom prst="bentConnector3">
              <a:avLst>
                <a:gd name="adj1" fmla="val 103732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AE446D5-B057-4AEC-BEA3-4217B9216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6032" y="5228699"/>
              <a:ext cx="123993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6C20FCF-F2FE-46E5-9EA9-9E3BBEC3A1F7}"/>
              </a:ext>
            </a:extLst>
          </p:cNvPr>
          <p:cNvSpPr txBox="1"/>
          <p:nvPr/>
        </p:nvSpPr>
        <p:spPr>
          <a:xfrm>
            <a:off x="7518648" y="923045"/>
            <a:ext cx="448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에도 시대 때의 경제적 번영으로 성장한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상인과 수공업 계층인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중심으로 발달한 문화로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상인이 만들어서 현실적인 성격에 화려하고 세련되기도 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361261-8C48-4484-B88C-493E9E34E68C}"/>
              </a:ext>
            </a:extLst>
          </p:cNvPr>
          <p:cNvSpPr txBox="1"/>
          <p:nvPr/>
        </p:nvSpPr>
        <p:spPr>
          <a:xfrm>
            <a:off x="10793895" y="1274588"/>
            <a:ext cx="139419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년에 한 번씩 다이묘들이 에도로 올라올 때마다 움직이는 가신과 호위병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시종들은 엄청난 인원이었고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많은 사람이 한 번에 움직이다 보니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도로와 교통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숙소 등이 필요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자연스럽게 도로와 교통망이 정비되고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에도로 가는 길목마다 여관과 식당들이 들어서게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중앙과 지방 사이의 교류도 활발해졌다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949B9D-D61D-4B94-8CC9-088299819AC0}"/>
              </a:ext>
            </a:extLst>
          </p:cNvPr>
          <p:cNvSpPr txBox="1"/>
          <p:nvPr/>
        </p:nvSpPr>
        <p:spPr>
          <a:xfrm>
            <a:off x="7862597" y="1412192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73~74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1437B9-AB6B-415F-9A45-F5ABDEDFF6E7}"/>
              </a:ext>
            </a:extLst>
          </p:cNvPr>
          <p:cNvSpPr txBox="1"/>
          <p:nvPr/>
        </p:nvSpPr>
        <p:spPr>
          <a:xfrm>
            <a:off x="9955452" y="1532240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71~72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234E0A-CE8A-4850-8347-688E156B10D2}"/>
              </a:ext>
            </a:extLst>
          </p:cNvPr>
          <p:cNvSpPr txBox="1"/>
          <p:nvPr/>
        </p:nvSpPr>
        <p:spPr>
          <a:xfrm>
            <a:off x="6371162" y="3620738"/>
            <a:ext cx="8955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3F73B7-5F81-45E0-9B54-36AF21DE3310}"/>
              </a:ext>
            </a:extLst>
          </p:cNvPr>
          <p:cNvSpPr txBox="1"/>
          <p:nvPr/>
        </p:nvSpPr>
        <p:spPr>
          <a:xfrm>
            <a:off x="6753117" y="3797044"/>
            <a:ext cx="201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채색 목판화 그림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연기가 어우러진 연극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5F6EE-F846-42C9-8E0B-1409038011B3}"/>
              </a:ext>
            </a:extLst>
          </p:cNvPr>
          <p:cNvSpPr txBox="1"/>
          <p:nvPr/>
        </p:nvSpPr>
        <p:spPr>
          <a:xfrm>
            <a:off x="6135964" y="6190285"/>
            <a:ext cx="297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조선 통신사를 통해 성리학이 전해졌고 이 영향으로 일본에서는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더욱 엄격한 신분 질서가 자리 잡게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631859-90DF-49B8-8884-A1F82BA4DC60}"/>
              </a:ext>
            </a:extLst>
          </p:cNvPr>
          <p:cNvSpPr txBox="1"/>
          <p:nvPr/>
        </p:nvSpPr>
        <p:spPr>
          <a:xfrm>
            <a:off x="10769343" y="4713326"/>
            <a:ext cx="139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선교에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관심없는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네덜란드와 교류하면서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난학이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발달하고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 여 권의 책이 들어와 번역되었다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난학의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발전은 의학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천문학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지리학 등이 크게 발전하여 훗날 일본이 근대화를 받아들이고 준비하는 데 커다란 도움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주었다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3B7C6A0-99A4-40AF-83F3-72BFC0A664F5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5812221" y="6390340"/>
            <a:ext cx="323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E82C9ED-7D27-40EB-8CAE-66BBC5270171}"/>
              </a:ext>
            </a:extLst>
          </p:cNvPr>
          <p:cNvSpPr txBox="1"/>
          <p:nvPr/>
        </p:nvSpPr>
        <p:spPr>
          <a:xfrm>
            <a:off x="4309455" y="6274540"/>
            <a:ext cx="1459685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260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이상의 에도시대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C062C6-56DB-42EB-9C93-1B46898AD88E}"/>
              </a:ext>
            </a:extLst>
          </p:cNvPr>
          <p:cNvGrpSpPr/>
          <p:nvPr/>
        </p:nvGrpSpPr>
        <p:grpSpPr>
          <a:xfrm>
            <a:off x="369475" y="6183136"/>
            <a:ext cx="3939981" cy="404881"/>
            <a:chOff x="369475" y="6183136"/>
            <a:chExt cx="3939981" cy="40488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996BCAA-F14A-4B27-98EF-27B3045E1213}"/>
                </a:ext>
              </a:extLst>
            </p:cNvPr>
            <p:cNvSpPr txBox="1"/>
            <p:nvPr/>
          </p:nvSpPr>
          <p:spPr>
            <a:xfrm>
              <a:off x="2648575" y="6187907"/>
              <a:ext cx="16608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←  강력한 통치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경제 번영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r"/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학문과 문화 발달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B42217A-F3DC-4FAE-913F-38FC310B2F8A}"/>
                </a:ext>
              </a:extLst>
            </p:cNvPr>
            <p:cNvSpPr txBox="1"/>
            <p:nvPr/>
          </p:nvSpPr>
          <p:spPr>
            <a:xfrm>
              <a:off x="806685" y="6187907"/>
              <a:ext cx="20766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←  쇄국 정책으로 경제적 문제 발생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r"/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농민 봉기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182BB9-22ED-46C1-AAC9-3AC243EFA25E}"/>
                </a:ext>
              </a:extLst>
            </p:cNvPr>
            <p:cNvSpPr txBox="1"/>
            <p:nvPr/>
          </p:nvSpPr>
          <p:spPr>
            <a:xfrm>
              <a:off x="369475" y="6183136"/>
              <a:ext cx="5822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근대화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E1F4A09-FA5E-4F4B-9281-9CE9B3DA809F}"/>
              </a:ext>
            </a:extLst>
          </p:cNvPr>
          <p:cNvSpPr txBox="1"/>
          <p:nvPr/>
        </p:nvSpPr>
        <p:spPr>
          <a:xfrm>
            <a:off x="7135737" y="5977944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76~77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CC17F5-F69B-43A9-90CE-449A74FAFEDF}"/>
              </a:ext>
            </a:extLst>
          </p:cNvPr>
          <p:cNvSpPr txBox="1"/>
          <p:nvPr/>
        </p:nvSpPr>
        <p:spPr>
          <a:xfrm>
            <a:off x="9098761" y="6263170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76~78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40" grpId="0"/>
      <p:bldP spid="41" grpId="0"/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" t="9253" r="1050" b="1765"/>
          <a:stretch/>
        </p:blipFill>
        <p:spPr>
          <a:xfrm>
            <a:off x="1547394" y="597877"/>
            <a:ext cx="9816632" cy="61517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동아시아 역사의 한 축을 담당하다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7" y="551491"/>
            <a:ext cx="674783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지리적으로 가까운 일본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한국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중국이 서로 영향을 주고받은 역사적 사실을 탐구해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6D63F-3D12-4FCA-BF97-3B0291F604F4}"/>
              </a:ext>
            </a:extLst>
          </p:cNvPr>
          <p:cNvSpPr txBox="1"/>
          <p:nvPr/>
        </p:nvSpPr>
        <p:spPr>
          <a:xfrm>
            <a:off x="1103422" y="1092168"/>
            <a:ext cx="515911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일본이 한반도의 삼국과 중국의 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당과의 교류를 통하여 발전했다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문화재 형성에 삼국의 기여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지역적으로 가까우면 비슷한 문화를 공유하고 영향을 받게 된다는 사실을 알 수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동아시아 국가들이 불교를 믿었었다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일본이 삼국 문화를 수용한 것으로 보아 삼국의 문화가 선진 문화였다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2865F-D639-4307-929A-086E852602C3}"/>
              </a:ext>
            </a:extLst>
          </p:cNvPr>
          <p:cNvSpPr txBox="1"/>
          <p:nvPr/>
        </p:nvSpPr>
        <p:spPr>
          <a:xfrm>
            <a:off x="6746549" y="538170"/>
            <a:ext cx="515911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일본이 일으킨 전쟁 때문에 동아시아 세계에 다양한 변화가 생겼다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나라가 일으킨 특정 사건이 다른 주변 지역에 여러 영향을 미친다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3E2396-9E88-491E-BA5E-A801420F2AD5}"/>
              </a:ext>
            </a:extLst>
          </p:cNvPr>
          <p:cNvSpPr txBox="1"/>
          <p:nvPr/>
        </p:nvSpPr>
        <p:spPr>
          <a:xfrm>
            <a:off x="6460653" y="1484854"/>
            <a:ext cx="699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1278B2-FEE4-4AD2-BD01-C661325CE37E}"/>
              </a:ext>
            </a:extLst>
          </p:cNvPr>
          <p:cNvSpPr txBox="1"/>
          <p:nvPr/>
        </p:nvSpPr>
        <p:spPr>
          <a:xfrm>
            <a:off x="6460653" y="3523379"/>
            <a:ext cx="699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688B4-AD1F-47A0-9A5F-12CCD2DEA0F0}"/>
              </a:ext>
            </a:extLst>
          </p:cNvPr>
          <p:cNvSpPr txBox="1"/>
          <p:nvPr/>
        </p:nvSpPr>
        <p:spPr>
          <a:xfrm>
            <a:off x="10340964" y="3893288"/>
            <a:ext cx="699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A63699-853C-46B3-9EC1-DF73A1226440}"/>
              </a:ext>
            </a:extLst>
          </p:cNvPr>
          <p:cNvSpPr txBox="1"/>
          <p:nvPr/>
        </p:nvSpPr>
        <p:spPr>
          <a:xfrm>
            <a:off x="9534545" y="4337283"/>
            <a:ext cx="938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60/102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2A4034-40A5-4344-B3F5-678C57E610FF}"/>
              </a:ext>
            </a:extLst>
          </p:cNvPr>
          <p:cNvSpPr txBox="1"/>
          <p:nvPr/>
        </p:nvSpPr>
        <p:spPr>
          <a:xfrm>
            <a:off x="6856892" y="1653590"/>
            <a:ext cx="250522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전국  시대를 통일한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도요토미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히데요시는 명을 지나 인도까지 진출하여 천하를 움켜쥐겠다는 꿈을 꾸었다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명과 교역을 원하는 상인들이 많았기에 명과 무역을 늘려 세금을 많이 걷고자 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한편 나라의 안정을 찾았지만 언제 있을지 모를 반란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내전을 걱정하며 무사들의 눈을 밖으로 돌리기 위해 명으로 가는 길목인 조선을 쳐들어 왔다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72651-E95D-4AF8-B9FF-FC0AD8DB60F5}"/>
              </a:ext>
            </a:extLst>
          </p:cNvPr>
          <p:cNvSpPr txBox="1"/>
          <p:nvPr/>
        </p:nvSpPr>
        <p:spPr>
          <a:xfrm>
            <a:off x="6705889" y="3541113"/>
            <a:ext cx="274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     많은 사람이 희생되고 농지가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황폐화 되었으며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문화재가 불타는 등 피해가 가장 컸다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69C88-5855-49B5-963F-A24F53075D2A}"/>
              </a:ext>
            </a:extLst>
          </p:cNvPr>
          <p:cNvSpPr txBox="1"/>
          <p:nvPr/>
        </p:nvSpPr>
        <p:spPr>
          <a:xfrm>
            <a:off x="8185859" y="3839324"/>
            <a:ext cx="21868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도쿠가와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이에야스가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에도 막부를 열었다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7FBCB5-3237-4C59-B80A-A3129854E1A7}"/>
              </a:ext>
            </a:extLst>
          </p:cNvPr>
          <p:cNvSpPr txBox="1"/>
          <p:nvPr/>
        </p:nvSpPr>
        <p:spPr>
          <a:xfrm>
            <a:off x="6789777" y="4354440"/>
            <a:ext cx="279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전쟁에 쏟아 부은 엄청난 지출을 감당하기 어려웠다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농민들은 반란을 일으켰고 결국 멸망했다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3" t="13718" r="2936" b="1410"/>
          <a:stretch/>
        </p:blipFill>
        <p:spPr>
          <a:xfrm>
            <a:off x="546176" y="1009672"/>
            <a:ext cx="4659923" cy="58205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t="3271" r="2173" b="2113"/>
          <a:stretch/>
        </p:blipFill>
        <p:spPr>
          <a:xfrm>
            <a:off x="6029188" y="562031"/>
            <a:ext cx="4635881" cy="62432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나의 하루 기록하기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일본인의 입장에서 오늘 하루 겪은 일을 담아 일기를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18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940AB53B-E83D-48F4-9073-D9145A6A16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97" t="18349" r="27683" b="25382"/>
          <a:stretch/>
        </p:blipFill>
        <p:spPr>
          <a:xfrm>
            <a:off x="131946" y="1591920"/>
            <a:ext cx="5883429" cy="40820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06ACF4-6D82-4F1A-958E-C0F1D2D55C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04" t="25893" r="27683" b="19377"/>
          <a:stretch/>
        </p:blipFill>
        <p:spPr>
          <a:xfrm>
            <a:off x="6084441" y="1733344"/>
            <a:ext cx="5952495" cy="40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6AD1F5C-E792-437D-BE94-43249C1128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92" t="17982" r="28096" b="25138"/>
          <a:stretch/>
        </p:blipFill>
        <p:spPr>
          <a:xfrm>
            <a:off x="155064" y="1570761"/>
            <a:ext cx="5958211" cy="41978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C6A2CC-5781-4CB4-83DC-695856E3CF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66" t="26911" r="27959" b="20000"/>
          <a:stretch/>
        </p:blipFill>
        <p:spPr>
          <a:xfrm>
            <a:off x="6113275" y="1985701"/>
            <a:ext cx="5958210" cy="392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1042</Words>
  <Application>Microsoft Office PowerPoint</Application>
  <PresentationFormat>와이드스크린</PresentationFormat>
  <Paragraphs>120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103</cp:revision>
  <dcterms:created xsi:type="dcterms:W3CDTF">2021-05-21T01:10:02Z</dcterms:created>
  <dcterms:modified xsi:type="dcterms:W3CDTF">2024-10-10T05:05:13Z</dcterms:modified>
</cp:coreProperties>
</file>