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88" r:id="rId6"/>
    <p:sldId id="281" r:id="rId7"/>
    <p:sldId id="292" r:id="rId8"/>
    <p:sldId id="294" r:id="rId9"/>
    <p:sldId id="285" r:id="rId10"/>
    <p:sldId id="29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C00A03-B5FA-408D-AF50-B21A2CBB92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96" t="21591" r="22757" b="55793"/>
          <a:stretch/>
        </p:blipFill>
        <p:spPr>
          <a:xfrm>
            <a:off x="595156" y="429476"/>
            <a:ext cx="2572284" cy="15510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756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 지역과 유럽에서 성장한 각 제국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종교가 당시 사회에 미친 영향을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1CC1026-1DB0-4934-ACA0-DA240B443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2" t="59240" r="12314" b="4376"/>
          <a:stretch/>
        </p:blipFill>
        <p:spPr>
          <a:xfrm>
            <a:off x="4086677" y="3334849"/>
            <a:ext cx="4268758" cy="30155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A74592-FCA8-4CAF-8BB4-E6CBA0A5AAE1}"/>
              </a:ext>
            </a:extLst>
          </p:cNvPr>
          <p:cNvSpPr txBox="1"/>
          <p:nvPr/>
        </p:nvSpPr>
        <p:spPr>
          <a:xfrm>
            <a:off x="7618147" y="3349195"/>
            <a:ext cx="855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16</a:t>
            </a:r>
            <a:endParaRPr lang="ko-KR" altLang="en-US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CB3AD-2551-4260-8CB8-71A8A6D3220A}"/>
              </a:ext>
            </a:extLst>
          </p:cNvPr>
          <p:cNvSpPr txBox="1"/>
          <p:nvPr/>
        </p:nvSpPr>
        <p:spPr>
          <a:xfrm>
            <a:off x="4095066" y="4218724"/>
            <a:ext cx="2009324" cy="2616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유럽에서의 이슬람교 번영 상징</a:t>
            </a:r>
          </a:p>
        </p:txBody>
      </p:sp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통일 제국 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지중해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369579BA-AC12-4265-B255-BB0444AF3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40" t="18593" r="27546" b="17064"/>
          <a:stretch/>
        </p:blipFill>
        <p:spPr>
          <a:xfrm>
            <a:off x="9331" y="1433776"/>
            <a:ext cx="5829406" cy="4535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46A8B3F-53CB-40CF-9CED-BD214A81F8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16" t="32539" r="27752" b="15963"/>
          <a:stretch/>
        </p:blipFill>
        <p:spPr>
          <a:xfrm>
            <a:off x="5838737" y="2031415"/>
            <a:ext cx="6258188" cy="393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371688" y="1"/>
            <a:ext cx="9960803" cy="6851339"/>
            <a:chOff x="548639" y="-27120"/>
            <a:chExt cx="9730037" cy="669261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" t="14182" r="50420" b="3100"/>
            <a:stretch/>
          </p:blipFill>
          <p:spPr>
            <a:xfrm>
              <a:off x="548639" y="992711"/>
              <a:ext cx="4876801" cy="567278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27" t="1634" r="975" b="4043"/>
            <a:stretch/>
          </p:blipFill>
          <p:spPr>
            <a:xfrm>
              <a:off x="5398930" y="-27120"/>
              <a:ext cx="4879746" cy="6682452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57749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78EAD8F-6265-4EFA-82F9-B6802AB21BB3}"/>
              </a:ext>
            </a:extLst>
          </p:cNvPr>
          <p:cNvSpPr/>
          <p:nvPr/>
        </p:nvSpPr>
        <p:spPr>
          <a:xfrm>
            <a:off x="1731765" y="4377642"/>
            <a:ext cx="591985" cy="2757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17A070-6590-4C1A-9E52-969795E75F03}"/>
              </a:ext>
            </a:extLst>
          </p:cNvPr>
          <p:cNvSpPr txBox="1"/>
          <p:nvPr/>
        </p:nvSpPr>
        <p:spPr>
          <a:xfrm>
            <a:off x="-1178" y="3836592"/>
            <a:ext cx="1640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아시리아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EE099-27A8-4B79-B8D2-9726ED984930}"/>
              </a:ext>
            </a:extLst>
          </p:cNvPr>
          <p:cNvSpPr txBox="1"/>
          <p:nvPr/>
        </p:nvSpPr>
        <p:spPr>
          <a:xfrm>
            <a:off x="1640664" y="3257432"/>
            <a:ext cx="168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이슬람제국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CAC95-0840-4CF3-A7E4-669B6B5D11C7}"/>
              </a:ext>
            </a:extLst>
          </p:cNvPr>
          <p:cNvSpPr txBox="1"/>
          <p:nvPr/>
        </p:nvSpPr>
        <p:spPr>
          <a:xfrm>
            <a:off x="1640664" y="1307590"/>
            <a:ext cx="148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16D62-697E-4A2E-BD85-DDFB457E05CB}"/>
              </a:ext>
            </a:extLst>
          </p:cNvPr>
          <p:cNvSpPr txBox="1"/>
          <p:nvPr/>
        </p:nvSpPr>
        <p:spPr>
          <a:xfrm>
            <a:off x="1538025" y="5323205"/>
            <a:ext cx="1823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</a:t>
            </a:r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동로마</a:t>
            </a:r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80F4B0-0529-4C16-9E9E-9B5DB689C724}"/>
              </a:ext>
            </a:extLst>
          </p:cNvPr>
          <p:cNvSpPr txBox="1"/>
          <p:nvPr/>
        </p:nvSpPr>
        <p:spPr>
          <a:xfrm>
            <a:off x="1605941" y="4682356"/>
            <a:ext cx="2702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서아시아에 정치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문화적으로 절대적 영향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 문화권 형성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ECEB96-E0F4-4F77-A680-EE1B0C5674F7}"/>
              </a:ext>
            </a:extLst>
          </p:cNvPr>
          <p:cNvSpPr txBox="1"/>
          <p:nvPr/>
        </p:nvSpPr>
        <p:spPr>
          <a:xfrm>
            <a:off x="4478544" y="4505841"/>
            <a:ext cx="806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바그다드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0FB93F0-6E57-4A52-9A1C-1988CA17FF84}"/>
              </a:ext>
            </a:extLst>
          </p:cNvPr>
          <p:cNvSpPr/>
          <p:nvPr/>
        </p:nvSpPr>
        <p:spPr>
          <a:xfrm>
            <a:off x="5369339" y="4376597"/>
            <a:ext cx="592118" cy="424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23602D-86EE-4439-BB81-7A05BA260B03}"/>
              </a:ext>
            </a:extLst>
          </p:cNvPr>
          <p:cNvSpPr txBox="1"/>
          <p:nvPr/>
        </p:nvSpPr>
        <p:spPr>
          <a:xfrm>
            <a:off x="6500793" y="5959941"/>
            <a:ext cx="2669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셀주크튀르크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비잔티움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예루살렘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성지 장악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3E336-29FE-4F88-A854-A011CDD25299}"/>
              </a:ext>
            </a:extLst>
          </p:cNvPr>
          <p:cNvSpPr txBox="1"/>
          <p:nvPr/>
        </p:nvSpPr>
        <p:spPr>
          <a:xfrm>
            <a:off x="6260325" y="5913697"/>
            <a:ext cx="45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582F4D7-E7CA-4087-A31F-5DEC49C28186}"/>
              </a:ext>
            </a:extLst>
          </p:cNvPr>
          <p:cNvCxnSpPr>
            <a:cxnSpLocks/>
          </p:cNvCxnSpPr>
          <p:nvPr/>
        </p:nvCxnSpPr>
        <p:spPr>
          <a:xfrm>
            <a:off x="1636795" y="2786298"/>
            <a:ext cx="603066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CCDB92F-FFC9-4802-BCD1-3F566764F394}"/>
              </a:ext>
            </a:extLst>
          </p:cNvPr>
          <p:cNvSpPr txBox="1"/>
          <p:nvPr/>
        </p:nvSpPr>
        <p:spPr>
          <a:xfrm>
            <a:off x="1584343" y="2825615"/>
            <a:ext cx="981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4C,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시작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3EB4B3-0857-4AC4-93A5-A74DCCC0BB52}"/>
              </a:ext>
            </a:extLst>
          </p:cNvPr>
          <p:cNvSpPr txBox="1"/>
          <p:nvPr/>
        </p:nvSpPr>
        <p:spPr>
          <a:xfrm>
            <a:off x="15599" y="1655454"/>
            <a:ext cx="2232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문명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FC9D67C-8770-43B4-9AD7-927EE628F131}"/>
              </a:ext>
            </a:extLst>
          </p:cNvPr>
          <p:cNvCxnSpPr>
            <a:cxnSpLocks/>
          </p:cNvCxnSpPr>
          <p:nvPr/>
        </p:nvCxnSpPr>
        <p:spPr>
          <a:xfrm>
            <a:off x="3024605" y="2443154"/>
            <a:ext cx="603066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F6ECD4C-5A63-4CE0-A88E-530459A01AD3}"/>
              </a:ext>
            </a:extLst>
          </p:cNvPr>
          <p:cNvCxnSpPr>
            <a:cxnSpLocks/>
          </p:cNvCxnSpPr>
          <p:nvPr/>
        </p:nvCxnSpPr>
        <p:spPr>
          <a:xfrm flipV="1">
            <a:off x="3993160" y="2142706"/>
            <a:ext cx="333282" cy="2978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BA2B3AE-3BC6-44CE-BB2A-A3EB70C4238C}"/>
              </a:ext>
            </a:extLst>
          </p:cNvPr>
          <p:cNvSpPr txBox="1"/>
          <p:nvPr/>
        </p:nvSpPr>
        <p:spPr>
          <a:xfrm>
            <a:off x="4288322" y="2014957"/>
            <a:ext cx="675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전성기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C4F2B4-0A87-4082-AEFF-23920C36ED24}"/>
              </a:ext>
            </a:extLst>
          </p:cNvPr>
          <p:cNvSpPr txBox="1"/>
          <p:nvPr/>
        </p:nvSpPr>
        <p:spPr>
          <a:xfrm>
            <a:off x="5193433" y="1838731"/>
            <a:ext cx="12331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베르됭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메르센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조약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EC8AF4-D2D2-41B3-9250-3B609E12BB80}"/>
              </a:ext>
            </a:extLst>
          </p:cNvPr>
          <p:cNvSpPr/>
          <p:nvPr/>
        </p:nvSpPr>
        <p:spPr>
          <a:xfrm>
            <a:off x="5272851" y="2821747"/>
            <a:ext cx="591985" cy="2192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3BC0D64-40F1-455B-8AA2-9A1A1ECBED52}"/>
              </a:ext>
            </a:extLst>
          </p:cNvPr>
          <p:cNvSpPr/>
          <p:nvPr/>
        </p:nvSpPr>
        <p:spPr>
          <a:xfrm>
            <a:off x="3656625" y="2441794"/>
            <a:ext cx="603066" cy="225669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9B6AD3-C81C-4069-8102-B2356D7C4B50}"/>
              </a:ext>
            </a:extLst>
          </p:cNvPr>
          <p:cNvSpPr txBox="1"/>
          <p:nvPr/>
        </p:nvSpPr>
        <p:spPr>
          <a:xfrm>
            <a:off x="6308499" y="3170034"/>
            <a:ext cx="11849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신성로마제국 황제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</a:t>
            </a:r>
          </a:p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하인리히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5F2BA2-A80F-404E-957C-F76C26CE239D}"/>
              </a:ext>
            </a:extLst>
          </p:cNvPr>
          <p:cNvSpPr txBox="1"/>
          <p:nvPr/>
        </p:nvSpPr>
        <p:spPr>
          <a:xfrm>
            <a:off x="8186928" y="2808052"/>
            <a:ext cx="1358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십자군 전쟁의 결과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1A4AD2-8FAB-40A6-9D3C-37947A4D45D8}"/>
              </a:ext>
            </a:extLst>
          </p:cNvPr>
          <p:cNvSpPr txBox="1"/>
          <p:nvPr/>
        </p:nvSpPr>
        <p:spPr>
          <a:xfrm>
            <a:off x="1416562" y="6142306"/>
            <a:ext cx="1640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교황주의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DC169E-F08E-485D-B681-D18BB4ADCE0E}"/>
              </a:ext>
            </a:extLst>
          </p:cNvPr>
          <p:cNvSpPr txBox="1"/>
          <p:nvPr/>
        </p:nvSpPr>
        <p:spPr>
          <a:xfrm>
            <a:off x="6529776" y="2634077"/>
            <a:ext cx="1184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교황권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197E583-0A0E-4345-886C-8CCE77C6C59A}"/>
              </a:ext>
            </a:extLst>
          </p:cNvPr>
          <p:cNvSpPr/>
          <p:nvPr/>
        </p:nvSpPr>
        <p:spPr>
          <a:xfrm>
            <a:off x="4186491" y="5846670"/>
            <a:ext cx="591985" cy="2192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CF84A22-BA5A-44F2-949A-1F6E719D31FC}"/>
              </a:ext>
            </a:extLst>
          </p:cNvPr>
          <p:cNvCxnSpPr>
            <a:cxnSpLocks/>
          </p:cNvCxnSpPr>
          <p:nvPr/>
        </p:nvCxnSpPr>
        <p:spPr>
          <a:xfrm>
            <a:off x="4770087" y="5970874"/>
            <a:ext cx="574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2B0B80E-CB3D-4072-A8CB-757B123A5286}"/>
              </a:ext>
            </a:extLst>
          </p:cNvPr>
          <p:cNvSpPr/>
          <p:nvPr/>
        </p:nvSpPr>
        <p:spPr>
          <a:xfrm>
            <a:off x="5369339" y="5846670"/>
            <a:ext cx="728901" cy="2192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F50ED6-8529-4560-9A51-78177696B31B}"/>
              </a:ext>
            </a:extLst>
          </p:cNvPr>
          <p:cNvSpPr txBox="1"/>
          <p:nvPr/>
        </p:nvSpPr>
        <p:spPr>
          <a:xfrm>
            <a:off x="7424354" y="5111718"/>
            <a:ext cx="45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E42CCB-0931-423B-B880-E094B037E446}"/>
              </a:ext>
            </a:extLst>
          </p:cNvPr>
          <p:cNvSpPr txBox="1"/>
          <p:nvPr/>
        </p:nvSpPr>
        <p:spPr>
          <a:xfrm>
            <a:off x="7693467" y="5168196"/>
            <a:ext cx="2090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황제 로마 교황 도움 요청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B2E9E1-915C-43C3-83B7-2D48A333A404}"/>
              </a:ext>
            </a:extLst>
          </p:cNvPr>
          <p:cNvSpPr txBox="1"/>
          <p:nvPr/>
        </p:nvSpPr>
        <p:spPr>
          <a:xfrm>
            <a:off x="6125598" y="3720256"/>
            <a:ext cx="45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EFEB0B-37B4-471B-8C37-EFE8B3C9AEB8}"/>
              </a:ext>
            </a:extLst>
          </p:cNvPr>
          <p:cNvSpPr txBox="1"/>
          <p:nvPr/>
        </p:nvSpPr>
        <p:spPr>
          <a:xfrm>
            <a:off x="6352766" y="3751567"/>
            <a:ext cx="1299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교황 </a:t>
            </a:r>
            <a:endParaRPr lang="en-US" altLang="ko-KR" sz="10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예루살렘으로 십자군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37BABF0-9123-4EBD-8A3C-9F122F336025}"/>
              </a:ext>
            </a:extLst>
          </p:cNvPr>
          <p:cNvCxnSpPr/>
          <p:nvPr/>
        </p:nvCxnSpPr>
        <p:spPr>
          <a:xfrm flipV="1">
            <a:off x="8107600" y="5422200"/>
            <a:ext cx="0" cy="394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FC28CAE-A388-4B5E-9EEF-F8FD17B4945E}"/>
              </a:ext>
            </a:extLst>
          </p:cNvPr>
          <p:cNvCxnSpPr>
            <a:cxnSpLocks/>
          </p:cNvCxnSpPr>
          <p:nvPr/>
        </p:nvCxnSpPr>
        <p:spPr>
          <a:xfrm flipH="1" flipV="1">
            <a:off x="7040543" y="4151678"/>
            <a:ext cx="1053446" cy="96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9318187-E66D-4DBF-9A0E-657F8ADA6958}"/>
              </a:ext>
            </a:extLst>
          </p:cNvPr>
          <p:cNvCxnSpPr/>
          <p:nvPr/>
        </p:nvCxnSpPr>
        <p:spPr>
          <a:xfrm>
            <a:off x="7197754" y="3831851"/>
            <a:ext cx="604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D023356-904B-4754-BAED-88D446AB507F}"/>
              </a:ext>
            </a:extLst>
          </p:cNvPr>
          <p:cNvSpPr txBox="1"/>
          <p:nvPr/>
        </p:nvSpPr>
        <p:spPr>
          <a:xfrm>
            <a:off x="7993531" y="590052"/>
            <a:ext cx="848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훈족의 침입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DB34267-BBA7-46A6-84BC-27DCEE6337CE}"/>
              </a:ext>
            </a:extLst>
          </p:cNvPr>
          <p:cNvSpPr txBox="1"/>
          <p:nvPr/>
        </p:nvSpPr>
        <p:spPr>
          <a:xfrm>
            <a:off x="6500793" y="609248"/>
            <a:ext cx="848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게르만족의 이동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A490C2F-8BBE-4263-BA26-64D26B3BBAEC}"/>
              </a:ext>
            </a:extLst>
          </p:cNvPr>
          <p:cNvCxnSpPr/>
          <p:nvPr/>
        </p:nvCxnSpPr>
        <p:spPr>
          <a:xfrm flipH="1">
            <a:off x="7553449" y="705379"/>
            <a:ext cx="440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BA08970-D497-4097-8E25-C4233FB7A29B}"/>
              </a:ext>
            </a:extLst>
          </p:cNvPr>
          <p:cNvSpPr txBox="1"/>
          <p:nvPr/>
        </p:nvSpPr>
        <p:spPr>
          <a:xfrm>
            <a:off x="8858394" y="182559"/>
            <a:ext cx="224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</a:t>
            </a:r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</a:t>
            </a:r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4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42D3CC-677B-4415-885C-7685B6D58D1D}"/>
              </a:ext>
            </a:extLst>
          </p:cNvPr>
          <p:cNvSpPr txBox="1"/>
          <p:nvPr/>
        </p:nvSpPr>
        <p:spPr>
          <a:xfrm>
            <a:off x="421748" y="5371777"/>
            <a:ext cx="108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서로마 멸망 후 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1000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 년 유지</a:t>
            </a: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" t="13291" r="1172" b="4635"/>
          <a:stretch/>
        </p:blipFill>
        <p:spPr>
          <a:xfrm>
            <a:off x="956946" y="772176"/>
            <a:ext cx="10559032" cy="60368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E597DE-D69C-43D8-9EBF-A0BDFDAE83F8}"/>
              </a:ext>
            </a:extLst>
          </p:cNvPr>
          <p:cNvSpPr txBox="1"/>
          <p:nvPr/>
        </p:nvSpPr>
        <p:spPr>
          <a:xfrm>
            <a:off x="1438423" y="3971266"/>
            <a:ext cx="4183337" cy="246221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놀라운 확장 능력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제국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386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이슬람교의 특징과 이슬람 제국의 확대 과정을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B04D4-0458-4765-A3EB-A02AA9E6F961}"/>
              </a:ext>
            </a:extLst>
          </p:cNvPr>
          <p:cNvSpPr txBox="1"/>
          <p:nvPr/>
        </p:nvSpPr>
        <p:spPr>
          <a:xfrm>
            <a:off x="1337173" y="1326942"/>
            <a:ext cx="9782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17.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오행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4A111-BEF9-451D-BC8C-9205727E98A6}"/>
              </a:ext>
            </a:extLst>
          </p:cNvPr>
          <p:cNvSpPr txBox="1"/>
          <p:nvPr/>
        </p:nvSpPr>
        <p:spPr>
          <a:xfrm>
            <a:off x="148043" y="1019960"/>
            <a:ext cx="855678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아시리아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D561A-9DF8-4F11-931A-295BC78A2259}"/>
              </a:ext>
            </a:extLst>
          </p:cNvPr>
          <p:cNvSpPr txBox="1"/>
          <p:nvPr/>
        </p:nvSpPr>
        <p:spPr>
          <a:xfrm>
            <a:off x="148043" y="1436292"/>
            <a:ext cx="8556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 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54D7A2-4246-4D48-9F47-D10A5BCB8387}"/>
              </a:ext>
            </a:extLst>
          </p:cNvPr>
          <p:cNvCxnSpPr>
            <a:cxnSpLocks/>
          </p:cNvCxnSpPr>
          <p:nvPr/>
        </p:nvCxnSpPr>
        <p:spPr>
          <a:xfrm>
            <a:off x="511728" y="1716069"/>
            <a:ext cx="0" cy="149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616CF6-B45A-463D-A62A-64EB0E4DEFCF}"/>
              </a:ext>
            </a:extLst>
          </p:cNvPr>
          <p:cNvSpPr txBox="1"/>
          <p:nvPr/>
        </p:nvSpPr>
        <p:spPr>
          <a:xfrm>
            <a:off x="468595" y="1709043"/>
            <a:ext cx="1208959" cy="5847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아케메네스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페르시아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다리우스 </a:t>
            </a:r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사산왕조 페르시아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A13EA5-17DB-4BAB-A26C-4948B29CBEC9}"/>
              </a:ext>
            </a:extLst>
          </p:cNvPr>
          <p:cNvSpPr txBox="1"/>
          <p:nvPr/>
        </p:nvSpPr>
        <p:spPr>
          <a:xfrm>
            <a:off x="2179378" y="2562443"/>
            <a:ext cx="3005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종교와 일상의 분리 없이 밀착되어 있으며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교리는 일상생활에서 지켜야 할 규율이다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8F475-E91B-40C1-BB81-BFE73CCF08C3}"/>
              </a:ext>
            </a:extLst>
          </p:cNvPr>
          <p:cNvSpPr txBox="1"/>
          <p:nvPr/>
        </p:nvSpPr>
        <p:spPr>
          <a:xfrm>
            <a:off x="148044" y="3274980"/>
            <a:ext cx="855672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제국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FB6D38-EA1E-4F7E-97C7-EB1B94F1BF76}"/>
              </a:ext>
            </a:extLst>
          </p:cNvPr>
          <p:cNvSpPr txBox="1"/>
          <p:nvPr/>
        </p:nvSpPr>
        <p:spPr>
          <a:xfrm>
            <a:off x="5049939" y="1442358"/>
            <a:ext cx="555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5B20E4-F185-4453-A2E4-04286E4D021A}"/>
              </a:ext>
            </a:extLst>
          </p:cNvPr>
          <p:cNvSpPr txBox="1"/>
          <p:nvPr/>
        </p:nvSpPr>
        <p:spPr>
          <a:xfrm>
            <a:off x="4318000" y="3219665"/>
            <a:ext cx="571390" cy="252934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B3C3B36-BBE5-41D8-9581-7FD77ED6C97A}"/>
              </a:ext>
            </a:extLst>
          </p:cNvPr>
          <p:cNvCxnSpPr/>
          <p:nvPr/>
        </p:nvCxnSpPr>
        <p:spPr>
          <a:xfrm>
            <a:off x="2357306" y="4085438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FFC3077-AADD-47AF-A811-248CC5197AFF}"/>
              </a:ext>
            </a:extLst>
          </p:cNvPr>
          <p:cNvCxnSpPr/>
          <p:nvPr/>
        </p:nvCxnSpPr>
        <p:spPr>
          <a:xfrm>
            <a:off x="3439486" y="4085438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7EF0E85-72D4-4471-B4D6-8A4AE42F78C3}"/>
              </a:ext>
            </a:extLst>
          </p:cNvPr>
          <p:cNvCxnSpPr/>
          <p:nvPr/>
        </p:nvCxnSpPr>
        <p:spPr>
          <a:xfrm>
            <a:off x="4496499" y="4085438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6A9DD0A-68D8-45AD-9147-DFE84F9CF906}"/>
              </a:ext>
            </a:extLst>
          </p:cNvPr>
          <p:cNvSpPr txBox="1"/>
          <p:nvPr/>
        </p:nvSpPr>
        <p:spPr>
          <a:xfrm>
            <a:off x="1413256" y="4716154"/>
            <a:ext cx="544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EC66BD-557E-4258-9DB9-1B8ED253C488}"/>
              </a:ext>
            </a:extLst>
          </p:cNvPr>
          <p:cNvSpPr txBox="1"/>
          <p:nvPr/>
        </p:nvSpPr>
        <p:spPr>
          <a:xfrm>
            <a:off x="5692330" y="4937351"/>
            <a:ext cx="544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E9F2955-5DCA-4326-8192-AED4E1042E24}"/>
              </a:ext>
            </a:extLst>
          </p:cNvPr>
          <p:cNvCxnSpPr>
            <a:cxnSpLocks/>
          </p:cNvCxnSpPr>
          <p:nvPr/>
        </p:nvCxnSpPr>
        <p:spPr>
          <a:xfrm>
            <a:off x="5679347" y="4085438"/>
            <a:ext cx="964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A621B21-F042-4A6A-A8DC-523D68C917A2}"/>
              </a:ext>
            </a:extLst>
          </p:cNvPr>
          <p:cNvSpPr txBox="1"/>
          <p:nvPr/>
        </p:nvSpPr>
        <p:spPr>
          <a:xfrm>
            <a:off x="9473270" y="4170754"/>
            <a:ext cx="350237" cy="246221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C1E5552-1CAE-43E7-9928-576EC008FD15}"/>
              </a:ext>
            </a:extLst>
          </p:cNvPr>
          <p:cNvCxnSpPr>
            <a:cxnSpLocks/>
          </p:cNvCxnSpPr>
          <p:nvPr/>
        </p:nvCxnSpPr>
        <p:spPr>
          <a:xfrm>
            <a:off x="6029588" y="6222556"/>
            <a:ext cx="511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AA44C79-2B05-46F0-A2BB-070BA8A42DDD}"/>
              </a:ext>
            </a:extLst>
          </p:cNvPr>
          <p:cNvSpPr txBox="1"/>
          <p:nvPr/>
        </p:nvSpPr>
        <p:spPr>
          <a:xfrm>
            <a:off x="1071097" y="5904465"/>
            <a:ext cx="54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강의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21D265-723D-45B3-A736-24C1AACF0861}"/>
              </a:ext>
            </a:extLst>
          </p:cNvPr>
          <p:cNvSpPr txBox="1"/>
          <p:nvPr/>
        </p:nvSpPr>
        <p:spPr>
          <a:xfrm>
            <a:off x="54528" y="5109612"/>
            <a:ext cx="22266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무함마드의 계승자를 말한다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지도자이자 정치적 지도자로서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공동체의 최고 권력자였다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B9F636-B1C0-4F7C-ABFC-2312A45228F5}"/>
              </a:ext>
            </a:extLst>
          </p:cNvPr>
          <p:cNvSpPr txBox="1"/>
          <p:nvPr/>
        </p:nvSpPr>
        <p:spPr>
          <a:xfrm>
            <a:off x="1518407" y="3707490"/>
            <a:ext cx="4019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관용 정책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         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아랍인 우월주의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   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민족 차별 폐지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94C0CE-FF0A-45C4-B152-B6593FA39EFE}"/>
              </a:ext>
            </a:extLst>
          </p:cNvPr>
          <p:cNvSpPr txBox="1"/>
          <p:nvPr/>
        </p:nvSpPr>
        <p:spPr>
          <a:xfrm>
            <a:off x="3630431" y="4892556"/>
            <a:ext cx="995233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동서무역 활발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비단길 장악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CC34E5-957C-489F-ABA3-234040F31686}"/>
              </a:ext>
            </a:extLst>
          </p:cNvPr>
          <p:cNvSpPr txBox="1"/>
          <p:nvPr/>
        </p:nvSpPr>
        <p:spPr>
          <a:xfrm>
            <a:off x="3087148" y="5370480"/>
            <a:ext cx="385054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칼리프는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종교적 권력과 정치적 권력을 함께 가졌다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반면 술탄의 지위가 생겨난 뒤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칼리프는 종교적 지도자의 역할만을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하게 되었고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술탄은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정치적 지배자의 위치를 차지하게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3350D50-F710-4723-88F7-05036508B41C}"/>
              </a:ext>
            </a:extLst>
          </p:cNvPr>
          <p:cNvCxnSpPr>
            <a:cxnSpLocks/>
          </p:cNvCxnSpPr>
          <p:nvPr/>
        </p:nvCxnSpPr>
        <p:spPr>
          <a:xfrm flipH="1">
            <a:off x="6161714" y="5201256"/>
            <a:ext cx="541091" cy="839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578E6AE-7518-458A-983E-38406FFD4E0A}"/>
              </a:ext>
            </a:extLst>
          </p:cNvPr>
          <p:cNvCxnSpPr/>
          <p:nvPr/>
        </p:nvCxnSpPr>
        <p:spPr>
          <a:xfrm>
            <a:off x="1044140" y="4094376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8926D04-FBF3-4A5E-B7AC-52850E51C281}"/>
              </a:ext>
            </a:extLst>
          </p:cNvPr>
          <p:cNvSpPr txBox="1"/>
          <p:nvPr/>
        </p:nvSpPr>
        <p:spPr>
          <a:xfrm>
            <a:off x="577641" y="4000420"/>
            <a:ext cx="556668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무함마드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12FD84-A565-4470-A606-617688C87624}"/>
              </a:ext>
            </a:extLst>
          </p:cNvPr>
          <p:cNvSpPr txBox="1"/>
          <p:nvPr/>
        </p:nvSpPr>
        <p:spPr>
          <a:xfrm>
            <a:off x="8204012" y="4798197"/>
            <a:ext cx="385054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바그다드는 세계의 시장이라 불릴 정도로 유럽과 지중해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아시아를 잇는 교역로의 중심지였다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바그다드는 이슬람 제국의 한가운데 자리 잡고 있어서 동서남북 어디로나 다 연결되어 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티그리스강과 유프라테스 강 사이에 위치하여 바닷길을 이용하기도 쉬웠다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277BDED-6F54-4153-8999-CD6E34FD21ED}"/>
              </a:ext>
            </a:extLst>
          </p:cNvPr>
          <p:cNvSpPr/>
          <p:nvPr/>
        </p:nvSpPr>
        <p:spPr>
          <a:xfrm>
            <a:off x="6246959" y="574893"/>
            <a:ext cx="5890512" cy="253744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4C5E7F-B809-4B0A-99B4-6BF87C9CD33A}"/>
              </a:ext>
            </a:extLst>
          </p:cNvPr>
          <p:cNvSpPr txBox="1"/>
          <p:nvPr/>
        </p:nvSpPr>
        <p:spPr>
          <a:xfrm>
            <a:off x="2062292" y="6250320"/>
            <a:ext cx="4942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개종을 강요하지 않았다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쉽고 단순한 이슬람 교리를 내세우며 세금 감면 같은 혜택을 제시했기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FB2BD2-0062-4C13-A044-A1BFC12DBE1A}"/>
              </a:ext>
            </a:extLst>
          </p:cNvPr>
          <p:cNvSpPr txBox="1"/>
          <p:nvPr/>
        </p:nvSpPr>
        <p:spPr>
          <a:xfrm>
            <a:off x="6976375" y="5904465"/>
            <a:ext cx="544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D61370FC-02A3-42FB-8CC7-FB4A76E1220E}"/>
              </a:ext>
            </a:extLst>
          </p:cNvPr>
          <p:cNvGrpSpPr/>
          <p:nvPr/>
        </p:nvGrpSpPr>
        <p:grpSpPr>
          <a:xfrm>
            <a:off x="7674165" y="5897934"/>
            <a:ext cx="4492668" cy="861774"/>
            <a:chOff x="7674165" y="5897934"/>
            <a:chExt cx="4492668" cy="86177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B643DF6-7E7C-4F0F-BCCA-C9AEE24D954E}"/>
                </a:ext>
              </a:extLst>
            </p:cNvPr>
            <p:cNvSpPr txBox="1"/>
            <p:nvPr/>
          </p:nvSpPr>
          <p:spPr>
            <a:xfrm>
              <a:off x="9231887" y="5897934"/>
              <a:ext cx="2934946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이슬람 상인은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중국에서는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비단과 도자기를 사 왔고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</a:t>
              </a:r>
            </a:p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인도에서는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향신료를 구입해 왔다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아프리카에서는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금과 상아를 가져왔다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이들은 이슬람교를 전 세계에 전파하고 아라비아 숫자를 완성시켰으며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중국의 종이 만드는 법과 나침반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화약을 유럽에 전파했다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852B26F-2CCA-433B-BE2A-A7003E43A92F}"/>
                </a:ext>
              </a:extLst>
            </p:cNvPr>
            <p:cNvSpPr txBox="1"/>
            <p:nvPr/>
          </p:nvSpPr>
          <p:spPr>
            <a:xfrm>
              <a:off x="7674165" y="6319570"/>
              <a:ext cx="1073790" cy="2616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33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동서무역 활발</a:t>
              </a:r>
              <a:endPara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AD43765-278C-4BD4-8B46-6E06C9C76C6C}"/>
              </a:ext>
            </a:extLst>
          </p:cNvPr>
          <p:cNvSpPr txBox="1"/>
          <p:nvPr/>
        </p:nvSpPr>
        <p:spPr>
          <a:xfrm>
            <a:off x="6398703" y="582176"/>
            <a:ext cx="2121352" cy="246221"/>
          </a:xfrm>
          <a:prstGeom prst="rect">
            <a:avLst/>
          </a:prstGeom>
          <a:solidFill>
            <a:srgbClr val="003300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대표 건축물 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사원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모스크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048BA0-A25C-4B7F-A036-4957A74398FC}"/>
              </a:ext>
            </a:extLst>
          </p:cNvPr>
          <p:cNvSpPr txBox="1"/>
          <p:nvPr/>
        </p:nvSpPr>
        <p:spPr>
          <a:xfrm>
            <a:off x="6481097" y="2413695"/>
            <a:ext cx="1459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예배당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집회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0048E0-B97C-400B-94E4-6A6E6AE2560C}"/>
              </a:ext>
            </a:extLst>
          </p:cNvPr>
          <p:cNvSpPr txBox="1"/>
          <p:nvPr/>
        </p:nvSpPr>
        <p:spPr>
          <a:xfrm>
            <a:off x="10696777" y="2244716"/>
            <a:ext cx="544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E2BC3B-147D-4D9A-87EE-380ADA60B586}"/>
              </a:ext>
            </a:extLst>
          </p:cNvPr>
          <p:cNvSpPr txBox="1"/>
          <p:nvPr/>
        </p:nvSpPr>
        <p:spPr>
          <a:xfrm>
            <a:off x="8747955" y="2707755"/>
            <a:ext cx="2769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우상 숭배를 금지하는 교리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C4E0214-CFA1-4061-86C2-E2126FFC8BAC}"/>
              </a:ext>
            </a:extLst>
          </p:cNvPr>
          <p:cNvCxnSpPr>
            <a:cxnSpLocks/>
          </p:cNvCxnSpPr>
          <p:nvPr/>
        </p:nvCxnSpPr>
        <p:spPr>
          <a:xfrm flipV="1">
            <a:off x="11156332" y="2870648"/>
            <a:ext cx="0" cy="1845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B4B00C9-AB8F-4037-A44B-6069ABA8398A}"/>
              </a:ext>
            </a:extLst>
          </p:cNvPr>
          <p:cNvSpPr txBox="1"/>
          <p:nvPr/>
        </p:nvSpPr>
        <p:spPr>
          <a:xfrm>
            <a:off x="10854827" y="702464"/>
            <a:ext cx="12972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화학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알코올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알칼리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수학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아라비아 숫자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의학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연금술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문학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신학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법학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철학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5" grpId="0"/>
      <p:bldP spid="49" grpId="0" animBg="1"/>
      <p:bldP spid="56" grpId="0" animBg="1"/>
      <p:bldP spid="60" grpId="0" animBg="1"/>
      <p:bldP spid="69" grpId="0" animBg="1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" t="10074" r="502" b="1927"/>
          <a:stretch/>
        </p:blipFill>
        <p:spPr>
          <a:xfrm>
            <a:off x="1013423" y="567500"/>
            <a:ext cx="10172856" cy="626184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023295" y="851314"/>
            <a:ext cx="201659" cy="4318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중심 사회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서유럽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7617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중세 서유럽이 형성되는 과정과 종교와 통치 방식이 당시 사회에 끼친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B778DA-75B8-425F-8A35-05A0B46ABAD9}"/>
              </a:ext>
            </a:extLst>
          </p:cNvPr>
          <p:cNvSpPr txBox="1"/>
          <p:nvPr/>
        </p:nvSpPr>
        <p:spPr>
          <a:xfrm>
            <a:off x="2821630" y="1586432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38~39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F5FE19-A096-47A8-8FDE-1142C75659C4}"/>
              </a:ext>
            </a:extLst>
          </p:cNvPr>
          <p:cNvSpPr txBox="1"/>
          <p:nvPr/>
        </p:nvSpPr>
        <p:spPr>
          <a:xfrm>
            <a:off x="9399691" y="206239"/>
            <a:ext cx="224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</a:t>
            </a:r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</a:t>
            </a:r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4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7A8FFB-765A-451E-A968-AC500316FC1B}"/>
              </a:ext>
            </a:extLst>
          </p:cNvPr>
          <p:cNvSpPr txBox="1"/>
          <p:nvPr/>
        </p:nvSpPr>
        <p:spPr>
          <a:xfrm>
            <a:off x="408743" y="1764934"/>
            <a:ext cx="1397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문명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그리스 문명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제국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CD7EAC-6D18-4DC3-BCB9-C6D7DF85489C}"/>
              </a:ext>
            </a:extLst>
          </p:cNvPr>
          <p:cNvSpPr/>
          <p:nvPr/>
        </p:nvSpPr>
        <p:spPr>
          <a:xfrm>
            <a:off x="1655248" y="2171637"/>
            <a:ext cx="627878" cy="1617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FAE822-6D91-4DAB-83C4-3D294CE2A38A}"/>
              </a:ext>
            </a:extLst>
          </p:cNvPr>
          <p:cNvSpPr/>
          <p:nvPr/>
        </p:nvSpPr>
        <p:spPr>
          <a:xfrm>
            <a:off x="4701248" y="1914461"/>
            <a:ext cx="624363" cy="197753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57BE58C-4425-4C6B-9FBB-6A0409ADE242}"/>
              </a:ext>
            </a:extLst>
          </p:cNvPr>
          <p:cNvSpPr/>
          <p:nvPr/>
        </p:nvSpPr>
        <p:spPr>
          <a:xfrm>
            <a:off x="4157346" y="2290194"/>
            <a:ext cx="1158106" cy="307777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DB6644-C127-4A8E-B89B-5384720D71B1}"/>
              </a:ext>
            </a:extLst>
          </p:cNvPr>
          <p:cNvSpPr txBox="1"/>
          <p:nvPr/>
        </p:nvSpPr>
        <p:spPr>
          <a:xfrm>
            <a:off x="2567647" y="1045161"/>
            <a:ext cx="354792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야만스럽다고 무시당했던 게르만족이 세운 나라가 로마 교황에게 인정 받으며 유럽 사회의 일원으로 인정 받은 것이다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게르만 문화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문화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문화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=&gt;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 문화 토대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50E81C-2E81-4FD1-856B-7AB2E5043336}"/>
              </a:ext>
            </a:extLst>
          </p:cNvPr>
          <p:cNvSpPr txBox="1"/>
          <p:nvPr/>
        </p:nvSpPr>
        <p:spPr>
          <a:xfrm>
            <a:off x="3805022" y="2577982"/>
            <a:ext cx="2218273" cy="73866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 대부분 장악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전파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카롤루스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대제 사후 프랑크 왕국 분열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A913494-79A6-489E-89D7-7018B9CEC659}"/>
              </a:ext>
            </a:extLst>
          </p:cNvPr>
          <p:cNvCxnSpPr>
            <a:cxnSpLocks/>
          </p:cNvCxnSpPr>
          <p:nvPr/>
        </p:nvCxnSpPr>
        <p:spPr>
          <a:xfrm>
            <a:off x="4924338" y="2919369"/>
            <a:ext cx="0" cy="15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F152AD7-AF8F-46DA-AEDB-3E443E1620C2}"/>
              </a:ext>
            </a:extLst>
          </p:cNvPr>
          <p:cNvSpPr/>
          <p:nvPr/>
        </p:nvSpPr>
        <p:spPr>
          <a:xfrm>
            <a:off x="3897303" y="3081190"/>
            <a:ext cx="2004405" cy="2042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1DFD762-3DA8-469C-8E84-7FB5546A372C}"/>
              </a:ext>
            </a:extLst>
          </p:cNvPr>
          <p:cNvCxnSpPr>
            <a:cxnSpLocks/>
          </p:cNvCxnSpPr>
          <p:nvPr/>
        </p:nvCxnSpPr>
        <p:spPr>
          <a:xfrm flipH="1">
            <a:off x="5486400" y="3296373"/>
            <a:ext cx="1" cy="276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8DC14B7-E671-4799-86E7-41EFF280F668}"/>
              </a:ext>
            </a:extLst>
          </p:cNvPr>
          <p:cNvSpPr txBox="1"/>
          <p:nvPr/>
        </p:nvSpPr>
        <p:spPr>
          <a:xfrm>
            <a:off x="4534249" y="3528495"/>
            <a:ext cx="190430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그리스</a:t>
            </a:r>
            <a:r>
              <a:rPr lang="en-US" altLang="ko-KR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]:</a:t>
            </a:r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자연과 인간 고민</a:t>
            </a:r>
            <a:endParaRPr lang="en-US" altLang="ko-KR" sz="10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]: 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신앙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57E8D9-156C-4542-AFBE-9D6F98AA01B9}"/>
              </a:ext>
            </a:extLst>
          </p:cNvPr>
          <p:cNvSpPr txBox="1"/>
          <p:nvPr/>
        </p:nvSpPr>
        <p:spPr>
          <a:xfrm>
            <a:off x="67592" y="3203534"/>
            <a:ext cx="1016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교황의 권위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E182C3-1810-4608-B82A-2B8FF1C3199B}"/>
              </a:ext>
            </a:extLst>
          </p:cNvPr>
          <p:cNvSpPr txBox="1"/>
          <p:nvPr/>
        </p:nvSpPr>
        <p:spPr>
          <a:xfrm>
            <a:off x="239704" y="2971458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45~46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98E00A-D2F0-4114-BFAB-F8884885E93F}"/>
              </a:ext>
            </a:extLst>
          </p:cNvPr>
          <p:cNvSpPr txBox="1"/>
          <p:nvPr/>
        </p:nvSpPr>
        <p:spPr>
          <a:xfrm>
            <a:off x="101611" y="3898546"/>
            <a:ext cx="5800098" cy="1169551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교황권의 강화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중학교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《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역사 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》,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천재교육</a:t>
            </a:r>
            <a:endParaRPr lang="en-US" altLang="ko-KR" sz="9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13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무렵에는 교황권이 절정에 달해 교회는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종교뿐만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아니라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정치에도 막강한 영향력을 행사하였다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그리하여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교황은 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황제는 달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이라는 말까지 생겨났다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태어나서 죽을 때까지 교회와 함께하는 중세의 삶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중학교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《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역사 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》,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천재교육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중세 서유럽 사회는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교회를 떠나서는 태어날 수도 죽을 수도 없다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속담이 있을 정도로 일상생활부터 농업 활동까지 생활의 많은 부분이 교회와 밀접한 관계 속에서 이루어졌다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또한 교회에서 세례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고백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혼인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장례 등의 의식을 치르고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예배에 의무적으로 참석하고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하루의 일과와 농사일도 교회 일정에 맞춰 진행하였다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B027D7-C7D8-45ED-AE2C-1B32DE5130C8}"/>
              </a:ext>
            </a:extLst>
          </p:cNvPr>
          <p:cNvSpPr txBox="1"/>
          <p:nvPr/>
        </p:nvSpPr>
        <p:spPr>
          <a:xfrm>
            <a:off x="480" y="3399104"/>
            <a:ext cx="282635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그레고리우스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성직자 임명권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황제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하인리히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거부→교황이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황제 파문→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4FCBE3-C705-463F-82C2-EEBE7AAB667A}"/>
              </a:ext>
            </a:extLst>
          </p:cNvPr>
          <p:cNvSpPr txBox="1"/>
          <p:nvPr/>
        </p:nvSpPr>
        <p:spPr>
          <a:xfrm>
            <a:off x="109056" y="5653138"/>
            <a:ext cx="1073792" cy="707886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유럽을 대표하는 건축 양식은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로마네스크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고딕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양식이다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ECF06D-4A36-4C10-9830-20B97C56D17F}"/>
              </a:ext>
            </a:extLst>
          </p:cNvPr>
          <p:cNvSpPr txBox="1"/>
          <p:nvPr/>
        </p:nvSpPr>
        <p:spPr>
          <a:xfrm>
            <a:off x="252074" y="5169532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47~48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41BDD5-1C9F-48B2-8890-51BC5D87059F}"/>
              </a:ext>
            </a:extLst>
          </p:cNvPr>
          <p:cNvSpPr txBox="1"/>
          <p:nvPr/>
        </p:nvSpPr>
        <p:spPr>
          <a:xfrm>
            <a:off x="52352" y="5369278"/>
            <a:ext cx="1016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건축의 특징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F89E8AC-ACB2-41B4-BA06-B41749405F49}"/>
              </a:ext>
            </a:extLst>
          </p:cNvPr>
          <p:cNvGrpSpPr/>
          <p:nvPr/>
        </p:nvGrpSpPr>
        <p:grpSpPr>
          <a:xfrm>
            <a:off x="5952044" y="1058653"/>
            <a:ext cx="377502" cy="2122022"/>
            <a:chOff x="5901708" y="1136025"/>
            <a:chExt cx="469783" cy="2044649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E0E6DC5C-8F6A-4CCB-B569-149235D82C8A}"/>
                </a:ext>
              </a:extLst>
            </p:cNvPr>
            <p:cNvGrpSpPr/>
            <p:nvPr/>
          </p:nvGrpSpPr>
          <p:grpSpPr>
            <a:xfrm>
              <a:off x="6073630" y="1136025"/>
              <a:ext cx="297861" cy="2044649"/>
              <a:chOff x="6115575" y="1110858"/>
              <a:chExt cx="297861" cy="2418284"/>
            </a:xfrm>
          </p:grpSpPr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A265458C-135E-402F-8734-7C70D149D4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5575" y="1110858"/>
                <a:ext cx="29786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BFB2B91E-AD5F-4130-9390-7B34E3D2EE23}"/>
                  </a:ext>
                </a:extLst>
              </p:cNvPr>
              <p:cNvCxnSpPr/>
              <p:nvPr/>
            </p:nvCxnSpPr>
            <p:spPr>
              <a:xfrm>
                <a:off x="6115575" y="1110858"/>
                <a:ext cx="0" cy="2418284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5697F39-FA8F-48CF-8D61-83D0BC6D3312}"/>
                </a:ext>
              </a:extLst>
            </p:cNvPr>
            <p:cNvCxnSpPr/>
            <p:nvPr/>
          </p:nvCxnSpPr>
          <p:spPr>
            <a:xfrm flipH="1">
              <a:off x="5901708" y="3180674"/>
              <a:ext cx="17192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608EF7C-C910-4CDA-881C-6F09E3F0ADEC}"/>
              </a:ext>
            </a:extLst>
          </p:cNvPr>
          <p:cNvSpPr txBox="1"/>
          <p:nvPr/>
        </p:nvSpPr>
        <p:spPr>
          <a:xfrm>
            <a:off x="7561813" y="882092"/>
            <a:ext cx="3085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배경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프랑크 왕국의 분열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이민족 침입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노르만족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C8467C5-EB5D-4916-B0F1-E037FCADDBCA}"/>
              </a:ext>
            </a:extLst>
          </p:cNvPr>
          <p:cNvSpPr/>
          <p:nvPr/>
        </p:nvSpPr>
        <p:spPr>
          <a:xfrm>
            <a:off x="7873685" y="1227223"/>
            <a:ext cx="322359" cy="2042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037AFD-541B-445D-A96C-C878F7A4C70D}"/>
              </a:ext>
            </a:extLst>
          </p:cNvPr>
          <p:cNvSpPr txBox="1"/>
          <p:nvPr/>
        </p:nvSpPr>
        <p:spPr>
          <a:xfrm>
            <a:off x="10335509" y="851314"/>
            <a:ext cx="1016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105958-FDB2-4D80-8C2C-4A138F60E553}"/>
              </a:ext>
            </a:extLst>
          </p:cNvPr>
          <p:cNvSpPr txBox="1"/>
          <p:nvPr/>
        </p:nvSpPr>
        <p:spPr>
          <a:xfrm>
            <a:off x="9894157" y="1431424"/>
            <a:ext cx="1252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주군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쌍무적 계약 관계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9FA07B-E1C0-4D16-B1B9-4976422E88D2}"/>
              </a:ext>
            </a:extLst>
          </p:cNvPr>
          <p:cNvSpPr txBox="1"/>
          <p:nvPr/>
        </p:nvSpPr>
        <p:spPr>
          <a:xfrm>
            <a:off x="9013100" y="1199149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413E3D-683D-445B-81FD-5E198CD6C64C}"/>
              </a:ext>
            </a:extLst>
          </p:cNvPr>
          <p:cNvSpPr txBox="1"/>
          <p:nvPr/>
        </p:nvSpPr>
        <p:spPr>
          <a:xfrm>
            <a:off x="8196044" y="4619053"/>
            <a:ext cx="101695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장원제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성립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1" name="화살표: 아래쪽 70">
            <a:extLst>
              <a:ext uri="{FF2B5EF4-FFF2-40B4-BE49-F238E27FC236}">
                <a16:creationId xmlns:a16="http://schemas.microsoft.com/office/drawing/2014/main" id="{04862163-A5B9-46BF-8DBC-C70AC426087C}"/>
              </a:ext>
            </a:extLst>
          </p:cNvPr>
          <p:cNvSpPr/>
          <p:nvPr/>
        </p:nvSpPr>
        <p:spPr>
          <a:xfrm>
            <a:off x="8559887" y="4404220"/>
            <a:ext cx="189830" cy="246221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031723-5C7C-496D-BB66-EEFFF0CC9876}"/>
              </a:ext>
            </a:extLst>
          </p:cNvPr>
          <p:cNvSpPr txBox="1"/>
          <p:nvPr/>
        </p:nvSpPr>
        <p:spPr>
          <a:xfrm>
            <a:off x="10042556" y="4511275"/>
            <a:ext cx="85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42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6F80E1-6CDD-4075-98D4-27E86CF6F1CB}"/>
              </a:ext>
            </a:extLst>
          </p:cNvPr>
          <p:cNvSpPr txBox="1"/>
          <p:nvPr/>
        </p:nvSpPr>
        <p:spPr>
          <a:xfrm>
            <a:off x="10544961" y="4421796"/>
            <a:ext cx="1507054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장원 안에는 높다란 언덕에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영주의 성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 주변에는 마을이 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한쪽에는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교회와 방앗간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등이 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경작지와 휴경지 등 드넓게 펼쳐진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논밭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보인다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장원은 영주의 영향력이 미치는 하나의 작은 지방 같은 곳이다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26DF94-B107-4B2B-B865-568624FF0CDB}"/>
              </a:ext>
            </a:extLst>
          </p:cNvPr>
          <p:cNvSpPr txBox="1"/>
          <p:nvPr/>
        </p:nvSpPr>
        <p:spPr>
          <a:xfrm>
            <a:off x="10544961" y="5901598"/>
            <a:ext cx="144648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거의 모든 사람이 장원을 중심으로 살아갔다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국가가 지켜주지 못해 봉건제와 장원제가 발전했다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B35E47-8B25-4E41-9459-31531D56784B}"/>
              </a:ext>
            </a:extLst>
          </p:cNvPr>
          <p:cNvSpPr txBox="1"/>
          <p:nvPr/>
        </p:nvSpPr>
        <p:spPr>
          <a:xfrm>
            <a:off x="10108654" y="6076899"/>
            <a:ext cx="85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p.44</a:t>
            </a: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왜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 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C4B21D-BC3E-44F2-AF64-EF8BED6F3766}"/>
              </a:ext>
            </a:extLst>
          </p:cNvPr>
          <p:cNvSpPr txBox="1"/>
          <p:nvPr/>
        </p:nvSpPr>
        <p:spPr>
          <a:xfrm>
            <a:off x="6083689" y="5369935"/>
            <a:ext cx="3883125" cy="13388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서양의 봉건제 </a:t>
            </a:r>
            <a:r>
              <a: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봉건제</a:t>
            </a:r>
            <a:r>
              <a: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중국의 봉건제는 </a:t>
            </a:r>
            <a:r>
              <a:rPr lang="ko-KR" altLang="en-US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왕이 중앙을 직접 통치하고 지방은 혈연 관계로 맺어진 친척과 공신을 제후로 임명하여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주고 다스리게 한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서유럽에서는 </a:t>
            </a:r>
            <a:r>
              <a:rPr lang="ko-KR" altLang="en-US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</a:t>
            </a:r>
            <a:r>
              <a:rPr lang="en-US" altLang="ko-KR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주군</a:t>
            </a:r>
            <a:r>
              <a:rPr lang="en-US" altLang="ko-KR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제후</a:t>
            </a:r>
            <a:r>
              <a:rPr lang="en-US" altLang="ko-KR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봉신</a:t>
            </a:r>
            <a:r>
              <a:rPr lang="en-US" altLang="ko-KR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사이에 서로 계약을 맺은 주종 관계로 장원을 토대로 한 지방 분권적인 사회가 형성되었다</a:t>
            </a:r>
            <a:r>
              <a:rPr lang="en-US" altLang="ko-KR" sz="10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주군과 봉신은 쌍무적 계약 관계로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어느 한쪽이 의무를 이행하지 않으면 계약은 깨질 수 있었다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2" grpId="0" animBg="1"/>
      <p:bldP spid="54" grpId="0" animBg="1"/>
      <p:bldP spid="74" grpId="0" animBg="1"/>
      <p:bldP spid="75" grpId="0" animBg="1"/>
      <p:bldP spid="7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18B2BF6-2636-4723-8885-496A8B775A8F}"/>
              </a:ext>
            </a:extLst>
          </p:cNvPr>
          <p:cNvGrpSpPr/>
          <p:nvPr/>
        </p:nvGrpSpPr>
        <p:grpSpPr>
          <a:xfrm>
            <a:off x="801196" y="1044011"/>
            <a:ext cx="4991596" cy="2920098"/>
            <a:chOff x="801196" y="1044011"/>
            <a:chExt cx="4991596" cy="292009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D4CC0E0-881C-4F0C-AA4B-9778A279B8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0" t="17963" r="50963" b="46350"/>
            <a:stretch/>
          </p:blipFill>
          <p:spPr>
            <a:xfrm>
              <a:off x="801196" y="1044011"/>
              <a:ext cx="4991596" cy="284944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21AB725-0EE8-4DDD-90C2-D73944E41B78}"/>
                </a:ext>
              </a:extLst>
            </p:cNvPr>
            <p:cNvSpPr/>
            <p:nvPr/>
          </p:nvSpPr>
          <p:spPr>
            <a:xfrm>
              <a:off x="897622" y="3102734"/>
              <a:ext cx="2540007" cy="861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641BB1C3-3CEB-4494-A45D-16B863A4AE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" t="44423" r="72932" b="51779"/>
          <a:stretch/>
        </p:blipFill>
        <p:spPr>
          <a:xfrm>
            <a:off x="801196" y="4392588"/>
            <a:ext cx="2716301" cy="30327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5773A2E-83BD-47CE-874D-39049CD5B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" t="53616" r="57484" b="41623"/>
          <a:stretch/>
        </p:blipFill>
        <p:spPr>
          <a:xfrm>
            <a:off x="801196" y="5233969"/>
            <a:ext cx="4316160" cy="3802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비잔티움 제국의 발전 과정과 문화적 특징을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로마의 계승자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8A7C7A-D369-4D52-9D4E-867118D4BC2F}"/>
              </a:ext>
            </a:extLst>
          </p:cNvPr>
          <p:cNvSpPr txBox="1"/>
          <p:nvPr/>
        </p:nvSpPr>
        <p:spPr>
          <a:xfrm>
            <a:off x="303267" y="3134580"/>
            <a:ext cx="3189837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유스티니아누스 황제는 전쟁을 통해 북부 아프리카와 에스파냐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서부 이탈리아까지 로마의 옛 영토를 거의 되찾았다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넓은 영토를 통치하다 보니 나라마다 법이 달라서 넓은 제국에 적용할 수 있는 하나의 법이 필요했다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그래서 황제의 명령에 따라 수백 명의 학자가 옛 그리스 로마의 법률들을 살펴서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《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유스티니아누스 법전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》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만들었다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C0C6CA-E606-447A-8AEF-55DED47F1E27}"/>
              </a:ext>
            </a:extLst>
          </p:cNvPr>
          <p:cNvSpPr txBox="1"/>
          <p:nvPr/>
        </p:nvSpPr>
        <p:spPr>
          <a:xfrm>
            <a:off x="120676" y="2462990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2877DC-D370-44CD-84AC-345F0C0F6557}"/>
              </a:ext>
            </a:extLst>
          </p:cNvPr>
          <p:cNvSpPr txBox="1"/>
          <p:nvPr/>
        </p:nvSpPr>
        <p:spPr>
          <a:xfrm>
            <a:off x="157534" y="4418863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65 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DEED50-BC34-403F-9EFE-459D0E1EC50C}"/>
              </a:ext>
            </a:extLst>
          </p:cNvPr>
          <p:cNvSpPr txBox="1"/>
          <p:nvPr/>
        </p:nvSpPr>
        <p:spPr>
          <a:xfrm>
            <a:off x="157534" y="5280238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71~73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26289C6-B702-459A-8381-5E67E86E41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" t="58245" r="50963" b="6240"/>
          <a:stretch/>
        </p:blipFill>
        <p:spPr>
          <a:xfrm>
            <a:off x="6399210" y="1021871"/>
            <a:ext cx="5086717" cy="288972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F7BCCA5-9796-425F-BA9E-D858B578F514}"/>
              </a:ext>
            </a:extLst>
          </p:cNvPr>
          <p:cNvSpPr txBox="1"/>
          <p:nvPr/>
        </p:nvSpPr>
        <p:spPr>
          <a:xfrm>
            <a:off x="8647193" y="3322296"/>
            <a:ext cx="855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77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290ED-40AC-4174-883E-9F4EEC73AB5D}"/>
              </a:ext>
            </a:extLst>
          </p:cNvPr>
          <p:cNvSpPr txBox="1"/>
          <p:nvPr/>
        </p:nvSpPr>
        <p:spPr>
          <a:xfrm>
            <a:off x="3437629" y="4434435"/>
            <a:ext cx="22249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교황 </a:t>
            </a:r>
            <a:r>
              <a: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황제 갈등</a:t>
            </a:r>
            <a:r>
              <a: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DBE489-F0B7-4432-B198-DEB77D8AD229}"/>
              </a:ext>
            </a:extLst>
          </p:cNvPr>
          <p:cNvSpPr/>
          <p:nvPr/>
        </p:nvSpPr>
        <p:spPr>
          <a:xfrm>
            <a:off x="2085280" y="1807860"/>
            <a:ext cx="1127703" cy="307777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5D9FCAA-A713-414C-9CE0-E8E8E26D9CB0}"/>
              </a:ext>
            </a:extLst>
          </p:cNvPr>
          <p:cNvSpPr/>
          <p:nvPr/>
        </p:nvSpPr>
        <p:spPr>
          <a:xfrm>
            <a:off x="1773098" y="1584168"/>
            <a:ext cx="978491" cy="168053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750BF4-B168-45A7-95E6-D328166C9ABF}"/>
              </a:ext>
            </a:extLst>
          </p:cNvPr>
          <p:cNvSpPr/>
          <p:nvPr/>
        </p:nvSpPr>
        <p:spPr>
          <a:xfrm>
            <a:off x="1457402" y="1394633"/>
            <a:ext cx="627878" cy="1617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6A48F8-212D-4C23-B038-803C6AF99737}"/>
              </a:ext>
            </a:extLst>
          </p:cNvPr>
          <p:cNvSpPr txBox="1"/>
          <p:nvPr/>
        </p:nvSpPr>
        <p:spPr>
          <a:xfrm>
            <a:off x="3255549" y="1869416"/>
            <a:ext cx="11277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 교황주의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B1C4A3-EA48-4E29-A4DB-826D5C01B2B8}"/>
              </a:ext>
            </a:extLst>
          </p:cNvPr>
          <p:cNvSpPr txBox="1"/>
          <p:nvPr/>
        </p:nvSpPr>
        <p:spPr>
          <a:xfrm>
            <a:off x="398648" y="4666419"/>
            <a:ext cx="547364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제국은 황제가 교회까지 지배하는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 교황주의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황제의 권위가 높아 황제 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마음대로 교회를 다스렸다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더 나아가 로마 교회에 대해서도 간섭하며 교황과 갈등을 겪었다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63F3525-5BAD-45CA-A8CA-4C971E6179E6}"/>
              </a:ext>
            </a:extLst>
          </p:cNvPr>
          <p:cNvSpPr txBox="1"/>
          <p:nvPr/>
        </p:nvSpPr>
        <p:spPr>
          <a:xfrm>
            <a:off x="398649" y="5557237"/>
            <a:ext cx="6077652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황제는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제국에 해일이 일어난 것은 하느님의 심판이라고 해석하며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성상 숭배가 원인이라고 주장했다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그래서 성상을 모두 없애라고 명령했다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로마 교황은 비잔티움 제국의 성상 파괴 운동을 듣고 분노했다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일반 사람들은 성경을 읽거나 가질 수 없었는데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그림이나 조각을 통해 신앙심을 심어 줄 수 있기 때문에 포기할 수 없었던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교황과 비잔티움 제국의 황제는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치의 양보도 없이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갈등을 이어 갔고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결국 교회는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교황을 중심으로 한 로마 가톨릭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제국의 정교회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나뉘게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9AC19C-56F0-4427-A5D5-C051929D1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08481"/>
              </p:ext>
            </p:extLst>
          </p:nvPr>
        </p:nvGraphicFramePr>
        <p:xfrm>
          <a:off x="6695994" y="5288152"/>
          <a:ext cx="2939880" cy="1015492"/>
        </p:xfrm>
        <a:graphic>
          <a:graphicData uri="http://schemas.openxmlformats.org/drawingml/2006/table">
            <a:tbl>
              <a:tblPr/>
              <a:tblGrid>
                <a:gridCol w="1469940">
                  <a:extLst>
                    <a:ext uri="{9D8B030D-6E8A-4147-A177-3AD203B41FA5}">
                      <a16:colId xmlns:a16="http://schemas.microsoft.com/office/drawing/2014/main" val="4094567481"/>
                    </a:ext>
                  </a:extLst>
                </a:gridCol>
                <a:gridCol w="1469940">
                  <a:extLst>
                    <a:ext uri="{9D8B030D-6E8A-4147-A177-3AD203B41FA5}">
                      <a16:colId xmlns:a16="http://schemas.microsoft.com/office/drawing/2014/main" val="2823656593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비잔티움 교회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서유럽 교회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15231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황제 교황주의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교황과 황제의 분리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870713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그리스 정교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로마 가톨릭교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56226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성상 숭배 금지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성상 숭배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757051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CBFB3D3C-22B4-4646-97C1-AF3FF08BA1EA}"/>
              </a:ext>
            </a:extLst>
          </p:cNvPr>
          <p:cNvSpPr txBox="1"/>
          <p:nvPr/>
        </p:nvSpPr>
        <p:spPr>
          <a:xfrm>
            <a:off x="6583249" y="3933225"/>
            <a:ext cx="471863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그리스 정교회를 비롯한 비잔티움 문화는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동유럽의 슬라브족에게 전해져 동유럽 문화권의 토대를 이루었다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0" grpId="0" animBg="1"/>
      <p:bldP spid="41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4" t="13836" r="1224" b="6155"/>
          <a:stretch/>
        </p:blipFill>
        <p:spPr>
          <a:xfrm>
            <a:off x="7006394" y="1156888"/>
            <a:ext cx="4745620" cy="54869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445A94-5D26-41F4-BB5B-FC16866847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36" r="1861" b="1896"/>
          <a:stretch/>
        </p:blipFill>
        <p:spPr>
          <a:xfrm>
            <a:off x="11071" y="2033695"/>
            <a:ext cx="6830681" cy="454378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십자군 전쟁의 배경과 전개 과정을 이해해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 세력의 충돌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십자군 전쟁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8FCAB-8899-4B4A-9653-0A2E99572004}"/>
              </a:ext>
            </a:extLst>
          </p:cNvPr>
          <p:cNvSpPr txBox="1"/>
          <p:nvPr/>
        </p:nvSpPr>
        <p:spPr>
          <a:xfrm>
            <a:off x="6210733" y="4889007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52~53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E346E-369A-499D-ACDC-247312BFCAED}"/>
              </a:ext>
            </a:extLst>
          </p:cNvPr>
          <p:cNvSpPr txBox="1"/>
          <p:nvPr/>
        </p:nvSpPr>
        <p:spPr>
          <a:xfrm>
            <a:off x="9648175" y="918029"/>
            <a:ext cx="1843781" cy="246221"/>
          </a:xfrm>
          <a:prstGeom prst="rect">
            <a:avLst/>
          </a:prstGeom>
          <a:solidFill>
            <a:srgbClr val="7030A0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#5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 </a:t>
            </a:r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사탐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세계사 십자군 전쟁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8351D4-4CEC-4EEF-9862-F235B127C8CC}"/>
              </a:ext>
            </a:extLst>
          </p:cNvPr>
          <p:cNvSpPr txBox="1"/>
          <p:nvPr/>
        </p:nvSpPr>
        <p:spPr>
          <a:xfrm>
            <a:off x="6800656" y="4059280"/>
            <a:ext cx="1243425" cy="7540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처음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본질적 목적과 달리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세속적으로 변화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2FA07FB-8CD0-4F99-998D-4B30F3053D35}"/>
              </a:ext>
            </a:extLst>
          </p:cNvPr>
          <p:cNvCxnSpPr>
            <a:cxnSpLocks/>
          </p:cNvCxnSpPr>
          <p:nvPr/>
        </p:nvCxnSpPr>
        <p:spPr>
          <a:xfrm>
            <a:off x="7448463" y="4269996"/>
            <a:ext cx="0" cy="15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DA6483-7599-41D8-94EA-AA1183EEA133}"/>
              </a:ext>
            </a:extLst>
          </p:cNvPr>
          <p:cNvSpPr txBox="1"/>
          <p:nvPr/>
        </p:nvSpPr>
        <p:spPr>
          <a:xfrm>
            <a:off x="4175439" y="1225157"/>
            <a:ext cx="3179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</a:t>
            </a:r>
            <a:r>
              <a:rPr lang="ko-KR" altLang="en-US" sz="12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셀주크튀르크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비잔티움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예루살렘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성지 장악</a:t>
            </a:r>
            <a:endParaRPr lang="en-US" altLang="ko-KR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비잔티움 황제 로마 교황 도움 요청</a:t>
            </a:r>
          </a:p>
          <a:p>
            <a:r>
              <a:rPr lang="ko-KR" altLang="en-US" sz="12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로마 교황 예루살렘으로 십자군 보냄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8B9FCE5-B9A9-45AE-BF21-A34AFF4FE554}"/>
              </a:ext>
            </a:extLst>
          </p:cNvPr>
          <p:cNvCxnSpPr/>
          <p:nvPr/>
        </p:nvCxnSpPr>
        <p:spPr>
          <a:xfrm>
            <a:off x="9190814" y="2207720"/>
            <a:ext cx="2324649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827BF6A-32FF-43D0-97F1-7FF3C38AFE04}"/>
              </a:ext>
            </a:extLst>
          </p:cNvPr>
          <p:cNvCxnSpPr>
            <a:cxnSpLocks/>
          </p:cNvCxnSpPr>
          <p:nvPr/>
        </p:nvCxnSpPr>
        <p:spPr>
          <a:xfrm>
            <a:off x="8044081" y="2383119"/>
            <a:ext cx="2114026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D62351C-D7E5-43DB-BBD8-2854F261DFB0}"/>
              </a:ext>
            </a:extLst>
          </p:cNvPr>
          <p:cNvCxnSpPr>
            <a:cxnSpLocks/>
          </p:cNvCxnSpPr>
          <p:nvPr/>
        </p:nvCxnSpPr>
        <p:spPr>
          <a:xfrm flipH="1">
            <a:off x="6905175" y="5004423"/>
            <a:ext cx="10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38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" t="13462" r="3200" b="1666"/>
          <a:stretch/>
        </p:blipFill>
        <p:spPr>
          <a:xfrm>
            <a:off x="518745" y="866658"/>
            <a:ext cx="4790927" cy="59504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" t="4743" r="1194" b="2051"/>
          <a:stretch/>
        </p:blipFill>
        <p:spPr>
          <a:xfrm>
            <a:off x="5884729" y="555778"/>
            <a:ext cx="4721710" cy="6252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특종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사건 속으로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이번 시간에 알게 된 역사적 사건을 기사문으로 표현해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593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2BD00CD-5F2C-4951-8DDC-DD387BEE6E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01" t="17737" r="25993" b="16611"/>
          <a:stretch/>
        </p:blipFill>
        <p:spPr>
          <a:xfrm>
            <a:off x="0" y="1320062"/>
            <a:ext cx="6081306" cy="45733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A94C5FA-E2BB-4E4D-86AF-9A07FF2E58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21" t="30826" r="26307" b="14065"/>
          <a:stretch/>
        </p:blipFill>
        <p:spPr>
          <a:xfrm>
            <a:off x="6096000" y="2055305"/>
            <a:ext cx="6081306" cy="389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9B21E0D-0D65-4498-BF63-F335B26D66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65" t="19248" r="26101" b="16697"/>
          <a:stretch/>
        </p:blipFill>
        <p:spPr>
          <a:xfrm>
            <a:off x="9330" y="1394271"/>
            <a:ext cx="6108999" cy="44615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972CD066-0F1A-48FB-A058-3DCE8816CA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96" t="31070" r="26169" b="14065"/>
          <a:stretch/>
        </p:blipFill>
        <p:spPr>
          <a:xfrm>
            <a:off x="6077145" y="2008610"/>
            <a:ext cx="6104732" cy="39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1243</Words>
  <Application>Microsoft Office PowerPoint</Application>
  <PresentationFormat>와이드스크린</PresentationFormat>
  <Paragraphs>174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90</cp:revision>
  <dcterms:created xsi:type="dcterms:W3CDTF">2021-05-21T01:10:02Z</dcterms:created>
  <dcterms:modified xsi:type="dcterms:W3CDTF">2024-10-17T05:07:12Z</dcterms:modified>
</cp:coreProperties>
</file>