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86" r:id="rId3"/>
    <p:sldId id="283" r:id="rId4"/>
    <p:sldId id="287" r:id="rId5"/>
    <p:sldId id="288" r:id="rId6"/>
    <p:sldId id="281" r:id="rId7"/>
    <p:sldId id="294" r:id="rId8"/>
    <p:sldId id="285" r:id="rId9"/>
    <p:sldId id="293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00"/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DBF09E-2F48-4E2E-887D-C83A1703FA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B227155-6CC4-4A07-827B-08BD9D3C46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FC9475-BBB8-4E7C-B71C-BA69F3EAE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2115D5-E04F-46B4-9026-0897E209E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0D601A8-7A5F-4A85-98F0-640FE50AC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3802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6AA440-2DC7-49F8-ABF3-AC4215559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A4BD65-C34B-4B31-861B-6B2FEA4386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9968D4-CEA1-4ED5-9831-87855B43E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3421234-7B8F-4404-9C12-CD50653AD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F11D50-9C5A-4226-8BDD-1FD3BB21D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7348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961B46-3C1C-4B65-83CE-29B306DB3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FA3F87C-106D-4D19-8DB6-18A042F69D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3C9D4D-0FED-4442-B439-26F9223BE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23A45C-DBC1-4D4A-88AA-5D80C54CF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CBA1CB-1588-4222-AB69-59FEDF91E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1601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BE135B-E430-499B-AD4A-44B43FD9A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B5863E5-1843-4A4C-9004-0E5780BF1A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9411DA0-B5AC-408A-9B24-910EC5B4F2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4E0DE3B-1C4C-42BE-8C7E-0A03B3BCC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2024-11-07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E375DDF-57E6-42DE-B908-F3D9F2156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9E51BDF-7C0C-445E-BBE1-395731FAC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4948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3A237B-E50D-4CDA-B697-5F41D805A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3C193AE-DBA3-43D7-9C42-86D280EDC8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72BD590-9B7A-4B1E-8CD5-CBC55361F8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87791AA-4CA9-4EBD-ADCF-45995414FD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D837961-538C-401B-BA6C-81B6E345ED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72A739A-A9F7-41C3-8E73-C58B39662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2024-11-07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2234EBC-BA27-4A3B-BBAD-2A84BE06F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BC7CE16-42DC-46A9-AD74-8AC77F170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9650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A66BFB-6767-4325-90A4-D87B215AE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8661116-7BFA-4449-AA52-93E6DD062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2024-11-07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C57FBD7-122F-48CE-82E5-C3CFE3AFF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CCB7F33-CE8D-4098-8F32-5315E3652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6066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AA2BD6F-CF9D-499D-ABDD-DF4A5EB7F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2024-11-07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D8FC5D9-2E9D-42A8-B651-C4A2CC6DE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6570DE-7E0C-485D-8328-72AC5FB74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7386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F8748D-3391-40D5-992B-48BCB17B9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97AF4B-B7D5-49D9-8969-0CD238F5E3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BFB7B14-BF99-4106-AE0C-F05D09AE6D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A33C3F4-1B10-4CD7-BD18-68EB58606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2024-11-07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4E03EB7-E983-4545-8671-7BE21E20F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F5A0FE2-ED3E-4581-B0D5-88909DA40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4236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462667-DBBB-4A4D-BAE9-F2D59A9E8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15DBF80-FFFA-4CD8-9BDA-A39A273A6D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6F5535C-32B6-41A8-8D53-B84ECB908C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E587FB1-1472-4E7B-94B6-659863E3E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2024-11-07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36294D4-590D-493F-8138-53F7CA5A3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347E70A-B0FA-4C12-ADF7-DC10C86C9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6907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3077AA-FE8C-41FE-927E-C363475A8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973F264-7FEE-477D-B6AD-17E4A3B9D3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1F3B7DD-6D54-4392-8080-BC88ECF74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A3D4E4-9827-46BB-860A-BB275868C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A6D0B1-EAAE-4ABE-A3A4-65BF6FB02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6891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2D3092B-8A1F-492F-932D-F9A5CE830F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F1AA047-6D64-43A4-AFE0-246807DF9E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17278F-7610-4CDD-B60D-2518C3E27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85B3C1-A624-4119-9C3A-C5C227D70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86C8147-0120-40A8-806B-9CC651F7D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4435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E46CEAD-EDE2-479A-9F7E-BD61BDB03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8AE9DE0-42FC-4E12-A53D-088334F57A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3AFD70-A355-4236-8E75-E3F63258A9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16A2E3-3A1D-4D3B-9152-FDAA0160F4E2}" type="datetimeFigureOut">
              <a:rPr lang="ko-KR" altLang="en-US" smtClean="0"/>
              <a:t>2024-11-07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69C325-16F0-4E5B-9146-ADEC5507B9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1DE10C-87C5-42DE-9363-2810FD5360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8826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A6C2785F-A87C-4EB3-83C5-1D05B7BD37C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51" t="20229" r="20787" b="59847"/>
          <a:stretch/>
        </p:blipFill>
        <p:spPr>
          <a:xfrm>
            <a:off x="666920" y="523633"/>
            <a:ext cx="2449586" cy="1366346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3FB414AB-7D20-4C1B-8DA1-2BB34161EBA4}"/>
              </a:ext>
            </a:extLst>
          </p:cNvPr>
          <p:cNvSpPr txBox="1"/>
          <p:nvPr/>
        </p:nvSpPr>
        <p:spPr>
          <a:xfrm>
            <a:off x="9331" y="6528945"/>
            <a:ext cx="12192000" cy="280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dirty="0" err="1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rPr>
              <a:t>한우리</a:t>
            </a:r>
            <a:r>
              <a: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rPr>
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</a:r>
            <a:r>
              <a:rPr lang="en-US" altLang="ko-KR" sz="900" dirty="0" err="1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rPr>
              <a:t>sk</a:t>
            </a:r>
            <a:r>
              <a:rPr lang="en-US" altLang="ko-KR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rPr>
              <a:t> </a:t>
            </a:r>
            <a:r>
              <a:rPr lang="ko-KR" altLang="en-US" sz="900" dirty="0" err="1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rPr>
              <a:t>논술교습소</a:t>
            </a:r>
            <a:endParaRPr lang="ko-KR" altLang="en-US" sz="900" dirty="0">
              <a:solidFill>
                <a:srgbClr val="003300"/>
              </a:solidFill>
              <a:latin typeface="THE봉숭아틴트" panose="02020603020101020101" pitchFamily="18" charset="-127"/>
              <a:ea typeface="THE봉숭아틴트" panose="02020603020101020101" pitchFamily="18" charset="-127"/>
            </a:endParaRPr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20186495-8991-42AD-B58A-9CBF1D38BA33}"/>
              </a:ext>
            </a:extLst>
          </p:cNvPr>
          <p:cNvCxnSpPr>
            <a:cxnSpLocks/>
          </p:cNvCxnSpPr>
          <p:nvPr/>
        </p:nvCxnSpPr>
        <p:spPr>
          <a:xfrm>
            <a:off x="0" y="6851340"/>
            <a:ext cx="12192000" cy="0"/>
          </a:xfrm>
          <a:prstGeom prst="line">
            <a:avLst/>
          </a:prstGeom>
          <a:ln w="762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1DA6985-C3BD-4D21-B216-0AD1DA5A3AEB}"/>
              </a:ext>
            </a:extLst>
          </p:cNvPr>
          <p:cNvSpPr txBox="1"/>
          <p:nvPr/>
        </p:nvSpPr>
        <p:spPr>
          <a:xfrm>
            <a:off x="3663101" y="2514302"/>
            <a:ext cx="83235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sz="16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15~18</a:t>
            </a:r>
            <a:r>
              <a:rPr lang="ko-KR" altLang="en-US" sz="16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세기 유럽의 역사를 파악할 수 있다</a:t>
            </a:r>
            <a:r>
              <a:rPr lang="en-US" altLang="ko-KR" sz="16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pPr marL="342900" indent="-342900">
              <a:buAutoNum type="arabicPeriod"/>
            </a:pPr>
            <a:r>
              <a:rPr lang="ko-KR" altLang="en-US" sz="16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절대 왕정의 특징을 설명하고 과학 혁명과 계몽 사상이 유럽 사회에 미친 영향을 이해할 수 있다</a:t>
            </a:r>
            <a:r>
              <a:rPr lang="en-US" altLang="ko-KR" sz="16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ko-KR" altLang="en-US" sz="16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6C90F0-D105-427E-8B20-6195FD183CE2}"/>
              </a:ext>
            </a:extLst>
          </p:cNvPr>
          <p:cNvSpPr txBox="1"/>
          <p:nvPr/>
        </p:nvSpPr>
        <p:spPr>
          <a:xfrm>
            <a:off x="11397622" y="263760"/>
            <a:ext cx="58900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000" dirty="0">
                <a:solidFill>
                  <a:srgbClr val="0033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⑥</a:t>
            </a:r>
            <a:endParaRPr lang="en-US" altLang="ko-KR" sz="3000" dirty="0">
              <a:solidFill>
                <a:srgbClr val="003300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D750985-C6A6-487E-A622-5A5C07F7BE52}"/>
              </a:ext>
            </a:extLst>
          </p:cNvPr>
          <p:cNvSpPr/>
          <p:nvPr/>
        </p:nvSpPr>
        <p:spPr>
          <a:xfrm>
            <a:off x="1923243" y="2580038"/>
            <a:ext cx="107604" cy="50917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7030A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BF407F-2D88-4762-80A7-3DA7561A0052}"/>
              </a:ext>
            </a:extLst>
          </p:cNvPr>
          <p:cNvSpPr txBox="1"/>
          <p:nvPr/>
        </p:nvSpPr>
        <p:spPr>
          <a:xfrm>
            <a:off x="2054932" y="2433586"/>
            <a:ext cx="1783643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학습 목표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686BFD31-42E6-4DBE-BF94-9BD7E44A10D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02" t="56149" r="6637" b="1546"/>
          <a:stretch/>
        </p:blipFill>
        <p:spPr>
          <a:xfrm>
            <a:off x="3838575" y="3418489"/>
            <a:ext cx="4483330" cy="3390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505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6E00938F-2FF2-4468-A6AE-871128E33ED8}"/>
              </a:ext>
            </a:extLst>
          </p:cNvPr>
          <p:cNvSpPr txBox="1"/>
          <p:nvPr/>
        </p:nvSpPr>
        <p:spPr>
          <a:xfrm>
            <a:off x="109057" y="3641"/>
            <a:ext cx="7998543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지난주 복습 정리해요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르네상스</a:t>
            </a:r>
            <a:r>
              <a:rPr lang="en-US" altLang="ko-KR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종교 개혁</a:t>
            </a:r>
            <a:r>
              <a:rPr lang="en-US" altLang="ko-KR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종교 전쟁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63EA575-62A7-4F50-8560-66486DD36F2E}"/>
              </a:ext>
            </a:extLst>
          </p:cNvPr>
          <p:cNvGrpSpPr/>
          <p:nvPr/>
        </p:nvGrpSpPr>
        <p:grpSpPr>
          <a:xfrm>
            <a:off x="0" y="1"/>
            <a:ext cx="12201331" cy="6851339"/>
            <a:chOff x="0" y="1"/>
            <a:chExt cx="12201331" cy="685133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1313867-FA00-4F30-8C60-5E9F0D8D6998}"/>
                </a:ext>
              </a:extLst>
            </p:cNvPr>
            <p:cNvSpPr/>
            <p:nvPr/>
          </p:nvSpPr>
          <p:spPr>
            <a:xfrm>
              <a:off x="0" y="1"/>
              <a:ext cx="109057" cy="50917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7030A0"/>
                </a:solidFill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C72691C7-BB97-4D31-940D-448688A6C154}"/>
                </a:ext>
              </a:extLst>
            </p:cNvPr>
            <p:cNvCxnSpPr>
              <a:cxnSpLocks/>
            </p:cNvCxnSpPr>
            <p:nvPr/>
          </p:nvCxnSpPr>
          <p:spPr>
            <a:xfrm>
              <a:off x="2279" y="513458"/>
              <a:ext cx="12192000" cy="0"/>
            </a:xfrm>
            <a:prstGeom prst="line">
              <a:avLst/>
            </a:prstGeom>
            <a:ln w="9525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593A63-C37D-40EB-BA52-94A232F1D9B8}"/>
                </a:ext>
              </a:extLst>
            </p:cNvPr>
            <p:cNvSpPr txBox="1"/>
            <p:nvPr/>
          </p:nvSpPr>
          <p:spPr>
            <a:xfrm>
              <a:off x="9331" y="6528945"/>
              <a:ext cx="12192000" cy="280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한우리</a:t>
              </a:r>
              <a:r>
                <a:rPr lang="ko-KR" altLang="en-US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  </a:r>
              <a:r>
                <a:rPr lang="en-US" altLang="ko-KR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sk</a:t>
              </a:r>
              <a:r>
                <a:rPr lang="en-US" altLang="ko-KR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</a:t>
              </a: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논술교습소</a:t>
              </a:r>
              <a:endPara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A3A3578-3881-4BBB-A1F1-417F84AFCEA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1340"/>
              <a:ext cx="12192000" cy="0"/>
            </a:xfrm>
            <a:prstGeom prst="line">
              <a:avLst/>
            </a:prstGeom>
            <a:ln w="762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18" name="그림 17">
            <a:extLst>
              <a:ext uri="{FF2B5EF4-FFF2-40B4-BE49-F238E27FC236}">
                <a16:creationId xmlns:a16="http://schemas.microsoft.com/office/drawing/2014/main" id="{57FB6932-DCEA-4A98-BA79-5D5F8595F45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596" t="17737" r="26858" b="34434"/>
          <a:stretch/>
        </p:blipFill>
        <p:spPr>
          <a:xfrm>
            <a:off x="9331" y="1299248"/>
            <a:ext cx="6002002" cy="3396211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3CB46148-8D85-43FC-907E-B371EBF7FB8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5871" t="14924" r="26996" b="15841"/>
          <a:stretch/>
        </p:blipFill>
        <p:spPr>
          <a:xfrm>
            <a:off x="6007657" y="1303533"/>
            <a:ext cx="5996347" cy="4954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0734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그림 25">
            <a:extLst>
              <a:ext uri="{FF2B5EF4-FFF2-40B4-BE49-F238E27FC236}">
                <a16:creationId xmlns:a16="http://schemas.microsoft.com/office/drawing/2014/main" id="{3352B744-BECB-466D-B96B-C3AFC039C80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96" t="5975" r="717" b="1411"/>
          <a:stretch/>
        </p:blipFill>
        <p:spPr>
          <a:xfrm>
            <a:off x="6037312" y="0"/>
            <a:ext cx="5268217" cy="6876012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2" t="12948" r="51063" b="1411"/>
          <a:stretch/>
        </p:blipFill>
        <p:spPr>
          <a:xfrm>
            <a:off x="861304" y="517744"/>
            <a:ext cx="5190921" cy="635826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E00938F-2FF2-4468-A6AE-871128E33ED8}"/>
              </a:ext>
            </a:extLst>
          </p:cNvPr>
          <p:cNvSpPr txBox="1"/>
          <p:nvPr/>
        </p:nvSpPr>
        <p:spPr>
          <a:xfrm>
            <a:off x="109057" y="3641"/>
            <a:ext cx="7998543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세계사 브리핑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 시간 타임라인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[15~18c]</a:t>
            </a:r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63EA575-62A7-4F50-8560-66486DD36F2E}"/>
              </a:ext>
            </a:extLst>
          </p:cNvPr>
          <p:cNvGrpSpPr/>
          <p:nvPr/>
        </p:nvGrpSpPr>
        <p:grpSpPr>
          <a:xfrm>
            <a:off x="0" y="1"/>
            <a:ext cx="12201331" cy="6851339"/>
            <a:chOff x="0" y="1"/>
            <a:chExt cx="12201331" cy="685133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1313867-FA00-4F30-8C60-5E9F0D8D6998}"/>
                </a:ext>
              </a:extLst>
            </p:cNvPr>
            <p:cNvSpPr/>
            <p:nvPr/>
          </p:nvSpPr>
          <p:spPr>
            <a:xfrm>
              <a:off x="0" y="1"/>
              <a:ext cx="109057" cy="50917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7030A0"/>
                </a:solidFill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C72691C7-BB97-4D31-940D-448688A6C154}"/>
                </a:ext>
              </a:extLst>
            </p:cNvPr>
            <p:cNvCxnSpPr>
              <a:cxnSpLocks/>
            </p:cNvCxnSpPr>
            <p:nvPr/>
          </p:nvCxnSpPr>
          <p:spPr>
            <a:xfrm>
              <a:off x="2279" y="513458"/>
              <a:ext cx="12192000" cy="0"/>
            </a:xfrm>
            <a:prstGeom prst="line">
              <a:avLst/>
            </a:prstGeom>
            <a:ln w="9525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593A63-C37D-40EB-BA52-94A232F1D9B8}"/>
                </a:ext>
              </a:extLst>
            </p:cNvPr>
            <p:cNvSpPr txBox="1"/>
            <p:nvPr/>
          </p:nvSpPr>
          <p:spPr>
            <a:xfrm>
              <a:off x="9331" y="6528945"/>
              <a:ext cx="12192000" cy="280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한우리</a:t>
              </a:r>
              <a:r>
                <a:rPr lang="ko-KR" altLang="en-US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  </a:r>
              <a:r>
                <a:rPr lang="en-US" altLang="ko-KR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sk</a:t>
              </a:r>
              <a:r>
                <a:rPr lang="en-US" altLang="ko-KR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</a:t>
              </a: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논술교습소</a:t>
              </a:r>
              <a:endPara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A3A3578-3881-4BBB-A1F1-417F84AFCEA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1340"/>
              <a:ext cx="12192000" cy="0"/>
            </a:xfrm>
            <a:prstGeom prst="line">
              <a:avLst/>
            </a:prstGeom>
            <a:ln w="762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3C753B8C-131E-484F-848D-E0DDAE73C70D}"/>
              </a:ext>
            </a:extLst>
          </p:cNvPr>
          <p:cNvSpPr txBox="1"/>
          <p:nvPr/>
        </p:nvSpPr>
        <p:spPr>
          <a:xfrm>
            <a:off x="109056" y="551491"/>
            <a:ext cx="6354806" cy="73866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▶ 연표와 지도를 보며 이번 시간에 학습할 세계사의 주요 사건 및 용어를 살펴보자</a:t>
            </a:r>
            <a:r>
              <a:rPr lang="en-US" altLang="ko-KR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endParaRPr lang="en-US" altLang="ko-KR" sz="14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endParaRPr lang="en-US" altLang="ko-KR" sz="14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" name="화살표: 오른쪽 3">
            <a:extLst>
              <a:ext uri="{FF2B5EF4-FFF2-40B4-BE49-F238E27FC236}">
                <a16:creationId xmlns:a16="http://schemas.microsoft.com/office/drawing/2014/main" id="{13545069-9A6D-426E-AC79-B8EFE89E1774}"/>
              </a:ext>
            </a:extLst>
          </p:cNvPr>
          <p:cNvSpPr/>
          <p:nvPr/>
        </p:nvSpPr>
        <p:spPr>
          <a:xfrm>
            <a:off x="2071456" y="1737049"/>
            <a:ext cx="242467" cy="151002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화살표: 오른쪽 21">
            <a:extLst>
              <a:ext uri="{FF2B5EF4-FFF2-40B4-BE49-F238E27FC236}">
                <a16:creationId xmlns:a16="http://schemas.microsoft.com/office/drawing/2014/main" id="{4DEC9E81-78B3-4849-A76B-EB9C77F38B50}"/>
              </a:ext>
            </a:extLst>
          </p:cNvPr>
          <p:cNvSpPr/>
          <p:nvPr/>
        </p:nvSpPr>
        <p:spPr>
          <a:xfrm>
            <a:off x="9990663" y="1737049"/>
            <a:ext cx="242467" cy="151002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E7EC8017-83ED-409F-A463-5BBF5C2C3075}"/>
              </a:ext>
            </a:extLst>
          </p:cNvPr>
          <p:cNvGrpSpPr/>
          <p:nvPr/>
        </p:nvGrpSpPr>
        <p:grpSpPr>
          <a:xfrm>
            <a:off x="1166386" y="3008045"/>
            <a:ext cx="9157269" cy="311632"/>
            <a:chOff x="1166386" y="3008045"/>
            <a:chExt cx="9157269" cy="311632"/>
          </a:xfrm>
        </p:grpSpPr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12446C31-1E50-40F8-B456-7684E2B7CDBD}"/>
                </a:ext>
              </a:extLst>
            </p:cNvPr>
            <p:cNvSpPr txBox="1"/>
            <p:nvPr/>
          </p:nvSpPr>
          <p:spPr>
            <a:xfrm>
              <a:off x="1166386" y="3042678"/>
              <a:ext cx="39252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①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3132753-53D1-4169-8707-7741D3369B57}"/>
                </a:ext>
              </a:extLst>
            </p:cNvPr>
            <p:cNvSpPr txBox="1"/>
            <p:nvPr/>
          </p:nvSpPr>
          <p:spPr>
            <a:xfrm>
              <a:off x="5058561" y="3008045"/>
              <a:ext cx="39252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②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41B5099-2A4B-4FBB-A0FF-F8120049CE97}"/>
                </a:ext>
              </a:extLst>
            </p:cNvPr>
            <p:cNvSpPr txBox="1"/>
            <p:nvPr/>
          </p:nvSpPr>
          <p:spPr>
            <a:xfrm>
              <a:off x="7587692" y="3027408"/>
              <a:ext cx="39252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③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CF7ECEC-BF6D-4341-B985-14DB5F229F74}"/>
                </a:ext>
              </a:extLst>
            </p:cNvPr>
            <p:cNvSpPr txBox="1"/>
            <p:nvPr/>
          </p:nvSpPr>
          <p:spPr>
            <a:xfrm>
              <a:off x="9931129" y="3042677"/>
              <a:ext cx="39252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④</a:t>
              </a:r>
            </a:p>
          </p:txBody>
        </p:sp>
      </p:grpSp>
      <p:sp>
        <p:nvSpPr>
          <p:cNvPr id="7" name="직사각형 6">
            <a:extLst>
              <a:ext uri="{FF2B5EF4-FFF2-40B4-BE49-F238E27FC236}">
                <a16:creationId xmlns:a16="http://schemas.microsoft.com/office/drawing/2014/main" id="{A88ED542-DEA0-4391-8A1F-30F96AD05827}"/>
              </a:ext>
            </a:extLst>
          </p:cNvPr>
          <p:cNvSpPr/>
          <p:nvPr/>
        </p:nvSpPr>
        <p:spPr>
          <a:xfrm>
            <a:off x="4588778" y="3741490"/>
            <a:ext cx="469783" cy="176169"/>
          </a:xfrm>
          <a:prstGeom prst="rect">
            <a:avLst/>
          </a:prstGeom>
          <a:noFill/>
          <a:ln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0ECECACA-46BA-4DE7-80D2-EC8BE1AF8B11}"/>
              </a:ext>
            </a:extLst>
          </p:cNvPr>
          <p:cNvSpPr/>
          <p:nvPr/>
        </p:nvSpPr>
        <p:spPr>
          <a:xfrm>
            <a:off x="5341679" y="3116289"/>
            <a:ext cx="418194" cy="176169"/>
          </a:xfrm>
          <a:prstGeom prst="rect">
            <a:avLst/>
          </a:prstGeom>
          <a:noFill/>
          <a:ln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4BA501D9-9135-4D4A-A75C-2908FC8C59CD}"/>
              </a:ext>
            </a:extLst>
          </p:cNvPr>
          <p:cNvSpPr/>
          <p:nvPr/>
        </p:nvSpPr>
        <p:spPr>
          <a:xfrm>
            <a:off x="8402217" y="3748267"/>
            <a:ext cx="418194" cy="176169"/>
          </a:xfrm>
          <a:prstGeom prst="rect">
            <a:avLst/>
          </a:prstGeom>
          <a:noFill/>
          <a:ln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D9398ED-1E4B-40F9-AFBD-A7BDDAC1C578}"/>
              </a:ext>
            </a:extLst>
          </p:cNvPr>
          <p:cNvSpPr/>
          <p:nvPr/>
        </p:nvSpPr>
        <p:spPr>
          <a:xfrm>
            <a:off x="9517952" y="3748267"/>
            <a:ext cx="418194" cy="176169"/>
          </a:xfrm>
          <a:prstGeom prst="rect">
            <a:avLst/>
          </a:prstGeom>
          <a:noFill/>
          <a:ln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39A5D74-21B3-46C1-95C4-48969A9B2AB4}"/>
              </a:ext>
            </a:extLst>
          </p:cNvPr>
          <p:cNvSpPr/>
          <p:nvPr/>
        </p:nvSpPr>
        <p:spPr>
          <a:xfrm>
            <a:off x="10566576" y="3748267"/>
            <a:ext cx="418194" cy="176169"/>
          </a:xfrm>
          <a:prstGeom prst="rect">
            <a:avLst/>
          </a:prstGeom>
          <a:noFill/>
          <a:ln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A4A46B0-EB9F-4A78-ABB0-1BE4BB875D8F}"/>
              </a:ext>
            </a:extLst>
          </p:cNvPr>
          <p:cNvSpPr txBox="1"/>
          <p:nvPr/>
        </p:nvSpPr>
        <p:spPr>
          <a:xfrm>
            <a:off x="6774934" y="4748549"/>
            <a:ext cx="55506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32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5347E04-3FE2-46DC-8D44-4C4223138B7E}"/>
              </a:ext>
            </a:extLst>
          </p:cNvPr>
          <p:cNvSpPr txBox="1"/>
          <p:nvPr/>
        </p:nvSpPr>
        <p:spPr>
          <a:xfrm>
            <a:off x="7889461" y="4748549"/>
            <a:ext cx="8694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13~14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774D0E5-7B71-4C58-82C8-1C594E04CE66}"/>
              </a:ext>
            </a:extLst>
          </p:cNvPr>
          <p:cNvSpPr txBox="1"/>
          <p:nvPr/>
        </p:nvSpPr>
        <p:spPr>
          <a:xfrm>
            <a:off x="9055530" y="4748549"/>
            <a:ext cx="55506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85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61483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0700168B-76BA-4216-A7EC-DF25A4B899BD}"/>
              </a:ext>
            </a:extLst>
          </p:cNvPr>
          <p:cNvGrpSpPr/>
          <p:nvPr/>
        </p:nvGrpSpPr>
        <p:grpSpPr>
          <a:xfrm>
            <a:off x="863102" y="639410"/>
            <a:ext cx="10407056" cy="6176021"/>
            <a:chOff x="863102" y="639410"/>
            <a:chExt cx="10407056" cy="6176021"/>
          </a:xfrm>
        </p:grpSpPr>
        <p:pic>
          <p:nvPicPr>
            <p:cNvPr id="3" name="그림 2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30" t="8589" r="949" b="5513"/>
            <a:stretch/>
          </p:blipFill>
          <p:spPr>
            <a:xfrm>
              <a:off x="863102" y="639410"/>
              <a:ext cx="10407056" cy="6176021"/>
            </a:xfrm>
            <a:prstGeom prst="rect">
              <a:avLst/>
            </a:prstGeom>
          </p:spPr>
        </p:pic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AB86A1B1-0E94-47A3-958E-B8F99A576CAB}"/>
                </a:ext>
              </a:extLst>
            </p:cNvPr>
            <p:cNvSpPr/>
            <p:nvPr/>
          </p:nvSpPr>
          <p:spPr>
            <a:xfrm>
              <a:off x="5931017" y="780176"/>
              <a:ext cx="143951" cy="602884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6E00938F-2FF2-4468-A6AE-871128E33ED8}"/>
              </a:ext>
            </a:extLst>
          </p:cNvPr>
          <p:cNvSpPr txBox="1"/>
          <p:nvPr/>
        </p:nvSpPr>
        <p:spPr>
          <a:xfrm>
            <a:off x="109057" y="3641"/>
            <a:ext cx="7998543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세계사 이슈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강력한 왕이 국가를 이끌다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63EA575-62A7-4F50-8560-66486DD36F2E}"/>
              </a:ext>
            </a:extLst>
          </p:cNvPr>
          <p:cNvGrpSpPr/>
          <p:nvPr/>
        </p:nvGrpSpPr>
        <p:grpSpPr>
          <a:xfrm>
            <a:off x="0" y="1"/>
            <a:ext cx="12201331" cy="6851339"/>
            <a:chOff x="0" y="1"/>
            <a:chExt cx="12201331" cy="685133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1313867-FA00-4F30-8C60-5E9F0D8D6998}"/>
                </a:ext>
              </a:extLst>
            </p:cNvPr>
            <p:cNvSpPr/>
            <p:nvPr/>
          </p:nvSpPr>
          <p:spPr>
            <a:xfrm>
              <a:off x="0" y="1"/>
              <a:ext cx="109057" cy="50917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7030A0"/>
                </a:solidFill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C72691C7-BB97-4D31-940D-448688A6C154}"/>
                </a:ext>
              </a:extLst>
            </p:cNvPr>
            <p:cNvCxnSpPr>
              <a:cxnSpLocks/>
            </p:cNvCxnSpPr>
            <p:nvPr/>
          </p:nvCxnSpPr>
          <p:spPr>
            <a:xfrm>
              <a:off x="2279" y="513458"/>
              <a:ext cx="12192000" cy="0"/>
            </a:xfrm>
            <a:prstGeom prst="line">
              <a:avLst/>
            </a:prstGeom>
            <a:ln w="9525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593A63-C37D-40EB-BA52-94A232F1D9B8}"/>
                </a:ext>
              </a:extLst>
            </p:cNvPr>
            <p:cNvSpPr txBox="1"/>
            <p:nvPr/>
          </p:nvSpPr>
          <p:spPr>
            <a:xfrm>
              <a:off x="9331" y="6528945"/>
              <a:ext cx="12192000" cy="280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한우리</a:t>
              </a:r>
              <a:r>
                <a:rPr lang="ko-KR" altLang="en-US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  </a:r>
              <a:r>
                <a:rPr lang="en-US" altLang="ko-KR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sk</a:t>
              </a:r>
              <a:r>
                <a:rPr lang="en-US" altLang="ko-KR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</a:t>
              </a: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논술교습소</a:t>
              </a:r>
              <a:endPara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A3A3578-3881-4BBB-A1F1-417F84AFCEA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1340"/>
              <a:ext cx="12192000" cy="0"/>
            </a:xfrm>
            <a:prstGeom prst="line">
              <a:avLst/>
            </a:prstGeom>
            <a:ln w="762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11FB145E-846A-454E-B89C-84C53F27A57D}"/>
              </a:ext>
            </a:extLst>
          </p:cNvPr>
          <p:cNvSpPr txBox="1"/>
          <p:nvPr/>
        </p:nvSpPr>
        <p:spPr>
          <a:xfrm>
            <a:off x="109056" y="551491"/>
            <a:ext cx="6289647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▶ 절대 왕정 체제의 특징과</a:t>
            </a:r>
            <a:r>
              <a:rPr lang="en-US" altLang="ko-KR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이것이 유럽 사회에 미친 영향을 알아보자</a:t>
            </a:r>
            <a:r>
              <a:rPr lang="en-US" altLang="ko-KR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CFB6D38-EA1E-4F7E-97C7-EB1B94F1BF76}"/>
              </a:ext>
            </a:extLst>
          </p:cNvPr>
          <p:cNvSpPr txBox="1"/>
          <p:nvPr/>
        </p:nvSpPr>
        <p:spPr>
          <a:xfrm>
            <a:off x="3220974" y="926254"/>
            <a:ext cx="55506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30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D29A0B4-BE0B-4A6D-A006-17E0722C9B3F}"/>
              </a:ext>
            </a:extLst>
          </p:cNvPr>
          <p:cNvSpPr txBox="1"/>
          <p:nvPr/>
        </p:nvSpPr>
        <p:spPr>
          <a:xfrm>
            <a:off x="1562147" y="1751495"/>
            <a:ext cx="55506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67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0745F70-00B8-4FAF-BC4F-25AB59EFDDF6}"/>
              </a:ext>
            </a:extLst>
          </p:cNvPr>
          <p:cNvSpPr txBox="1"/>
          <p:nvPr/>
        </p:nvSpPr>
        <p:spPr>
          <a:xfrm>
            <a:off x="-1" y="1231562"/>
            <a:ext cx="4521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국왕의 힘이 아주 막강한 체제로 절대주의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를 의미한다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왕이 모든 권력을 갖고 군대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입법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행정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조세 등 국가를 다스리는 데 필요한 핵심 기능을 직접 관리하는 전제정치</a:t>
            </a:r>
            <a:endParaRPr lang="en-US" altLang="ko-KR" sz="9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2EFB540-1A0B-4878-8734-2F8D3B8A76B0}"/>
              </a:ext>
            </a:extLst>
          </p:cNvPr>
          <p:cNvSpPr txBox="1"/>
          <p:nvPr/>
        </p:nvSpPr>
        <p:spPr>
          <a:xfrm>
            <a:off x="338901" y="3109552"/>
            <a:ext cx="139257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중세 이전 </a:t>
            </a:r>
            <a:r>
              <a:rPr lang="ko-KR" altLang="en-US" sz="8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자급자족 →</a:t>
            </a:r>
            <a:endParaRPr lang="en-US" altLang="ko-KR" sz="8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77C898CF-1E7E-49B4-B6A6-1E1BE60167F2}"/>
              </a:ext>
            </a:extLst>
          </p:cNvPr>
          <p:cNvCxnSpPr/>
          <p:nvPr/>
        </p:nvCxnSpPr>
        <p:spPr>
          <a:xfrm>
            <a:off x="1817443" y="4339171"/>
            <a:ext cx="508541" cy="0"/>
          </a:xfrm>
          <a:prstGeom prst="line">
            <a:avLst/>
          </a:prstGeom>
          <a:ln w="127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F8CD93CE-54BD-4090-BAC8-9946C9E35789}"/>
              </a:ext>
            </a:extLst>
          </p:cNvPr>
          <p:cNvCxnSpPr>
            <a:cxnSpLocks/>
          </p:cNvCxnSpPr>
          <p:nvPr/>
        </p:nvCxnSpPr>
        <p:spPr>
          <a:xfrm>
            <a:off x="1330882" y="4448228"/>
            <a:ext cx="749220" cy="0"/>
          </a:xfrm>
          <a:prstGeom prst="line">
            <a:avLst/>
          </a:prstGeom>
          <a:ln w="127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7AEAACA-E6A8-4CA5-9090-914105644FCE}"/>
              </a:ext>
            </a:extLst>
          </p:cNvPr>
          <p:cNvSpPr txBox="1"/>
          <p:nvPr/>
        </p:nvSpPr>
        <p:spPr>
          <a:xfrm>
            <a:off x="109056" y="5332635"/>
            <a:ext cx="696286" cy="246221"/>
          </a:xfrm>
          <a:prstGeom prst="rect">
            <a:avLst/>
          </a:prstGeom>
          <a:solidFill>
            <a:srgbClr val="003300"/>
          </a:solidFill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봉건 사회</a:t>
            </a:r>
            <a:endParaRPr lang="en-US" altLang="ko-KR" sz="10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E89BE938-27B7-4001-95A9-181453B34188}"/>
              </a:ext>
            </a:extLst>
          </p:cNvPr>
          <p:cNvCxnSpPr>
            <a:cxnSpLocks/>
          </p:cNvCxnSpPr>
          <p:nvPr/>
        </p:nvCxnSpPr>
        <p:spPr>
          <a:xfrm>
            <a:off x="832083" y="5436695"/>
            <a:ext cx="390048" cy="119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C292E033-22F0-4842-A215-285D3172237F}"/>
              </a:ext>
            </a:extLst>
          </p:cNvPr>
          <p:cNvSpPr txBox="1"/>
          <p:nvPr/>
        </p:nvSpPr>
        <p:spPr>
          <a:xfrm>
            <a:off x="773810" y="5510458"/>
            <a:ext cx="7265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장원 해체</a:t>
            </a:r>
            <a:endParaRPr lang="en-US" altLang="ko-KR" sz="8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상업 발달</a:t>
            </a:r>
            <a:endParaRPr lang="en-US" altLang="ko-KR" sz="8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귀족 약화</a:t>
            </a:r>
            <a:endParaRPr lang="en-US" altLang="ko-KR" sz="8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93838B18-D78E-4F5A-B8D3-4F89FEE4E094}"/>
              </a:ext>
            </a:extLst>
          </p:cNvPr>
          <p:cNvGrpSpPr/>
          <p:nvPr/>
        </p:nvGrpSpPr>
        <p:grpSpPr>
          <a:xfrm>
            <a:off x="2815504" y="5295619"/>
            <a:ext cx="2912724" cy="1169551"/>
            <a:chOff x="2893668" y="5369953"/>
            <a:chExt cx="2912724" cy="1169551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93D6A8F-9426-4D24-AA71-A264BF7A36F3}"/>
                </a:ext>
              </a:extLst>
            </p:cNvPr>
            <p:cNvSpPr txBox="1"/>
            <p:nvPr/>
          </p:nvSpPr>
          <p:spPr>
            <a:xfrm>
              <a:off x="2893668" y="5412936"/>
              <a:ext cx="1249959" cy="101566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늘어난 재정 덕분에 </a:t>
              </a:r>
              <a:r>
                <a:rPr lang="ko-KR" altLang="en-US" sz="10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관료와 상비군에게</a:t>
              </a:r>
              <a:r>
                <a:rPr lang="en-US" altLang="ko-KR" sz="10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</a:t>
              </a:r>
              <a:r>
                <a:rPr lang="ko-KR" altLang="en-US" sz="10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급여를 지급할 수 있는 자금을 확보하여 </a:t>
              </a:r>
              <a:r>
                <a:rPr lang="ko-KR" altLang="en-US" sz="10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관료제와 상비군을 유지할 수 있었다</a:t>
              </a:r>
              <a:r>
                <a:rPr lang="en-US" altLang="ko-KR" sz="10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.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DD7A9DE-3114-4018-96E2-B5B3FF8D6946}"/>
                </a:ext>
              </a:extLst>
            </p:cNvPr>
            <p:cNvSpPr txBox="1"/>
            <p:nvPr/>
          </p:nvSpPr>
          <p:spPr>
            <a:xfrm>
              <a:off x="4479614" y="5369953"/>
              <a:ext cx="1326778" cy="116955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관료가 있어서</a:t>
              </a:r>
              <a:r>
                <a:rPr lang="en-US" altLang="ko-KR" sz="10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</a:t>
              </a:r>
              <a:r>
                <a:rPr lang="ko-KR" altLang="en-US" sz="10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왕의 명령대로 일을 진행할 수 있었다</a:t>
              </a:r>
              <a:r>
                <a:rPr lang="en-US" altLang="ko-KR" sz="10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.(</a:t>
              </a:r>
              <a:r>
                <a:rPr lang="ko-KR" altLang="en-US" sz="10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직접 통치</a:t>
              </a:r>
              <a:r>
                <a:rPr lang="en-US" altLang="ko-KR" sz="10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)</a:t>
              </a:r>
            </a:p>
            <a:p>
              <a:endPara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  <a:p>
              <a:r>
                <a:rPr lang="en-US" altLang="ko-KR" sz="10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</a:t>
              </a:r>
              <a:r>
                <a:rPr lang="ko-KR" altLang="en-US" sz="10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상비군이 있어서 </a:t>
              </a:r>
              <a:r>
                <a:rPr lang="ko-KR" altLang="en-US" sz="10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지방까지 왕이 효율적으로 다스릴 수 있었다</a:t>
              </a:r>
              <a:r>
                <a:rPr lang="en-US" altLang="ko-KR" sz="10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.</a:t>
              </a:r>
            </a:p>
          </p:txBody>
        </p: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7E7C3988-83FF-488C-94BB-DA41AC4F4445}"/>
              </a:ext>
            </a:extLst>
          </p:cNvPr>
          <p:cNvSpPr/>
          <p:nvPr/>
        </p:nvSpPr>
        <p:spPr>
          <a:xfrm>
            <a:off x="1311423" y="5357873"/>
            <a:ext cx="447319" cy="196469"/>
          </a:xfrm>
          <a:prstGeom prst="rect">
            <a:avLst/>
          </a:prstGeom>
          <a:noFill/>
          <a:ln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438C7BE-3ECE-453E-84D5-4F4DD697F4DE}"/>
              </a:ext>
            </a:extLst>
          </p:cNvPr>
          <p:cNvSpPr txBox="1"/>
          <p:nvPr/>
        </p:nvSpPr>
        <p:spPr>
          <a:xfrm>
            <a:off x="1227351" y="5125705"/>
            <a:ext cx="72650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국왕 중심</a:t>
            </a:r>
            <a:endParaRPr lang="en-US" altLang="ko-KR" sz="9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91582D6-4851-402D-AD14-5BB951E887B8}"/>
              </a:ext>
            </a:extLst>
          </p:cNvPr>
          <p:cNvSpPr txBox="1"/>
          <p:nvPr/>
        </p:nvSpPr>
        <p:spPr>
          <a:xfrm>
            <a:off x="9243921" y="2849234"/>
            <a:ext cx="51054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폴란드</a:t>
            </a:r>
            <a:endParaRPr lang="en-US" altLang="ko-KR" sz="7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93B804B-1333-4CF9-BD9C-93F0CB456538}"/>
              </a:ext>
            </a:extLst>
          </p:cNvPr>
          <p:cNvSpPr txBox="1"/>
          <p:nvPr/>
        </p:nvSpPr>
        <p:spPr>
          <a:xfrm>
            <a:off x="8363767" y="2757124"/>
            <a:ext cx="57050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네덜란</a:t>
            </a:r>
            <a:r>
              <a:rPr lang="ko-KR" altLang="en-US" sz="8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드</a:t>
            </a:r>
            <a:endParaRPr lang="en-US" altLang="ko-KR" sz="8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D5AF406-995D-41FC-B034-6762CD61BD0A}"/>
              </a:ext>
            </a:extLst>
          </p:cNvPr>
          <p:cNvSpPr txBox="1"/>
          <p:nvPr/>
        </p:nvSpPr>
        <p:spPr>
          <a:xfrm>
            <a:off x="8271489" y="2890755"/>
            <a:ext cx="57050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벨기에</a:t>
            </a:r>
            <a:endParaRPr lang="en-US" altLang="ko-KR" sz="7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DE38030-F576-41B4-9D19-04893BF01735}"/>
              </a:ext>
            </a:extLst>
          </p:cNvPr>
          <p:cNvSpPr txBox="1"/>
          <p:nvPr/>
        </p:nvSpPr>
        <p:spPr>
          <a:xfrm>
            <a:off x="8497991" y="3352149"/>
            <a:ext cx="57050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스위스</a:t>
            </a:r>
            <a:endParaRPr lang="en-US" altLang="ko-KR" sz="7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EE018C4-AA5E-4E3A-8F77-28F6EC0DB01B}"/>
              </a:ext>
            </a:extLst>
          </p:cNvPr>
          <p:cNvSpPr txBox="1"/>
          <p:nvPr/>
        </p:nvSpPr>
        <p:spPr>
          <a:xfrm>
            <a:off x="8744540" y="3566682"/>
            <a:ext cx="5705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이탈</a:t>
            </a:r>
            <a:endParaRPr lang="en-US" altLang="ko-KR" sz="7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7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리아</a:t>
            </a:r>
            <a:endParaRPr lang="en-US" altLang="ko-KR" sz="7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81570F5-C9C9-4146-AD1A-F3C83EB4A989}"/>
              </a:ext>
            </a:extLst>
          </p:cNvPr>
          <p:cNvSpPr txBox="1"/>
          <p:nvPr/>
        </p:nvSpPr>
        <p:spPr>
          <a:xfrm>
            <a:off x="8927069" y="2764920"/>
            <a:ext cx="51054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독일</a:t>
            </a:r>
            <a:endParaRPr lang="en-US" altLang="ko-KR" sz="7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grpSp>
        <p:nvGrpSpPr>
          <p:cNvPr id="96" name="그룹 95">
            <a:extLst>
              <a:ext uri="{FF2B5EF4-FFF2-40B4-BE49-F238E27FC236}">
                <a16:creationId xmlns:a16="http://schemas.microsoft.com/office/drawing/2014/main" id="{C9817D47-685A-44F9-B86F-F9482CBEAEAF}"/>
              </a:ext>
            </a:extLst>
          </p:cNvPr>
          <p:cNvGrpSpPr/>
          <p:nvPr/>
        </p:nvGrpSpPr>
        <p:grpSpPr>
          <a:xfrm>
            <a:off x="6152530" y="1396449"/>
            <a:ext cx="240015" cy="2856769"/>
            <a:chOff x="6342022" y="1522284"/>
            <a:chExt cx="176225" cy="2856769"/>
          </a:xfrm>
        </p:grpSpPr>
        <p:cxnSp>
          <p:nvCxnSpPr>
            <p:cNvPr id="84" name="직선 연결선 83">
              <a:extLst>
                <a:ext uri="{FF2B5EF4-FFF2-40B4-BE49-F238E27FC236}">
                  <a16:creationId xmlns:a16="http://schemas.microsoft.com/office/drawing/2014/main" id="{B9D19A81-127C-48F4-9BFC-A7B21B7679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42022" y="4379053"/>
              <a:ext cx="176225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7" name="직선 연결선 86">
              <a:extLst>
                <a:ext uri="{FF2B5EF4-FFF2-40B4-BE49-F238E27FC236}">
                  <a16:creationId xmlns:a16="http://schemas.microsoft.com/office/drawing/2014/main" id="{E6E399B7-9B85-46A7-ACB6-A5E4DE8AB6FB}"/>
                </a:ext>
              </a:extLst>
            </p:cNvPr>
            <p:cNvCxnSpPr>
              <a:cxnSpLocks/>
            </p:cNvCxnSpPr>
            <p:nvPr/>
          </p:nvCxnSpPr>
          <p:spPr>
            <a:xfrm>
              <a:off x="6342022" y="1522284"/>
              <a:ext cx="0" cy="2856769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5" name="직선 화살표 연결선 94">
              <a:extLst>
                <a:ext uri="{FF2B5EF4-FFF2-40B4-BE49-F238E27FC236}">
                  <a16:creationId xmlns:a16="http://schemas.microsoft.com/office/drawing/2014/main" id="{B341EDCA-CE8D-40F0-9B70-902EC2D1468B}"/>
                </a:ext>
              </a:extLst>
            </p:cNvPr>
            <p:cNvCxnSpPr/>
            <p:nvPr/>
          </p:nvCxnSpPr>
          <p:spPr>
            <a:xfrm>
              <a:off x="6342022" y="1522284"/>
              <a:ext cx="17622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1B3FA902-89DA-425A-BC34-07A468D5D726}"/>
              </a:ext>
            </a:extLst>
          </p:cNvPr>
          <p:cNvGrpSpPr/>
          <p:nvPr/>
        </p:nvGrpSpPr>
        <p:grpSpPr>
          <a:xfrm>
            <a:off x="11026420" y="1396449"/>
            <a:ext cx="558720" cy="3017520"/>
            <a:chOff x="11171200" y="1522284"/>
            <a:chExt cx="376074" cy="3017520"/>
          </a:xfrm>
        </p:grpSpPr>
        <p:cxnSp>
          <p:nvCxnSpPr>
            <p:cNvPr id="99" name="직선 연결선 98">
              <a:extLst>
                <a:ext uri="{FF2B5EF4-FFF2-40B4-BE49-F238E27FC236}">
                  <a16:creationId xmlns:a16="http://schemas.microsoft.com/office/drawing/2014/main" id="{6F52B917-EB5E-4829-8637-6F3B6896DF88}"/>
                </a:ext>
              </a:extLst>
            </p:cNvPr>
            <p:cNvCxnSpPr>
              <a:cxnSpLocks/>
            </p:cNvCxnSpPr>
            <p:nvPr/>
          </p:nvCxnSpPr>
          <p:spPr>
            <a:xfrm>
              <a:off x="11547274" y="1522284"/>
              <a:ext cx="0" cy="301752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00" name="직선 화살표 연결선 99">
              <a:extLst>
                <a:ext uri="{FF2B5EF4-FFF2-40B4-BE49-F238E27FC236}">
                  <a16:creationId xmlns:a16="http://schemas.microsoft.com/office/drawing/2014/main" id="{5F1376D2-355C-4646-8B47-C62DB99DEECC}"/>
                </a:ext>
              </a:extLst>
            </p:cNvPr>
            <p:cNvCxnSpPr/>
            <p:nvPr/>
          </p:nvCxnSpPr>
          <p:spPr>
            <a:xfrm flipH="1">
              <a:off x="11171200" y="1522284"/>
              <a:ext cx="37607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01" name="직선 화살표 연결선 100">
              <a:extLst>
                <a:ext uri="{FF2B5EF4-FFF2-40B4-BE49-F238E27FC236}">
                  <a16:creationId xmlns:a16="http://schemas.microsoft.com/office/drawing/2014/main" id="{3812680A-17CF-4023-B559-6CF80A3FE04E}"/>
                </a:ext>
              </a:extLst>
            </p:cNvPr>
            <p:cNvCxnSpPr/>
            <p:nvPr/>
          </p:nvCxnSpPr>
          <p:spPr>
            <a:xfrm flipH="1">
              <a:off x="11171200" y="4539804"/>
              <a:ext cx="37607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09" name="TextBox 108">
            <a:extLst>
              <a:ext uri="{FF2B5EF4-FFF2-40B4-BE49-F238E27FC236}">
                <a16:creationId xmlns:a16="http://schemas.microsoft.com/office/drawing/2014/main" id="{B1BEEFFC-97ED-480D-8B94-19B10221078B}"/>
              </a:ext>
            </a:extLst>
          </p:cNvPr>
          <p:cNvSpPr txBox="1"/>
          <p:nvPr/>
        </p:nvSpPr>
        <p:spPr>
          <a:xfrm>
            <a:off x="6261267" y="3941169"/>
            <a:ext cx="3925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①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96459293-B0A5-400A-92B8-8C3BFFDC5187}"/>
              </a:ext>
            </a:extLst>
          </p:cNvPr>
          <p:cNvSpPr txBox="1"/>
          <p:nvPr/>
        </p:nvSpPr>
        <p:spPr>
          <a:xfrm>
            <a:off x="6277807" y="1045207"/>
            <a:ext cx="3925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②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6D08E42F-098A-4E24-BB80-1957198A11A2}"/>
              </a:ext>
            </a:extLst>
          </p:cNvPr>
          <p:cNvSpPr txBox="1"/>
          <p:nvPr/>
        </p:nvSpPr>
        <p:spPr>
          <a:xfrm>
            <a:off x="6261267" y="2016828"/>
            <a:ext cx="3925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③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64E71968-F108-4D40-B92C-3C6786EC8D30}"/>
              </a:ext>
            </a:extLst>
          </p:cNvPr>
          <p:cNvSpPr txBox="1"/>
          <p:nvPr/>
        </p:nvSpPr>
        <p:spPr>
          <a:xfrm>
            <a:off x="10899817" y="1007560"/>
            <a:ext cx="3925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④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DBA113B6-5756-43A0-A626-8C4C4A1CC1BB}"/>
              </a:ext>
            </a:extLst>
          </p:cNvPr>
          <p:cNvSpPr txBox="1"/>
          <p:nvPr/>
        </p:nvSpPr>
        <p:spPr>
          <a:xfrm>
            <a:off x="10899817" y="2620282"/>
            <a:ext cx="3925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⑤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3D33B0F7-689E-4FC9-815F-1F0FB29BBEAB}"/>
              </a:ext>
            </a:extLst>
          </p:cNvPr>
          <p:cNvSpPr txBox="1"/>
          <p:nvPr/>
        </p:nvSpPr>
        <p:spPr>
          <a:xfrm>
            <a:off x="9319739" y="2630543"/>
            <a:ext cx="1016125" cy="215444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신성로마제국 붕괴</a:t>
            </a:r>
            <a:endParaRPr lang="en-US" altLang="ko-KR" sz="8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grpSp>
        <p:nvGrpSpPr>
          <p:cNvPr id="122" name="그룹 121">
            <a:extLst>
              <a:ext uri="{FF2B5EF4-FFF2-40B4-BE49-F238E27FC236}">
                <a16:creationId xmlns:a16="http://schemas.microsoft.com/office/drawing/2014/main" id="{D4179918-ABC9-43A9-96E9-1C17CD2FC2C5}"/>
              </a:ext>
            </a:extLst>
          </p:cNvPr>
          <p:cNvGrpSpPr/>
          <p:nvPr/>
        </p:nvGrpSpPr>
        <p:grpSpPr>
          <a:xfrm>
            <a:off x="6512113" y="926254"/>
            <a:ext cx="5459516" cy="4460812"/>
            <a:chOff x="6512113" y="1052089"/>
            <a:chExt cx="5459516" cy="4460812"/>
          </a:xfrm>
        </p:grpSpPr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F9C34B63-16AC-4571-ACC1-ACD436300AFF}"/>
                </a:ext>
              </a:extLst>
            </p:cNvPr>
            <p:cNvSpPr txBox="1"/>
            <p:nvPr/>
          </p:nvSpPr>
          <p:spPr>
            <a:xfrm>
              <a:off x="6788715" y="1323676"/>
              <a:ext cx="2441796" cy="24622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7030A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엘리자베스 </a:t>
              </a:r>
              <a:r>
                <a:rPr lang="en-US" altLang="ko-KR" sz="10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1</a:t>
              </a:r>
              <a:r>
                <a:rPr lang="ko-KR" altLang="en-US" sz="10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세 </a:t>
              </a:r>
              <a:r>
                <a:rPr lang="ko-KR" altLang="en-US" sz="8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←메리</a:t>
              </a:r>
              <a:r>
                <a:rPr lang="en-US" altLang="ko-KR" sz="8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1</a:t>
              </a:r>
              <a:r>
                <a:rPr lang="ko-KR" altLang="en-US" sz="8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세 ←헨리</a:t>
              </a:r>
              <a:r>
                <a:rPr lang="en-US" altLang="ko-KR" sz="8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8</a:t>
              </a:r>
              <a:r>
                <a:rPr lang="ko-KR" altLang="en-US" sz="8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세 ←장미전쟁</a:t>
              </a:r>
              <a:endPara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82919FA7-3445-471B-BC1E-E1ACED5115A0}"/>
                </a:ext>
              </a:extLst>
            </p:cNvPr>
            <p:cNvSpPr txBox="1"/>
            <p:nvPr/>
          </p:nvSpPr>
          <p:spPr>
            <a:xfrm>
              <a:off x="6788716" y="2372300"/>
              <a:ext cx="2112002" cy="24622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7030A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루이 </a:t>
              </a:r>
              <a:r>
                <a:rPr lang="en-US" altLang="ko-KR" sz="10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14</a:t>
              </a:r>
              <a:r>
                <a:rPr lang="ko-KR" altLang="en-US" sz="10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세</a:t>
              </a:r>
              <a:r>
                <a:rPr lang="ko-KR" altLang="en-US" sz="10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</a:t>
              </a:r>
              <a:r>
                <a:rPr lang="ko-KR" altLang="en-US" sz="8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←루이</a:t>
              </a:r>
              <a:r>
                <a:rPr lang="en-US" altLang="ko-KR" sz="8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13</a:t>
              </a:r>
              <a:r>
                <a:rPr lang="ko-KR" altLang="en-US" sz="8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세 ←앙리</a:t>
              </a:r>
              <a:r>
                <a:rPr lang="en-US" altLang="ko-KR" sz="8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4</a:t>
              </a:r>
              <a:r>
                <a:rPr lang="ko-KR" altLang="en-US" sz="8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세</a:t>
              </a:r>
              <a:r>
                <a:rPr lang="en-US" altLang="ko-KR" sz="8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(</a:t>
              </a:r>
              <a:r>
                <a:rPr lang="ko-KR" altLang="en-US" sz="8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위그노</a:t>
              </a:r>
              <a:r>
                <a:rPr lang="en-US" altLang="ko-KR" sz="8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)</a:t>
              </a:r>
              <a:endParaRPr lang="en-US" altLang="ko-KR" sz="8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4A4E29CE-43AB-461B-BA95-266D53DB84E8}"/>
                </a:ext>
              </a:extLst>
            </p:cNvPr>
            <p:cNvSpPr txBox="1"/>
            <p:nvPr/>
          </p:nvSpPr>
          <p:spPr>
            <a:xfrm>
              <a:off x="6788716" y="4268212"/>
              <a:ext cx="2112002" cy="24622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7030A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000" dirty="0" err="1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펠리페</a:t>
              </a:r>
              <a:r>
                <a:rPr lang="ko-KR" altLang="en-US" sz="10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</a:t>
              </a:r>
              <a:r>
                <a:rPr lang="en-US" altLang="ko-KR" sz="10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2</a:t>
              </a:r>
              <a:r>
                <a:rPr lang="ko-KR" altLang="en-US" sz="10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세</a:t>
              </a:r>
              <a:r>
                <a:rPr lang="ko-KR" altLang="en-US" sz="10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</a:t>
              </a:r>
              <a:r>
                <a:rPr lang="ko-KR" altLang="en-US" sz="8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←카를로스 </a:t>
              </a:r>
              <a:r>
                <a:rPr lang="en-US" altLang="ko-KR" sz="8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1</a:t>
              </a:r>
              <a:r>
                <a:rPr lang="ko-KR" altLang="en-US" sz="8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세</a:t>
              </a:r>
              <a:r>
                <a:rPr lang="en-US" altLang="ko-KR" sz="8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(</a:t>
              </a:r>
              <a:r>
                <a:rPr lang="ko-KR" altLang="en-US" sz="8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절대왕정 시대</a:t>
              </a:r>
              <a:r>
                <a:rPr lang="en-US" altLang="ko-KR" sz="8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)</a:t>
              </a:r>
              <a:endParaRPr lang="en-US" altLang="ko-KR" sz="8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6D50AF11-B014-4D2A-B37F-D556576D6DB5}"/>
                </a:ext>
              </a:extLst>
            </p:cNvPr>
            <p:cNvSpPr txBox="1"/>
            <p:nvPr/>
          </p:nvSpPr>
          <p:spPr>
            <a:xfrm>
              <a:off x="9301202" y="1052089"/>
              <a:ext cx="1359013" cy="52322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7030A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8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  프리드리히 빌헬름</a:t>
              </a:r>
              <a:r>
                <a:rPr lang="en-US" altLang="ko-KR" sz="8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(</a:t>
              </a:r>
              <a:r>
                <a:rPr lang="ko-KR" altLang="en-US" sz="8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군대</a:t>
              </a:r>
              <a:r>
                <a:rPr lang="en-US" altLang="ko-KR" sz="8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)</a:t>
              </a:r>
            </a:p>
            <a:p>
              <a:r>
                <a:rPr lang="ko-KR" altLang="en-US" sz="8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→프리드리히 </a:t>
              </a:r>
              <a:r>
                <a:rPr lang="en-US" altLang="ko-KR" sz="8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1</a:t>
              </a:r>
              <a:r>
                <a:rPr lang="ko-KR" altLang="en-US" sz="8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세</a:t>
              </a:r>
              <a:r>
                <a:rPr lang="en-US" altLang="ko-KR" sz="8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(</a:t>
              </a:r>
              <a:r>
                <a:rPr lang="ko-KR" altLang="en-US" sz="8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군대</a:t>
              </a:r>
              <a:r>
                <a:rPr lang="en-US" altLang="ko-KR" sz="8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,</a:t>
              </a:r>
              <a:r>
                <a:rPr lang="ko-KR" altLang="en-US" sz="8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국고</a:t>
              </a:r>
              <a:r>
                <a:rPr lang="en-US" altLang="ko-KR" sz="8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)</a:t>
              </a:r>
              <a:r>
                <a:rPr lang="ko-KR" altLang="en-US" sz="10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</a:t>
              </a:r>
              <a:r>
                <a:rPr lang="ko-KR" altLang="en-US" sz="8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→</a:t>
              </a:r>
              <a:r>
                <a:rPr lang="ko-KR" altLang="en-US" sz="10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프리드리히 </a:t>
              </a:r>
              <a:r>
                <a:rPr lang="en-US" altLang="ko-KR" sz="10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2</a:t>
              </a:r>
              <a:r>
                <a:rPr lang="ko-KR" altLang="en-US" sz="10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세</a:t>
              </a:r>
              <a:endPara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2E49F3B3-C2C9-4EB6-AEDF-8464B319F154}"/>
                </a:ext>
              </a:extLst>
            </p:cNvPr>
            <p:cNvSpPr txBox="1"/>
            <p:nvPr/>
          </p:nvSpPr>
          <p:spPr>
            <a:xfrm>
              <a:off x="9590063" y="3026641"/>
              <a:ext cx="1569912" cy="24622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7030A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표트르 </a:t>
              </a:r>
              <a:r>
                <a:rPr lang="ko-KR" altLang="en-US" sz="1000" dirty="0" err="1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대제</a:t>
              </a:r>
              <a:r>
                <a:rPr lang="ko-KR" altLang="en-US" sz="800" dirty="0" err="1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→예카테리나</a:t>
              </a:r>
              <a:r>
                <a:rPr lang="ko-KR" altLang="en-US" sz="8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</a:t>
              </a:r>
              <a:r>
                <a:rPr lang="en-US" altLang="ko-KR" sz="8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2</a:t>
              </a:r>
              <a:r>
                <a:rPr lang="ko-KR" altLang="en-US" sz="8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세</a:t>
              </a:r>
              <a:endPara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513B1415-504A-4F9D-8B3B-C6A62B6D4FF5}"/>
                </a:ext>
              </a:extLst>
            </p:cNvPr>
            <p:cNvSpPr txBox="1"/>
            <p:nvPr/>
          </p:nvSpPr>
          <p:spPr>
            <a:xfrm>
              <a:off x="7058483" y="1758925"/>
              <a:ext cx="68455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무적함대</a:t>
              </a:r>
              <a:endPara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A236899A-3513-4C35-A4C6-ED802D50AD71}"/>
                </a:ext>
              </a:extLst>
            </p:cNvPr>
            <p:cNvSpPr txBox="1"/>
            <p:nvPr/>
          </p:nvSpPr>
          <p:spPr>
            <a:xfrm>
              <a:off x="6639033" y="3369611"/>
              <a:ext cx="96978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베르사유 궁전</a:t>
              </a:r>
              <a:endPara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210B3705-9EE7-49D7-B7BD-1EAB0CB7766F}"/>
                </a:ext>
              </a:extLst>
            </p:cNvPr>
            <p:cNvSpPr txBox="1"/>
            <p:nvPr/>
          </p:nvSpPr>
          <p:spPr>
            <a:xfrm>
              <a:off x="9675848" y="3470279"/>
              <a:ext cx="116272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                          </a:t>
              </a:r>
              <a:r>
                <a:rPr lang="ko-KR" altLang="en-US" sz="10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서유럽</a:t>
              </a:r>
              <a:endPara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C5AF57B0-DCA7-4897-88E4-E221250928A3}"/>
                </a:ext>
              </a:extLst>
            </p:cNvPr>
            <p:cNvSpPr txBox="1"/>
            <p:nvPr/>
          </p:nvSpPr>
          <p:spPr>
            <a:xfrm>
              <a:off x="6529279" y="2053720"/>
              <a:ext cx="151120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>
                  <a:solidFill>
                    <a:srgbClr val="FF505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[</a:t>
              </a:r>
              <a:r>
                <a:rPr lang="ko-KR" altLang="en-US" sz="800" dirty="0">
                  <a:solidFill>
                    <a:srgbClr val="FF505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세계 최고의 해상 국가 발전</a:t>
              </a:r>
              <a:r>
                <a:rPr lang="en-US" altLang="ko-KR" sz="800" dirty="0">
                  <a:solidFill>
                    <a:srgbClr val="FF505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]</a:t>
              </a: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5B59189E-F73C-4614-829B-3497268A02A0}"/>
                </a:ext>
              </a:extLst>
            </p:cNvPr>
            <p:cNvSpPr txBox="1"/>
            <p:nvPr/>
          </p:nvSpPr>
          <p:spPr>
            <a:xfrm>
              <a:off x="9868098" y="2213110"/>
              <a:ext cx="151120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>
                  <a:solidFill>
                    <a:srgbClr val="FF505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[</a:t>
              </a:r>
              <a:r>
                <a:rPr lang="ko-KR" altLang="en-US" sz="800" dirty="0">
                  <a:solidFill>
                    <a:srgbClr val="FF505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계몽주의 영향</a:t>
              </a:r>
              <a:r>
                <a:rPr lang="en-US" altLang="ko-KR" sz="800" dirty="0">
                  <a:solidFill>
                    <a:srgbClr val="FF505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]</a:t>
              </a: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5AD85AAC-0901-42A8-8E02-058DE98A0FAA}"/>
                </a:ext>
              </a:extLst>
            </p:cNvPr>
            <p:cNvSpPr txBox="1"/>
            <p:nvPr/>
          </p:nvSpPr>
          <p:spPr>
            <a:xfrm>
              <a:off x="6586386" y="3696098"/>
              <a:ext cx="151120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>
                  <a:solidFill>
                    <a:srgbClr val="FF505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[</a:t>
              </a:r>
              <a:r>
                <a:rPr lang="ko-KR" altLang="en-US" sz="800" dirty="0">
                  <a:solidFill>
                    <a:srgbClr val="FF505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왕권 신수설</a:t>
              </a:r>
              <a:r>
                <a:rPr lang="en-US" altLang="ko-KR" sz="800" dirty="0">
                  <a:solidFill>
                    <a:srgbClr val="FF505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]</a:t>
              </a:r>
            </a:p>
            <a:p>
              <a:r>
                <a:rPr lang="ko-KR" altLang="en-US" sz="800" dirty="0" err="1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낭트</a:t>
              </a:r>
              <a:r>
                <a:rPr lang="ko-KR" altLang="en-US" sz="8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칙령 폐지 후</a:t>
              </a:r>
              <a:endPara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  <a:p>
              <a:r>
                <a:rPr lang="ko-KR" altLang="en-US" sz="8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상인 떠나 국력 약화</a:t>
              </a:r>
              <a:endPara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B34F9F87-D597-4861-B0A4-B926FACEA04A}"/>
                </a:ext>
              </a:extLst>
            </p:cNvPr>
            <p:cNvSpPr txBox="1"/>
            <p:nvPr/>
          </p:nvSpPr>
          <p:spPr>
            <a:xfrm>
              <a:off x="6512113" y="5297457"/>
              <a:ext cx="151120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>
                  <a:solidFill>
                    <a:srgbClr val="FF505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[</a:t>
              </a:r>
              <a:r>
                <a:rPr lang="ko-KR" altLang="en-US" sz="800" dirty="0">
                  <a:solidFill>
                    <a:srgbClr val="FF505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오스만 공격</a:t>
              </a:r>
              <a:r>
                <a:rPr lang="en-US" altLang="ko-KR" sz="800" dirty="0">
                  <a:solidFill>
                    <a:srgbClr val="FF505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,</a:t>
              </a:r>
              <a:r>
                <a:rPr lang="ko-KR" altLang="en-US" sz="800" dirty="0">
                  <a:solidFill>
                    <a:srgbClr val="FF505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지중해 장악</a:t>
              </a:r>
              <a:r>
                <a:rPr lang="en-US" altLang="ko-KR" sz="800" dirty="0">
                  <a:solidFill>
                    <a:srgbClr val="FF505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]</a:t>
              </a: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21DCCED5-5B67-43FE-BADE-BB1293680898}"/>
                </a:ext>
              </a:extLst>
            </p:cNvPr>
            <p:cNvSpPr txBox="1"/>
            <p:nvPr/>
          </p:nvSpPr>
          <p:spPr>
            <a:xfrm>
              <a:off x="11286377" y="2618521"/>
              <a:ext cx="685252" cy="7848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dirty="0">
                  <a:solidFill>
                    <a:srgbClr val="FF505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[7</a:t>
              </a:r>
              <a:r>
                <a:rPr lang="ko-KR" altLang="en-US" sz="900" dirty="0">
                  <a:solidFill>
                    <a:srgbClr val="FF505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년 전쟁</a:t>
              </a:r>
              <a:r>
                <a:rPr lang="en-US" altLang="ko-KR" sz="900" dirty="0">
                  <a:solidFill>
                    <a:srgbClr val="FF505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]</a:t>
              </a:r>
            </a:p>
            <a:p>
              <a:endPara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  <a:p>
              <a:r>
                <a:rPr lang="ko-KR" altLang="en-US" sz="9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왕위 계승 문제로 주변국 전쟁</a:t>
              </a:r>
              <a:endPara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C12890C5-5E16-4C05-AEAC-7BCB9BF3C642}"/>
                </a:ext>
              </a:extLst>
            </p:cNvPr>
            <p:cNvSpPr txBox="1"/>
            <p:nvPr/>
          </p:nvSpPr>
          <p:spPr>
            <a:xfrm>
              <a:off x="7821285" y="4595728"/>
              <a:ext cx="93504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[</a:t>
              </a:r>
              <a:r>
                <a:rPr lang="ko-KR" altLang="en-US" sz="8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네덜란드 독립</a:t>
              </a:r>
              <a:r>
                <a:rPr lang="en-US" altLang="ko-KR" sz="8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]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8C9AD4C4-91FF-496F-9A4B-D92F2D143010}"/>
                </a:ext>
              </a:extLst>
            </p:cNvPr>
            <p:cNvSpPr txBox="1"/>
            <p:nvPr/>
          </p:nvSpPr>
          <p:spPr>
            <a:xfrm>
              <a:off x="9171933" y="4437421"/>
              <a:ext cx="1511206" cy="24622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7030A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8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카를 </a:t>
              </a:r>
              <a:r>
                <a:rPr lang="en-US" altLang="ko-KR" sz="8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6</a:t>
              </a:r>
              <a:r>
                <a:rPr lang="ko-KR" altLang="en-US" sz="800" dirty="0" err="1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세→</a:t>
              </a:r>
              <a:r>
                <a:rPr lang="ko-KR" altLang="en-US" sz="1000" dirty="0" err="1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마지아</a:t>
              </a:r>
              <a:r>
                <a:rPr lang="ko-KR" altLang="en-US" sz="10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</a:t>
              </a:r>
              <a:r>
                <a:rPr lang="ko-KR" altLang="en-US" sz="1000" dirty="0" err="1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테레지아</a:t>
              </a:r>
              <a:endPara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8A6D1889-ADC1-4212-BC3C-257ED7E3E4B6}"/>
                </a:ext>
              </a:extLst>
            </p:cNvPr>
            <p:cNvSpPr txBox="1"/>
            <p:nvPr/>
          </p:nvSpPr>
          <p:spPr>
            <a:xfrm>
              <a:off x="10375019" y="3973116"/>
              <a:ext cx="107247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>
                  <a:solidFill>
                    <a:srgbClr val="FF505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[</a:t>
              </a:r>
              <a:r>
                <a:rPr lang="ko-KR" altLang="en-US" sz="800" dirty="0">
                  <a:solidFill>
                    <a:srgbClr val="FF505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스웨덴과의 전쟁</a:t>
              </a:r>
              <a:r>
                <a:rPr lang="en-US" altLang="ko-KR" sz="800" dirty="0">
                  <a:solidFill>
                    <a:srgbClr val="FF505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]</a:t>
              </a:r>
            </a:p>
          </p:txBody>
        </p:sp>
      </p:grp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C09BF019-0284-4216-B7CC-74DCD74199E8}"/>
              </a:ext>
            </a:extLst>
          </p:cNvPr>
          <p:cNvCxnSpPr/>
          <p:nvPr/>
        </p:nvCxnSpPr>
        <p:spPr>
          <a:xfrm>
            <a:off x="9331746" y="5238609"/>
            <a:ext cx="508541" cy="0"/>
          </a:xfrm>
          <a:prstGeom prst="line">
            <a:avLst/>
          </a:prstGeom>
          <a:ln w="127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B5CA5564-7F8F-478A-9BC2-F2EB035E890B}"/>
              </a:ext>
            </a:extLst>
          </p:cNvPr>
          <p:cNvCxnSpPr/>
          <p:nvPr/>
        </p:nvCxnSpPr>
        <p:spPr>
          <a:xfrm>
            <a:off x="9960920" y="5238609"/>
            <a:ext cx="508541" cy="0"/>
          </a:xfrm>
          <a:prstGeom prst="line">
            <a:avLst/>
          </a:prstGeom>
          <a:ln w="127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52338BDD-0DB5-4EFC-B9E0-EDCDA19A8E2E}"/>
              </a:ext>
            </a:extLst>
          </p:cNvPr>
          <p:cNvSpPr txBox="1"/>
          <p:nvPr/>
        </p:nvSpPr>
        <p:spPr>
          <a:xfrm>
            <a:off x="9197729" y="5185010"/>
            <a:ext cx="2970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상공업 발달 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vs  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농노제 기반 농업 경제로 </a:t>
            </a:r>
            <a:endParaRPr lang="en-US" altLang="ko-KR" sz="9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                          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서유럽에 자극을 받아 절대 왕정 수립</a:t>
            </a:r>
            <a:endParaRPr lang="en-US" altLang="ko-KR" sz="9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grpSp>
        <p:nvGrpSpPr>
          <p:cNvPr id="128" name="그룹 127">
            <a:extLst>
              <a:ext uri="{FF2B5EF4-FFF2-40B4-BE49-F238E27FC236}">
                <a16:creationId xmlns:a16="http://schemas.microsoft.com/office/drawing/2014/main" id="{F8155993-EFF3-498E-A121-92F1B8E99D93}"/>
              </a:ext>
            </a:extLst>
          </p:cNvPr>
          <p:cNvGrpSpPr/>
          <p:nvPr/>
        </p:nvGrpSpPr>
        <p:grpSpPr>
          <a:xfrm>
            <a:off x="5700506" y="5907396"/>
            <a:ext cx="5454629" cy="858237"/>
            <a:chOff x="5700506" y="5907396"/>
            <a:chExt cx="5454629" cy="858237"/>
          </a:xfrm>
        </p:grpSpPr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45BD20A6-17DC-4011-8183-5F14B7C85EB7}"/>
                </a:ext>
              </a:extLst>
            </p:cNvPr>
            <p:cNvSpPr txBox="1"/>
            <p:nvPr/>
          </p:nvSpPr>
          <p:spPr>
            <a:xfrm>
              <a:off x="5700506" y="6224246"/>
              <a:ext cx="190830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                               </a:t>
              </a:r>
              <a:r>
                <a:rPr lang="ko-KR" altLang="en-US" sz="9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봉건 영주가 통치하던 지방 분권적 통치 방식이 </a:t>
              </a:r>
              <a:r>
                <a:rPr lang="ko-KR" altLang="en-US" sz="9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관료를 통한 강력한 직접 통치로 바뀌었다</a:t>
              </a:r>
              <a:r>
                <a:rPr lang="en-US" altLang="ko-KR" sz="9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.</a:t>
              </a: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BC4DE5D0-F662-4D95-8AD1-B1E732F51A62}"/>
                </a:ext>
              </a:extLst>
            </p:cNvPr>
            <p:cNvSpPr txBox="1"/>
            <p:nvPr/>
          </p:nvSpPr>
          <p:spPr>
            <a:xfrm>
              <a:off x="7523583" y="6224246"/>
              <a:ext cx="1266728" cy="4770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                 </a:t>
              </a:r>
              <a:r>
                <a:rPr lang="ko-KR" altLang="en-US" sz="9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상공업 중심의 도시 경재로 변했다</a:t>
              </a:r>
              <a:r>
                <a:rPr lang="en-US" altLang="ko-KR" sz="9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.</a:t>
              </a:r>
            </a:p>
            <a:p>
              <a:r>
                <a:rPr lang="en-US" altLang="ko-KR" sz="7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(</a:t>
              </a:r>
              <a:r>
                <a:rPr lang="ko-KR" altLang="en-US" sz="7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개인주의</a:t>
              </a:r>
              <a:r>
                <a:rPr lang="en-US" altLang="ko-KR" sz="7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, </a:t>
              </a:r>
              <a:r>
                <a:rPr lang="ko-KR" altLang="en-US" sz="7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도시의 부랑자↑</a:t>
              </a:r>
              <a:r>
                <a:rPr lang="en-US" altLang="ko-KR" sz="7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)</a:t>
              </a: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A48AD0E9-FEF6-48A3-B1D8-A632320F3B14}"/>
                </a:ext>
              </a:extLst>
            </p:cNvPr>
            <p:cNvSpPr txBox="1"/>
            <p:nvPr/>
          </p:nvSpPr>
          <p:spPr>
            <a:xfrm>
              <a:off x="8714819" y="6257802"/>
              <a:ext cx="1220958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                       </a:t>
              </a:r>
              <a:r>
                <a:rPr lang="ko-KR" altLang="en-US" sz="9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이에 반발하여 세력을 모아 </a:t>
              </a:r>
              <a:r>
                <a:rPr lang="ko-KR" altLang="en-US" sz="9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반란을 일으키기도 했다</a:t>
              </a:r>
              <a:r>
                <a:rPr lang="en-US" altLang="ko-KR" sz="9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.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A0A01370-F818-4011-810A-2564A41BD2EC}"/>
                </a:ext>
              </a:extLst>
            </p:cNvPr>
            <p:cNvSpPr txBox="1"/>
            <p:nvPr/>
          </p:nvSpPr>
          <p:spPr>
            <a:xfrm>
              <a:off x="9872498" y="5907396"/>
              <a:ext cx="1282637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                     </a:t>
              </a:r>
              <a:r>
                <a:rPr lang="ko-KR" altLang="en-US" sz="9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존재했고</a:t>
              </a:r>
              <a:r>
                <a:rPr lang="en-US" altLang="ko-KR" sz="9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, </a:t>
              </a:r>
              <a:r>
                <a:rPr lang="ko-KR" altLang="en-US" sz="9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일반 국민에게는 참정권이 주어지지 않았다</a:t>
              </a:r>
              <a:r>
                <a:rPr lang="en-US" altLang="ko-KR" sz="9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.</a:t>
              </a:r>
            </a:p>
          </p:txBody>
        </p:sp>
      </p:grpSp>
      <p:sp>
        <p:nvSpPr>
          <p:cNvPr id="127" name="TextBox 126">
            <a:extLst>
              <a:ext uri="{FF2B5EF4-FFF2-40B4-BE49-F238E27FC236}">
                <a16:creationId xmlns:a16="http://schemas.microsoft.com/office/drawing/2014/main" id="{FA5BC93E-7BC4-4CDD-B964-EA3BCD40D00F}"/>
              </a:ext>
            </a:extLst>
          </p:cNvPr>
          <p:cNvSpPr txBox="1"/>
          <p:nvPr/>
        </p:nvSpPr>
        <p:spPr>
          <a:xfrm>
            <a:off x="6595541" y="5448622"/>
            <a:ext cx="828715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68~69</a:t>
            </a:r>
            <a:endParaRPr lang="ko-KR" altLang="en-US" sz="11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81AD916-80CD-4875-946D-B2452BAD13C3}"/>
              </a:ext>
            </a:extLst>
          </p:cNvPr>
          <p:cNvSpPr txBox="1"/>
          <p:nvPr/>
        </p:nvSpPr>
        <p:spPr>
          <a:xfrm>
            <a:off x="8558564" y="4861392"/>
            <a:ext cx="8287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67</a:t>
            </a:r>
            <a:endParaRPr lang="ko-KR" altLang="en-US" sz="11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9756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/>
      <p:bldP spid="1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058FE2CF-1C42-49C8-8709-16EC12A4020D}"/>
              </a:ext>
            </a:extLst>
          </p:cNvPr>
          <p:cNvGrpSpPr/>
          <p:nvPr/>
        </p:nvGrpSpPr>
        <p:grpSpPr>
          <a:xfrm>
            <a:off x="991119" y="780176"/>
            <a:ext cx="10442361" cy="6043277"/>
            <a:chOff x="991119" y="780176"/>
            <a:chExt cx="10442361" cy="6043277"/>
          </a:xfrm>
        </p:grpSpPr>
        <p:pic>
          <p:nvPicPr>
            <p:cNvPr id="3" name="그림 2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26" t="12693" r="1619" b="5768"/>
            <a:stretch/>
          </p:blipFill>
          <p:spPr>
            <a:xfrm>
              <a:off x="991119" y="807744"/>
              <a:ext cx="10442361" cy="6015709"/>
            </a:xfrm>
            <a:prstGeom prst="rect">
              <a:avLst/>
            </a:prstGeom>
          </p:spPr>
        </p:pic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F351FCFE-2BA0-4AD9-85AF-B29A29E70BCF}"/>
                </a:ext>
              </a:extLst>
            </p:cNvPr>
            <p:cNvSpPr/>
            <p:nvPr/>
          </p:nvSpPr>
          <p:spPr>
            <a:xfrm>
              <a:off x="6157197" y="780176"/>
              <a:ext cx="143951" cy="602884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6E00938F-2FF2-4468-A6AE-871128E33ED8}"/>
              </a:ext>
            </a:extLst>
          </p:cNvPr>
          <p:cNvSpPr txBox="1"/>
          <p:nvPr/>
        </p:nvSpPr>
        <p:spPr>
          <a:xfrm>
            <a:off x="109057" y="3641"/>
            <a:ext cx="7998543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세계사 이슈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새로운 생각이 싹트다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63EA575-62A7-4F50-8560-66486DD36F2E}"/>
              </a:ext>
            </a:extLst>
          </p:cNvPr>
          <p:cNvGrpSpPr/>
          <p:nvPr/>
        </p:nvGrpSpPr>
        <p:grpSpPr>
          <a:xfrm>
            <a:off x="0" y="1"/>
            <a:ext cx="12201331" cy="6851339"/>
            <a:chOff x="0" y="1"/>
            <a:chExt cx="12201331" cy="685133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1313867-FA00-4F30-8C60-5E9F0D8D6998}"/>
                </a:ext>
              </a:extLst>
            </p:cNvPr>
            <p:cNvSpPr/>
            <p:nvPr/>
          </p:nvSpPr>
          <p:spPr>
            <a:xfrm>
              <a:off x="0" y="1"/>
              <a:ext cx="109057" cy="50917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7030A0"/>
                </a:solidFill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C72691C7-BB97-4D31-940D-448688A6C154}"/>
                </a:ext>
              </a:extLst>
            </p:cNvPr>
            <p:cNvCxnSpPr>
              <a:cxnSpLocks/>
            </p:cNvCxnSpPr>
            <p:nvPr/>
          </p:nvCxnSpPr>
          <p:spPr>
            <a:xfrm>
              <a:off x="2279" y="513458"/>
              <a:ext cx="12192000" cy="0"/>
            </a:xfrm>
            <a:prstGeom prst="line">
              <a:avLst/>
            </a:prstGeom>
            <a:ln w="9525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593A63-C37D-40EB-BA52-94A232F1D9B8}"/>
                </a:ext>
              </a:extLst>
            </p:cNvPr>
            <p:cNvSpPr txBox="1"/>
            <p:nvPr/>
          </p:nvSpPr>
          <p:spPr>
            <a:xfrm>
              <a:off x="9331" y="6528945"/>
              <a:ext cx="12192000" cy="280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한우리</a:t>
              </a:r>
              <a:r>
                <a:rPr lang="ko-KR" altLang="en-US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  </a:r>
              <a:r>
                <a:rPr lang="en-US" altLang="ko-KR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sk</a:t>
              </a:r>
              <a:r>
                <a:rPr lang="en-US" altLang="ko-KR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</a:t>
              </a: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논술교습소</a:t>
              </a:r>
              <a:endPara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A3A3578-3881-4BBB-A1F1-417F84AFCEA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1340"/>
              <a:ext cx="12192000" cy="0"/>
            </a:xfrm>
            <a:prstGeom prst="line">
              <a:avLst/>
            </a:prstGeom>
            <a:ln w="762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11FB145E-846A-454E-B89C-84C53F27A57D}"/>
              </a:ext>
            </a:extLst>
          </p:cNvPr>
          <p:cNvSpPr txBox="1"/>
          <p:nvPr/>
        </p:nvSpPr>
        <p:spPr>
          <a:xfrm>
            <a:off x="109056" y="551491"/>
            <a:ext cx="6761763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▶ 과학 혁명과 계몽사상이 당시 유럽 사회에 미친 영향을 알아보자</a:t>
            </a:r>
            <a:r>
              <a:rPr lang="en-US" altLang="ko-KR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ko-KR" altLang="en-US" sz="14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A789A78-B777-4572-89BB-ED18E44F0AFD}"/>
              </a:ext>
            </a:extLst>
          </p:cNvPr>
          <p:cNvSpPr txBox="1"/>
          <p:nvPr/>
        </p:nvSpPr>
        <p:spPr>
          <a:xfrm>
            <a:off x="223267" y="3429000"/>
            <a:ext cx="5846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지동설이 증명됨으로써 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자연 현상에 대한 생각이 획기적으로</a:t>
            </a:r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바뀌었을 뿐만 아니라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endParaRPr lang="en-US" altLang="ko-KR" sz="9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신 중심의 기독교적 세계관을 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합리적인 이성과 관찰을 중요시하는 새로운 세계관으로 바꾸어 놓았기 때문이다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150528C-1746-48DF-89BB-C838882DF87E}"/>
              </a:ext>
            </a:extLst>
          </p:cNvPr>
          <p:cNvSpPr txBox="1"/>
          <p:nvPr/>
        </p:nvSpPr>
        <p:spPr>
          <a:xfrm>
            <a:off x="3133441" y="931979"/>
            <a:ext cx="2881877" cy="246221"/>
          </a:xfrm>
          <a:prstGeom prst="rect">
            <a:avLst/>
          </a:prstGeom>
          <a:solidFill>
            <a:srgbClr val="003300"/>
          </a:solidFill>
          <a:ln w="12700">
            <a:solidFill>
              <a:srgbClr val="0033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17c </a:t>
            </a:r>
            <a:r>
              <a:rPr lang="ko-KR" altLang="en-US" sz="1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유럽에서 일어난 자연 과학 분야의 획기적 변화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DDAC966-6A40-42B9-9BA8-1A27E96DB2EC}"/>
              </a:ext>
            </a:extLst>
          </p:cNvPr>
          <p:cNvSpPr txBox="1"/>
          <p:nvPr/>
        </p:nvSpPr>
        <p:spPr>
          <a:xfrm>
            <a:off x="569221" y="1234657"/>
            <a:ext cx="11324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p.106~107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44EDAF2-7653-4985-AE11-3708074CCA7F}"/>
              </a:ext>
            </a:extLst>
          </p:cNvPr>
          <p:cNvSpPr txBox="1"/>
          <p:nvPr/>
        </p:nvSpPr>
        <p:spPr>
          <a:xfrm>
            <a:off x="569221" y="4201975"/>
            <a:ext cx="11324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p.126~128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A2151EF-5E96-4CF9-A903-1A188B76C506}"/>
              </a:ext>
            </a:extLst>
          </p:cNvPr>
          <p:cNvSpPr txBox="1"/>
          <p:nvPr/>
        </p:nvSpPr>
        <p:spPr>
          <a:xfrm>
            <a:off x="223267" y="4468902"/>
            <a:ext cx="5693956" cy="5078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계몽사상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이란 인간적이고 합리적인 생각과 이성의 계몽을 통하여 인간 생활을 더 나은 방향으로 개선하려는 생각이다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탄생 배경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은 지동설이 증명되고 만유인력의 법칙이 발견되는 등 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과학이 눈부시게 발달한 것과 관련 있다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사람들은 관찰과 분석을 바탕으로 하는 이성적인 생각을 가지고 이전 사회를 새로운 시각에서 바라보기 시작했다</a:t>
            </a:r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E8A9CB5-FBD4-4D8D-BB50-AE6A92CA523D}"/>
              </a:ext>
            </a:extLst>
          </p:cNvPr>
          <p:cNvSpPr txBox="1"/>
          <p:nvPr/>
        </p:nvSpPr>
        <p:spPr>
          <a:xfrm>
            <a:off x="9330" y="5105398"/>
            <a:ext cx="1221593" cy="147732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_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교회가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원래 의미 잃고 신의 섭리 거스르며 욕심을 채우고 부패한 교회가 사람들에게 잘못된 믿음을 갖도록 한다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_ 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왕이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모든 권력을 갖고 국민의 권리를 침해한다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_ 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빈부 격차가 심하다</a:t>
            </a:r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18EBB8C-C4B6-4CC1-8670-8D84814EB7CA}"/>
              </a:ext>
            </a:extLst>
          </p:cNvPr>
          <p:cNvSpPr txBox="1"/>
          <p:nvPr/>
        </p:nvSpPr>
        <p:spPr>
          <a:xfrm>
            <a:off x="10118720" y="1280114"/>
            <a:ext cx="11324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p.118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0AA9484-40E2-48EC-BE3E-DAFAED762479}"/>
              </a:ext>
            </a:extLst>
          </p:cNvPr>
          <p:cNvSpPr txBox="1"/>
          <p:nvPr/>
        </p:nvSpPr>
        <p:spPr>
          <a:xfrm>
            <a:off x="10791908" y="1740397"/>
            <a:ext cx="66790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p.117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C155075-B439-4A44-9FEA-DF6E6A4E7698}"/>
              </a:ext>
            </a:extLst>
          </p:cNvPr>
          <p:cNvSpPr txBox="1"/>
          <p:nvPr/>
        </p:nvSpPr>
        <p:spPr>
          <a:xfrm>
            <a:off x="9927321" y="2293977"/>
            <a:ext cx="136781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p.135~137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6C0EA5D-E2D0-40E9-A029-4BB594B2A6D8}"/>
              </a:ext>
            </a:extLst>
          </p:cNvPr>
          <p:cNvSpPr txBox="1"/>
          <p:nvPr/>
        </p:nvSpPr>
        <p:spPr>
          <a:xfrm>
            <a:off x="8814278" y="2724815"/>
            <a:ext cx="66790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p.133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0FC2D04-A2A4-4F36-9EE6-85834BBC31BE}"/>
              </a:ext>
            </a:extLst>
          </p:cNvPr>
          <p:cNvSpPr txBox="1"/>
          <p:nvPr/>
        </p:nvSpPr>
        <p:spPr>
          <a:xfrm>
            <a:off x="7233580" y="3479700"/>
            <a:ext cx="101207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정리하기</a:t>
            </a:r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37BCBDD-527C-48F7-8BFB-F9999E21A05C}"/>
              </a:ext>
            </a:extLst>
          </p:cNvPr>
          <p:cNvSpPr txBox="1"/>
          <p:nvPr/>
        </p:nvSpPr>
        <p:spPr>
          <a:xfrm>
            <a:off x="6723046" y="3808979"/>
            <a:ext cx="4504376" cy="6617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계몽 사상으로 지동설을 받아들이게 되어 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중세적인 사고 방식이 깨졌다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또 절대왕정은 나쁜 제도이며 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시민들의 의견을 반영한 정치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가 이뤄져야 한다고 생각하게 되었다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마지막으로 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신분에 따른 차등적인 차별이 잘못되었고 평등한 세상이 되어야 한다는 생각이 서서히 자리잡게 되었다</a:t>
            </a:r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6405AB9-00B9-4E8C-B1B8-8469503B90E8}"/>
              </a:ext>
            </a:extLst>
          </p:cNvPr>
          <p:cNvSpPr txBox="1"/>
          <p:nvPr/>
        </p:nvSpPr>
        <p:spPr>
          <a:xfrm>
            <a:off x="6607493" y="5540335"/>
            <a:ext cx="5247885" cy="5078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절대 군주는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왕권을 제한하고 잘못된 정치를 개혁하자는 말에 반발하며 처단해야 한다고 생각하고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시민들은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이성적인 생각을 통해 절대 군주의 왕권신수설은 말이 안 되고 인간은 모두 평등하게 태어났으며 이성적이므로 계몽주의 사상가들을 지지했다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890939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  <p:bldP spid="21" grpId="0" animBg="1"/>
      <p:bldP spid="22" grpId="0" animBg="1"/>
      <p:bldP spid="28" grpId="0" animBg="1"/>
      <p:bldP spid="2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4" t="12564" r="1488" b="2307"/>
          <a:stretch/>
        </p:blipFill>
        <p:spPr>
          <a:xfrm>
            <a:off x="573141" y="830890"/>
            <a:ext cx="10065589" cy="5978131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E63EA575-62A7-4F50-8560-66486DD36F2E}"/>
              </a:ext>
            </a:extLst>
          </p:cNvPr>
          <p:cNvGrpSpPr/>
          <p:nvPr/>
        </p:nvGrpSpPr>
        <p:grpSpPr>
          <a:xfrm>
            <a:off x="0" y="1"/>
            <a:ext cx="12201331" cy="6851339"/>
            <a:chOff x="0" y="1"/>
            <a:chExt cx="12201331" cy="685133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1313867-FA00-4F30-8C60-5E9F0D8D6998}"/>
                </a:ext>
              </a:extLst>
            </p:cNvPr>
            <p:cNvSpPr/>
            <p:nvPr/>
          </p:nvSpPr>
          <p:spPr>
            <a:xfrm>
              <a:off x="0" y="1"/>
              <a:ext cx="109057" cy="50917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7030A0"/>
                </a:solidFill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C72691C7-BB97-4D31-940D-448688A6C154}"/>
                </a:ext>
              </a:extLst>
            </p:cNvPr>
            <p:cNvCxnSpPr>
              <a:cxnSpLocks/>
            </p:cNvCxnSpPr>
            <p:nvPr/>
          </p:nvCxnSpPr>
          <p:spPr>
            <a:xfrm>
              <a:off x="2279" y="513458"/>
              <a:ext cx="12192000" cy="0"/>
            </a:xfrm>
            <a:prstGeom prst="line">
              <a:avLst/>
            </a:prstGeom>
            <a:ln w="9525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593A63-C37D-40EB-BA52-94A232F1D9B8}"/>
                </a:ext>
              </a:extLst>
            </p:cNvPr>
            <p:cNvSpPr txBox="1"/>
            <p:nvPr/>
          </p:nvSpPr>
          <p:spPr>
            <a:xfrm>
              <a:off x="9331" y="6528945"/>
              <a:ext cx="12192000" cy="280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한우리</a:t>
              </a:r>
              <a:r>
                <a:rPr lang="ko-KR" altLang="en-US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  </a:r>
              <a:r>
                <a:rPr lang="en-US" altLang="ko-KR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sk</a:t>
              </a:r>
              <a:r>
                <a:rPr lang="en-US" altLang="ko-KR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</a:t>
              </a: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논술교습소</a:t>
              </a:r>
              <a:endPara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A3A3578-3881-4BBB-A1F1-417F84AFCEA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1340"/>
              <a:ext cx="12192000" cy="0"/>
            </a:xfrm>
            <a:prstGeom prst="line">
              <a:avLst/>
            </a:prstGeom>
            <a:ln w="762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98EF9949-BC53-4FC4-8D34-7DE2C38137AD}"/>
              </a:ext>
            </a:extLst>
          </p:cNvPr>
          <p:cNvSpPr txBox="1"/>
          <p:nvPr/>
        </p:nvSpPr>
        <p:spPr>
          <a:xfrm>
            <a:off x="109056" y="536170"/>
            <a:ext cx="6291744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▶ 유럽인들의 신대륙 식민지 건설이 아메리카와 아프리카에 미친 영향을 살펴보자</a:t>
            </a:r>
            <a:r>
              <a:rPr lang="en-US" altLang="ko-KR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ko-KR" altLang="en-US" sz="14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AF2FFBF-584C-49EA-B045-BCF4E886AD9D}"/>
              </a:ext>
            </a:extLst>
          </p:cNvPr>
          <p:cNvSpPr txBox="1"/>
          <p:nvPr/>
        </p:nvSpPr>
        <p:spPr>
          <a:xfrm>
            <a:off x="109058" y="3641"/>
            <a:ext cx="3449974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세계사 이슈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약탈당하는 대륙들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5CB0767-3222-4C69-92B5-E0F852EAEF0C}"/>
              </a:ext>
            </a:extLst>
          </p:cNvPr>
          <p:cNvSpPr txBox="1"/>
          <p:nvPr/>
        </p:nvSpPr>
        <p:spPr>
          <a:xfrm>
            <a:off x="7753561" y="1057109"/>
            <a:ext cx="11324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74,76,94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399D83A7-1E1A-4C82-BA61-A0A5233FA1AC}"/>
              </a:ext>
            </a:extLst>
          </p:cNvPr>
          <p:cNvSpPr/>
          <p:nvPr/>
        </p:nvSpPr>
        <p:spPr>
          <a:xfrm rot="1321683" flipH="1">
            <a:off x="5470944" y="3736277"/>
            <a:ext cx="311831" cy="164189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화살표: 오른쪽 20">
            <a:extLst>
              <a:ext uri="{FF2B5EF4-FFF2-40B4-BE49-F238E27FC236}">
                <a16:creationId xmlns:a16="http://schemas.microsoft.com/office/drawing/2014/main" id="{0A0A5DB1-EC55-4770-89C9-353CC6AB596C}"/>
              </a:ext>
            </a:extLst>
          </p:cNvPr>
          <p:cNvSpPr/>
          <p:nvPr/>
        </p:nvSpPr>
        <p:spPr>
          <a:xfrm>
            <a:off x="5559717" y="6047455"/>
            <a:ext cx="242467" cy="151002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FF62E69-1A6E-4787-BB21-55DE79585ACE}"/>
              </a:ext>
            </a:extLst>
          </p:cNvPr>
          <p:cNvSpPr txBox="1"/>
          <p:nvPr/>
        </p:nvSpPr>
        <p:spPr>
          <a:xfrm>
            <a:off x="9185525" y="1498727"/>
            <a:ext cx="11324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76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A5B0ECB-8391-473E-93E4-94FE5C651F28}"/>
              </a:ext>
            </a:extLst>
          </p:cNvPr>
          <p:cNvSpPr txBox="1"/>
          <p:nvPr/>
        </p:nvSpPr>
        <p:spPr>
          <a:xfrm>
            <a:off x="8298548" y="1618846"/>
            <a:ext cx="11324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77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904A133-E5D6-4929-B7B0-46482B7E9262}"/>
              </a:ext>
            </a:extLst>
          </p:cNvPr>
          <p:cNvSpPr txBox="1"/>
          <p:nvPr/>
        </p:nvSpPr>
        <p:spPr>
          <a:xfrm>
            <a:off x="9358210" y="1815110"/>
            <a:ext cx="5162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96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6" name="화살표: 오른쪽 25">
            <a:extLst>
              <a:ext uri="{FF2B5EF4-FFF2-40B4-BE49-F238E27FC236}">
                <a16:creationId xmlns:a16="http://schemas.microsoft.com/office/drawing/2014/main" id="{1354706E-818A-41CF-8469-DDC253775462}"/>
              </a:ext>
            </a:extLst>
          </p:cNvPr>
          <p:cNvSpPr/>
          <p:nvPr/>
        </p:nvSpPr>
        <p:spPr>
          <a:xfrm rot="5400000">
            <a:off x="5802062" y="2878100"/>
            <a:ext cx="690675" cy="142614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F7401A4-DB6B-4D09-B281-B4D72A37A165}"/>
              </a:ext>
            </a:extLst>
          </p:cNvPr>
          <p:cNvSpPr txBox="1"/>
          <p:nvPr/>
        </p:nvSpPr>
        <p:spPr>
          <a:xfrm>
            <a:off x="6751049" y="5303590"/>
            <a:ext cx="5917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80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AB7FB47-08E6-4971-A104-834FDA7E213B}"/>
              </a:ext>
            </a:extLst>
          </p:cNvPr>
          <p:cNvSpPr txBox="1"/>
          <p:nvPr/>
        </p:nvSpPr>
        <p:spPr>
          <a:xfrm>
            <a:off x="8277845" y="5303590"/>
            <a:ext cx="77634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80~81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A931ADB-61B8-489E-908E-E5F066551917}"/>
              </a:ext>
            </a:extLst>
          </p:cNvPr>
          <p:cNvSpPr txBox="1"/>
          <p:nvPr/>
        </p:nvSpPr>
        <p:spPr>
          <a:xfrm>
            <a:off x="6647101" y="1230806"/>
            <a:ext cx="5124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에스파냐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영국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</a:t>
            </a:r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금 </a:t>
            </a:r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·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은</a:t>
            </a:r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·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보화가 많을 것이라는 기대로 식민지를 통해 막대한 경제적 이익을 위해</a:t>
            </a:r>
            <a:endParaRPr lang="en-US" altLang="ko-KR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영국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종교의 자유를 찾아서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프랑스</a:t>
            </a:r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원주민들과 교역을 하기 위해</a:t>
            </a:r>
            <a:endParaRPr lang="en-US" altLang="ko-KR" sz="9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806E7BD-2148-4EFD-9E87-D33F270A553C}"/>
              </a:ext>
            </a:extLst>
          </p:cNvPr>
          <p:cNvSpPr txBox="1"/>
          <p:nvPr/>
        </p:nvSpPr>
        <p:spPr>
          <a:xfrm>
            <a:off x="6479541" y="2155643"/>
            <a:ext cx="30587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처음에</a:t>
            </a:r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800" dirty="0" err="1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프</a:t>
            </a:r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·</a:t>
            </a:r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영</a:t>
            </a:r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·</a:t>
            </a:r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에</a:t>
            </a:r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·</a:t>
            </a:r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네 소유권 주장 → 프랑스 </a:t>
            </a:r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vs </a:t>
            </a:r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영국 대결 </a:t>
            </a:r>
            <a:endParaRPr lang="en-US" altLang="ko-KR" sz="8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2FED5D1-05A2-454E-81DE-28B97613A362}"/>
              </a:ext>
            </a:extLst>
          </p:cNvPr>
          <p:cNvSpPr txBox="1"/>
          <p:nvPr/>
        </p:nvSpPr>
        <p:spPr>
          <a:xfrm>
            <a:off x="10403409" y="1629759"/>
            <a:ext cx="1689648" cy="1631216"/>
          </a:xfrm>
          <a:prstGeom prst="rect">
            <a:avLst/>
          </a:prstGeom>
          <a:solidFill>
            <a:schemeClr val="bg1"/>
          </a:solidFill>
          <a:ln w="12700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** </a:t>
            </a:r>
            <a:r>
              <a:rPr lang="ko-KR" altLang="en-US" sz="10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청교도 혁명 </a:t>
            </a:r>
            <a:r>
              <a:rPr lang="en-US" altLang="ko-KR" sz="10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(p.82~87)</a:t>
            </a:r>
          </a:p>
          <a:p>
            <a:r>
              <a:rPr lang="ko-KR" altLang="en-US" sz="8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엘리자베스 </a:t>
            </a:r>
            <a:r>
              <a:rPr lang="en-US" altLang="ko-KR" sz="8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</a:t>
            </a:r>
            <a:r>
              <a:rPr lang="ko-KR" altLang="en-US" sz="8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</a:t>
            </a:r>
            <a:endParaRPr lang="en-US" altLang="ko-KR" sz="8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경제적 부</a:t>
            </a:r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</a:t>
            </a:r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상업발달</a:t>
            </a:r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</a:t>
            </a:r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입헌군주제</a:t>
            </a:r>
            <a:endParaRPr lang="en-US" altLang="ko-KR" sz="8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8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제임스 </a:t>
            </a:r>
            <a:r>
              <a:rPr lang="en-US" altLang="ko-KR" sz="8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</a:t>
            </a:r>
            <a:r>
              <a:rPr lang="ko-KR" altLang="en-US" sz="8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</a:t>
            </a:r>
            <a:endParaRPr lang="en-US" altLang="ko-KR" sz="8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</a:t>
            </a:r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절대권력</a:t>
            </a:r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의회 존중 </a:t>
            </a:r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x</a:t>
            </a:r>
          </a:p>
          <a:p>
            <a:r>
              <a:rPr lang="ko-KR" altLang="en-US" sz="8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찰스 </a:t>
            </a:r>
            <a:r>
              <a:rPr lang="en-US" altLang="ko-KR" sz="8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</a:t>
            </a:r>
            <a:r>
              <a:rPr lang="ko-KR" altLang="en-US" sz="8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</a:t>
            </a:r>
            <a:endParaRPr lang="en-US" altLang="ko-KR" sz="8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의회 권리 청원 무시</a:t>
            </a:r>
            <a:endParaRPr lang="en-US" altLang="ko-KR" sz="8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크롬웰 </a:t>
            </a:r>
            <a:r>
              <a:rPr lang="ko-KR" altLang="en-US" sz="800" dirty="0" err="1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승리→국왕</a:t>
            </a:r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처형</a:t>
            </a:r>
            <a:endParaRPr lang="en-US" altLang="ko-KR" sz="8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endParaRPr lang="en-US" altLang="ko-KR" sz="8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en-US" altLang="ko-KR" sz="10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** </a:t>
            </a:r>
            <a:r>
              <a:rPr lang="ko-KR" altLang="en-US" sz="10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북아메리카 영국 식민지</a:t>
            </a:r>
            <a:endParaRPr lang="en-US" altLang="ko-KR" sz="1000" dirty="0">
              <a:solidFill>
                <a:srgbClr val="7030A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이주민의 영국 보스턴 차 사건으로</a:t>
            </a:r>
            <a:r>
              <a:rPr lang="ko-KR" altLang="en-US" sz="8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미국 독립 혁명 계기</a:t>
            </a:r>
            <a:endParaRPr lang="en-US" altLang="ko-KR" sz="8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3A2F88C1-31CC-452E-83B8-4CC5C0A67B12}"/>
              </a:ext>
            </a:extLst>
          </p:cNvPr>
          <p:cNvGrpSpPr/>
          <p:nvPr/>
        </p:nvGrpSpPr>
        <p:grpSpPr>
          <a:xfrm>
            <a:off x="5743968" y="3828006"/>
            <a:ext cx="5973577" cy="2206161"/>
            <a:chOff x="6228064" y="3828006"/>
            <a:chExt cx="5973577" cy="2206161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C9BDE02-DE11-434B-A7DD-9DD4B7591ABF}"/>
                </a:ext>
              </a:extLst>
            </p:cNvPr>
            <p:cNvSpPr txBox="1"/>
            <p:nvPr/>
          </p:nvSpPr>
          <p:spPr>
            <a:xfrm>
              <a:off x="6228064" y="5526336"/>
              <a:ext cx="1942552" cy="50783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9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원주민 강제 노역 동원해 사탕수수</a:t>
              </a:r>
              <a:r>
                <a:rPr lang="en-US" altLang="ko-KR" sz="9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, </a:t>
              </a:r>
            </a:p>
            <a:p>
              <a:r>
                <a:rPr lang="ko-KR" altLang="en-US" sz="9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담배 재배</a:t>
              </a:r>
              <a:r>
                <a:rPr lang="en-US" altLang="ko-KR" sz="9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, </a:t>
              </a:r>
              <a:r>
                <a:rPr lang="ko-KR" altLang="en-US" sz="9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금</a:t>
              </a:r>
              <a:r>
                <a:rPr lang="en-US" altLang="ko-KR" sz="9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/ </a:t>
              </a:r>
              <a:r>
                <a:rPr lang="ko-KR" altLang="en-US" sz="9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은 채굴하게 하고</a:t>
              </a:r>
              <a:r>
                <a:rPr lang="en-US" altLang="ko-KR" sz="9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</a:t>
              </a:r>
              <a:r>
                <a:rPr lang="ko-KR" altLang="en-US" sz="9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가톨릭 개종 강요하고 거부 시 학대했다</a:t>
              </a:r>
              <a:r>
                <a:rPr lang="en-US" altLang="ko-KR" sz="9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.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87DCC200-F3DA-483B-90D2-AB4B9CDE9E48}"/>
                </a:ext>
              </a:extLst>
            </p:cNvPr>
            <p:cNvSpPr txBox="1"/>
            <p:nvPr/>
          </p:nvSpPr>
          <p:spPr>
            <a:xfrm>
              <a:off x="10127707" y="3828006"/>
              <a:ext cx="2073934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아메리카 토착문명 정복하고 파괴하며</a:t>
              </a:r>
              <a:endPara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  <a:p>
              <a:r>
                <a:rPr lang="ko-KR" altLang="en-US" sz="9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원주민 가혹하게 착취</a:t>
              </a:r>
              <a:r>
                <a:rPr lang="en-US" altLang="ko-KR" sz="9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[</a:t>
              </a:r>
              <a:r>
                <a:rPr lang="ko-KR" altLang="en-US" sz="9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유럽의 식민지화</a:t>
              </a:r>
              <a:r>
                <a:rPr lang="en-US" altLang="ko-KR" sz="9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]</a:t>
              </a:r>
            </a:p>
            <a:p>
              <a:r>
                <a:rPr lang="ko-KR" altLang="en-US" sz="9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아프리카는 인구 감소 및 사회</a:t>
              </a:r>
              <a:r>
                <a:rPr lang="en-US" altLang="ko-KR" sz="9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, </a:t>
              </a:r>
              <a:r>
                <a:rPr lang="ko-KR" altLang="en-US" sz="9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경제 타격</a:t>
              </a:r>
              <a:endPara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7DDD5F3-49D9-4E5A-A2F5-8BD6F7B6698C}"/>
                </a:ext>
              </a:extLst>
            </p:cNvPr>
            <p:cNvSpPr txBox="1"/>
            <p:nvPr/>
          </p:nvSpPr>
          <p:spPr>
            <a:xfrm>
              <a:off x="8044182" y="5506245"/>
              <a:ext cx="2215554" cy="50783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9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유럽인의 착취와 전염병</a:t>
              </a:r>
              <a:r>
                <a:rPr lang="en-US" altLang="ko-KR" sz="9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(</a:t>
              </a:r>
              <a:r>
                <a:rPr lang="ko-KR" altLang="en-US" sz="9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천연두</a:t>
              </a:r>
              <a:r>
                <a:rPr lang="en-US" altLang="ko-KR" sz="9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,</a:t>
              </a:r>
              <a:r>
                <a:rPr lang="ko-KR" altLang="en-US" sz="9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홍역</a:t>
              </a:r>
              <a:r>
                <a:rPr lang="en-US" altLang="ko-KR" sz="9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)</a:t>
              </a:r>
              <a:r>
                <a:rPr lang="ko-KR" altLang="en-US" sz="9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으로 아메리카 원주민 수가 급격히 줄자 부족한 노동력을 보충하려고 흑인 노예 수입하였다</a:t>
              </a:r>
              <a:r>
                <a:rPr lang="en-US" altLang="ko-KR" sz="9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.</a:t>
              </a: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11AA11C3-B918-473B-A9B2-D843FB04D88A}"/>
              </a:ext>
            </a:extLst>
          </p:cNvPr>
          <p:cNvSpPr txBox="1"/>
          <p:nvPr/>
        </p:nvSpPr>
        <p:spPr>
          <a:xfrm>
            <a:off x="5916704" y="6034168"/>
            <a:ext cx="5781868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불공정한 삼각 무역은 지역 간 빈부차를 더욱 크게 만들었다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유럽은 발전했지만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아프리카와 아메리카는 어려움을 겪거나 많은 사람들이 죽었다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오늘날 이곳이 발달하지 못하고 뒤쳐진 까닭 중 하나가 이때문이다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이처럼 유럽의 찬란한 문명은 그들 스스로 노력한 </a:t>
            </a:r>
            <a:r>
              <a:rPr lang="ko-KR" altLang="en-US" sz="900" dirty="0" err="1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결과물이라기보다</a:t>
            </a:r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아프리카와 아메리카의 희생 위에 이뤄진 것으로 볼 수 있다</a:t>
            </a:r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따라서 유럽은 그들에게 빚을 지고 있다는 점을 깨닫고 </a:t>
            </a:r>
            <a:r>
              <a:rPr lang="ko-KR" altLang="en-US" sz="900" dirty="0" err="1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책임있는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행동을 보여야 한다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FF3AC52-4CFA-401C-BBCD-090A75440CD1}"/>
              </a:ext>
            </a:extLst>
          </p:cNvPr>
          <p:cNvSpPr txBox="1"/>
          <p:nvPr/>
        </p:nvSpPr>
        <p:spPr>
          <a:xfrm>
            <a:off x="7515957" y="515355"/>
            <a:ext cx="4682608" cy="369332"/>
          </a:xfrm>
          <a:prstGeom prst="rect">
            <a:avLst/>
          </a:prstGeom>
          <a:solidFill>
            <a:srgbClr val="003300"/>
          </a:solidFill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포르투갈</a:t>
            </a:r>
            <a:r>
              <a:rPr lang="en-US" altLang="ko-KR" sz="9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</a:t>
            </a:r>
            <a:r>
              <a:rPr lang="ko-KR" altLang="en-US" sz="9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에스파냐 </a:t>
            </a:r>
            <a:r>
              <a:rPr lang="ko-KR" altLang="en-US" sz="900" dirty="0" err="1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신항로</a:t>
            </a:r>
            <a:r>
              <a:rPr lang="ko-KR" altLang="en-US" sz="9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개척 → 에스파냐 지중해 장악 →영국 뒤늦게 식민지 확보</a:t>
            </a:r>
            <a:endParaRPr lang="en-US" altLang="ko-KR" sz="9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9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→ 에스파냐 무적 함대 격파 → 대항해 시대 → 네덜란드 동인도회사 </a:t>
            </a:r>
            <a:r>
              <a:rPr lang="en-US" altLang="ko-KR" sz="9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vs </a:t>
            </a:r>
            <a:r>
              <a:rPr lang="ko-KR" altLang="en-US" sz="9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영국 면직물 →영국 승리</a:t>
            </a:r>
            <a:endParaRPr lang="en-US" altLang="ko-KR" sz="9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92496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22" grpId="0" animBg="1"/>
      <p:bldP spid="3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9" t="3846" r="1965" b="2049"/>
          <a:stretch/>
        </p:blipFill>
        <p:spPr>
          <a:xfrm>
            <a:off x="6027436" y="536170"/>
            <a:ext cx="4637633" cy="626907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E00938F-2FF2-4468-A6AE-871128E33ED8}"/>
              </a:ext>
            </a:extLst>
          </p:cNvPr>
          <p:cNvSpPr txBox="1"/>
          <p:nvPr/>
        </p:nvSpPr>
        <p:spPr>
          <a:xfrm>
            <a:off x="109057" y="3641"/>
            <a:ext cx="799854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세계사 논평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내 생각은 이렇습니다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63EA575-62A7-4F50-8560-66486DD36F2E}"/>
              </a:ext>
            </a:extLst>
          </p:cNvPr>
          <p:cNvGrpSpPr/>
          <p:nvPr/>
        </p:nvGrpSpPr>
        <p:grpSpPr>
          <a:xfrm>
            <a:off x="0" y="1"/>
            <a:ext cx="12201331" cy="6851339"/>
            <a:chOff x="0" y="1"/>
            <a:chExt cx="12201331" cy="685133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1313867-FA00-4F30-8C60-5E9F0D8D6998}"/>
                </a:ext>
              </a:extLst>
            </p:cNvPr>
            <p:cNvSpPr/>
            <p:nvPr/>
          </p:nvSpPr>
          <p:spPr>
            <a:xfrm>
              <a:off x="0" y="1"/>
              <a:ext cx="109057" cy="50917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7030A0"/>
                </a:solidFill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C72691C7-BB97-4D31-940D-448688A6C154}"/>
                </a:ext>
              </a:extLst>
            </p:cNvPr>
            <p:cNvCxnSpPr>
              <a:cxnSpLocks/>
            </p:cNvCxnSpPr>
            <p:nvPr/>
          </p:nvCxnSpPr>
          <p:spPr>
            <a:xfrm>
              <a:off x="2279" y="513458"/>
              <a:ext cx="12192000" cy="0"/>
            </a:xfrm>
            <a:prstGeom prst="line">
              <a:avLst/>
            </a:prstGeom>
            <a:ln w="9525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593A63-C37D-40EB-BA52-94A232F1D9B8}"/>
                </a:ext>
              </a:extLst>
            </p:cNvPr>
            <p:cNvSpPr txBox="1"/>
            <p:nvPr/>
          </p:nvSpPr>
          <p:spPr>
            <a:xfrm>
              <a:off x="9331" y="6528945"/>
              <a:ext cx="12192000" cy="280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한우리</a:t>
              </a:r>
              <a:r>
                <a:rPr lang="ko-KR" altLang="en-US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  </a:r>
              <a:r>
                <a:rPr lang="en-US" altLang="ko-KR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sk</a:t>
              </a:r>
              <a:r>
                <a:rPr lang="en-US" altLang="ko-KR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</a:t>
              </a: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논술교습소</a:t>
              </a:r>
              <a:endPara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A3A3578-3881-4BBB-A1F1-417F84AFCEA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1340"/>
              <a:ext cx="12192000" cy="0"/>
            </a:xfrm>
            <a:prstGeom prst="line">
              <a:avLst/>
            </a:prstGeom>
            <a:ln w="762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8D81FBF9-8558-421A-B8F3-EDA21673DB14}"/>
              </a:ext>
            </a:extLst>
          </p:cNvPr>
          <p:cNvSpPr txBox="1"/>
          <p:nvPr/>
        </p:nvSpPr>
        <p:spPr>
          <a:xfrm>
            <a:off x="109057" y="536170"/>
            <a:ext cx="5312228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▶ 이번 시간에 학습한 사건 중 하나를 골라 </a:t>
            </a:r>
            <a:endParaRPr lang="en-US" altLang="ko-KR" sz="14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en-US" altLang="ko-KR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   </a:t>
            </a:r>
            <a:r>
              <a:rPr lang="ko-KR" altLang="en-US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그 사건에 대한 자신의 생각을 담아 한 편의 글을 써 보자</a:t>
            </a:r>
            <a:r>
              <a:rPr lang="en-US" altLang="ko-KR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ko-KR" altLang="en-US" sz="14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8" t="13461" r="4748" b="769"/>
          <a:stretch/>
        </p:blipFill>
        <p:spPr>
          <a:xfrm>
            <a:off x="546176" y="1059391"/>
            <a:ext cx="4543432" cy="5745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0312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6E00938F-2FF2-4468-A6AE-871128E33ED8}"/>
              </a:ext>
            </a:extLst>
          </p:cNvPr>
          <p:cNvSpPr txBox="1"/>
          <p:nvPr/>
        </p:nvSpPr>
        <p:spPr>
          <a:xfrm>
            <a:off x="109057" y="3641"/>
            <a:ext cx="7998543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문제 풀며 스스로 정리해요 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63EA575-62A7-4F50-8560-66486DD36F2E}"/>
              </a:ext>
            </a:extLst>
          </p:cNvPr>
          <p:cNvGrpSpPr/>
          <p:nvPr/>
        </p:nvGrpSpPr>
        <p:grpSpPr>
          <a:xfrm>
            <a:off x="0" y="1"/>
            <a:ext cx="12201331" cy="6851339"/>
            <a:chOff x="0" y="1"/>
            <a:chExt cx="12201331" cy="685133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1313867-FA00-4F30-8C60-5E9F0D8D6998}"/>
                </a:ext>
              </a:extLst>
            </p:cNvPr>
            <p:cNvSpPr/>
            <p:nvPr/>
          </p:nvSpPr>
          <p:spPr>
            <a:xfrm>
              <a:off x="0" y="1"/>
              <a:ext cx="109057" cy="50917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7030A0"/>
                </a:solidFill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C72691C7-BB97-4D31-940D-448688A6C154}"/>
                </a:ext>
              </a:extLst>
            </p:cNvPr>
            <p:cNvCxnSpPr>
              <a:cxnSpLocks/>
            </p:cNvCxnSpPr>
            <p:nvPr/>
          </p:nvCxnSpPr>
          <p:spPr>
            <a:xfrm>
              <a:off x="2279" y="513458"/>
              <a:ext cx="12192000" cy="0"/>
            </a:xfrm>
            <a:prstGeom prst="line">
              <a:avLst/>
            </a:prstGeom>
            <a:ln w="9525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593A63-C37D-40EB-BA52-94A232F1D9B8}"/>
                </a:ext>
              </a:extLst>
            </p:cNvPr>
            <p:cNvSpPr txBox="1"/>
            <p:nvPr/>
          </p:nvSpPr>
          <p:spPr>
            <a:xfrm>
              <a:off x="9331" y="6528945"/>
              <a:ext cx="12192000" cy="280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한우리</a:t>
              </a:r>
              <a:r>
                <a:rPr lang="ko-KR" altLang="en-US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  </a:r>
              <a:r>
                <a:rPr lang="en-US" altLang="ko-KR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sk</a:t>
              </a:r>
              <a:r>
                <a:rPr lang="en-US" altLang="ko-KR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</a:t>
              </a: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논술교습소</a:t>
              </a:r>
              <a:endPara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A3A3578-3881-4BBB-A1F1-417F84AFCEA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1340"/>
              <a:ext cx="12192000" cy="0"/>
            </a:xfrm>
            <a:prstGeom prst="line">
              <a:avLst/>
            </a:prstGeom>
            <a:ln w="762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6" name="그림 5">
            <a:extLst>
              <a:ext uri="{FF2B5EF4-FFF2-40B4-BE49-F238E27FC236}">
                <a16:creationId xmlns:a16="http://schemas.microsoft.com/office/drawing/2014/main" id="{ACE5FB1C-F10E-415C-80FA-C2ACEE34E33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555" t="17125" r="29610" b="37145"/>
          <a:stretch/>
        </p:blipFill>
        <p:spPr>
          <a:xfrm>
            <a:off x="109057" y="1208015"/>
            <a:ext cx="5757620" cy="354015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97A8728-E9E8-4D8C-ADB9-FB130421B60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8899" t="25321" r="29542" b="15841"/>
          <a:stretch/>
        </p:blipFill>
        <p:spPr>
          <a:xfrm>
            <a:off x="5940322" y="1328902"/>
            <a:ext cx="6031685" cy="4803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6986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6E00938F-2FF2-4468-A6AE-871128E33ED8}"/>
              </a:ext>
            </a:extLst>
          </p:cNvPr>
          <p:cNvSpPr txBox="1"/>
          <p:nvPr/>
        </p:nvSpPr>
        <p:spPr>
          <a:xfrm>
            <a:off x="109057" y="3641"/>
            <a:ext cx="7998543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문제 풀며 스스로 정리해요 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63EA575-62A7-4F50-8560-66486DD36F2E}"/>
              </a:ext>
            </a:extLst>
          </p:cNvPr>
          <p:cNvGrpSpPr/>
          <p:nvPr/>
        </p:nvGrpSpPr>
        <p:grpSpPr>
          <a:xfrm>
            <a:off x="0" y="1"/>
            <a:ext cx="12201331" cy="6851339"/>
            <a:chOff x="0" y="1"/>
            <a:chExt cx="12201331" cy="685133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1313867-FA00-4F30-8C60-5E9F0D8D6998}"/>
                </a:ext>
              </a:extLst>
            </p:cNvPr>
            <p:cNvSpPr/>
            <p:nvPr/>
          </p:nvSpPr>
          <p:spPr>
            <a:xfrm>
              <a:off x="0" y="1"/>
              <a:ext cx="109057" cy="50917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7030A0"/>
                </a:solidFill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C72691C7-BB97-4D31-940D-448688A6C154}"/>
                </a:ext>
              </a:extLst>
            </p:cNvPr>
            <p:cNvCxnSpPr>
              <a:cxnSpLocks/>
            </p:cNvCxnSpPr>
            <p:nvPr/>
          </p:nvCxnSpPr>
          <p:spPr>
            <a:xfrm>
              <a:off x="2279" y="513458"/>
              <a:ext cx="12192000" cy="0"/>
            </a:xfrm>
            <a:prstGeom prst="line">
              <a:avLst/>
            </a:prstGeom>
            <a:ln w="9525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593A63-C37D-40EB-BA52-94A232F1D9B8}"/>
                </a:ext>
              </a:extLst>
            </p:cNvPr>
            <p:cNvSpPr txBox="1"/>
            <p:nvPr/>
          </p:nvSpPr>
          <p:spPr>
            <a:xfrm>
              <a:off x="9331" y="6528945"/>
              <a:ext cx="12192000" cy="280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한우리</a:t>
              </a:r>
              <a:r>
                <a:rPr lang="ko-KR" altLang="en-US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  </a:r>
              <a:r>
                <a:rPr lang="en-US" altLang="ko-KR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sk</a:t>
              </a:r>
              <a:r>
                <a:rPr lang="en-US" altLang="ko-KR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</a:t>
              </a: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논술교습소</a:t>
              </a:r>
              <a:endPara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A3A3578-3881-4BBB-A1F1-417F84AFCEA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1340"/>
              <a:ext cx="12192000" cy="0"/>
            </a:xfrm>
            <a:prstGeom prst="line">
              <a:avLst/>
            </a:prstGeom>
            <a:ln w="762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17" name="그림 16">
            <a:extLst>
              <a:ext uri="{FF2B5EF4-FFF2-40B4-BE49-F238E27FC236}">
                <a16:creationId xmlns:a16="http://schemas.microsoft.com/office/drawing/2014/main" id="{26652289-AF15-4012-B538-763341438E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348" t="17370" r="29817" b="36880"/>
          <a:stretch/>
        </p:blipFill>
        <p:spPr>
          <a:xfrm>
            <a:off x="9331" y="1203730"/>
            <a:ext cx="5966650" cy="367027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8D8D096-8E7B-452F-B209-54BBB2D62BE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8831" t="32661" r="29541" b="9725"/>
          <a:stretch/>
        </p:blipFill>
        <p:spPr>
          <a:xfrm>
            <a:off x="6096000" y="1203730"/>
            <a:ext cx="6086669" cy="4738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6960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2219</TotalTime>
  <Words>970</Words>
  <Application>Microsoft Office PowerPoint</Application>
  <PresentationFormat>와이드스크린</PresentationFormat>
  <Paragraphs>136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5" baseType="lpstr">
      <vt:lpstr>THE봉숭아틴트</vt:lpstr>
      <vt:lpstr>나눔스퀘어 Bold</vt:lpstr>
      <vt:lpstr>나눔스퀘어_ac Bold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821098119832</dc:creator>
  <cp:lastModifiedBy>Administrator</cp:lastModifiedBy>
  <cp:revision>102</cp:revision>
  <dcterms:created xsi:type="dcterms:W3CDTF">2021-05-21T01:10:02Z</dcterms:created>
  <dcterms:modified xsi:type="dcterms:W3CDTF">2024-11-07T05:08:36Z</dcterms:modified>
</cp:coreProperties>
</file>