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3" r:id="rId4"/>
    <p:sldId id="287" r:id="rId5"/>
    <p:sldId id="295" r:id="rId6"/>
    <p:sldId id="281" r:id="rId7"/>
    <p:sldId id="294" r:id="rId8"/>
    <p:sldId id="288" r:id="rId9"/>
    <p:sldId id="296" r:id="rId10"/>
    <p:sldId id="285" r:id="rId11"/>
    <p:sldId id="29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DE1B21E-1CA5-47F2-B868-178D5ED441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3" t="21387" r="20228" b="59797"/>
          <a:stretch/>
        </p:blipFill>
        <p:spPr>
          <a:xfrm>
            <a:off x="531735" y="561598"/>
            <a:ext cx="2890619" cy="129041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8323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명과 청이 성립하여 발전하고 쇠락한 시기의 중국의 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명과 청의 경제 발전 및 동서 교류 확대를 이해할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⑧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B65E968-C0AD-4900-A128-348CB308E2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8" t="57406" r="11456" b="3113"/>
          <a:stretch/>
        </p:blipFill>
        <p:spPr>
          <a:xfrm>
            <a:off x="3838576" y="3460243"/>
            <a:ext cx="4482474" cy="33487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7959D0-0DAF-4477-A06D-3B9269352037}"/>
              </a:ext>
            </a:extLst>
          </p:cNvPr>
          <p:cNvSpPr txBox="1"/>
          <p:nvPr/>
        </p:nvSpPr>
        <p:spPr>
          <a:xfrm>
            <a:off x="6753138" y="3460243"/>
            <a:ext cx="620786" cy="24622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A12F9DF-5D61-4EC9-BD8E-9FC85908E7C9}"/>
              </a:ext>
            </a:extLst>
          </p:cNvPr>
          <p:cNvCxnSpPr>
            <a:cxnSpLocks/>
          </p:cNvCxnSpPr>
          <p:nvPr/>
        </p:nvCxnSpPr>
        <p:spPr>
          <a:xfrm>
            <a:off x="7373924" y="3572692"/>
            <a:ext cx="285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A74237-6A0B-49A8-8647-16630190878D}"/>
              </a:ext>
            </a:extLst>
          </p:cNvPr>
          <p:cNvSpPr txBox="1"/>
          <p:nvPr/>
        </p:nvSpPr>
        <p:spPr>
          <a:xfrm>
            <a:off x="7675928" y="3460243"/>
            <a:ext cx="604007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한족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10A7186-5756-4EC6-8243-367120AFC0D3}"/>
              </a:ext>
            </a:extLst>
          </p:cNvPr>
          <p:cNvCxnSpPr>
            <a:cxnSpLocks/>
          </p:cNvCxnSpPr>
          <p:nvPr/>
        </p:nvCxnSpPr>
        <p:spPr>
          <a:xfrm>
            <a:off x="8279492" y="3572692"/>
            <a:ext cx="276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45E0868-73AA-42F2-8A57-C3FE630715A1}"/>
              </a:ext>
            </a:extLst>
          </p:cNvPr>
          <p:cNvSpPr txBox="1"/>
          <p:nvPr/>
        </p:nvSpPr>
        <p:spPr>
          <a:xfrm>
            <a:off x="8581939" y="3460243"/>
            <a:ext cx="729841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만주족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지난주 복습 정리해요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일본 문명의 탄생과 발전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A88D7DFA-43D9-4374-AC94-DBCDE4F3B2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92" t="17982" r="28096" b="25138"/>
          <a:stretch/>
        </p:blipFill>
        <p:spPr>
          <a:xfrm>
            <a:off x="155064" y="1570761"/>
            <a:ext cx="5958211" cy="419782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88C2D74-FC72-4FDA-B218-D26E89EFA9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766" t="26911" r="27959" b="20000"/>
          <a:stretch/>
        </p:blipFill>
        <p:spPr>
          <a:xfrm>
            <a:off x="6113275" y="1985701"/>
            <a:ext cx="5958210" cy="392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" t="1666" r="1214" b="898"/>
          <a:stretch/>
        </p:blipFill>
        <p:spPr>
          <a:xfrm>
            <a:off x="1254287" y="553193"/>
            <a:ext cx="9442938" cy="6351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35480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3F9C67-D245-4EB1-9417-0387E0F23F5D}"/>
              </a:ext>
            </a:extLst>
          </p:cNvPr>
          <p:cNvSpPr txBox="1"/>
          <p:nvPr/>
        </p:nvSpPr>
        <p:spPr>
          <a:xfrm>
            <a:off x="4781723" y="5080182"/>
            <a:ext cx="679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홍무제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553692-DF88-49BF-A9C3-4FEC9A543C58}"/>
              </a:ext>
            </a:extLst>
          </p:cNvPr>
          <p:cNvSpPr/>
          <p:nvPr/>
        </p:nvSpPr>
        <p:spPr>
          <a:xfrm>
            <a:off x="4840448" y="5104173"/>
            <a:ext cx="419450" cy="356744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5D5DD9-9C80-47D2-8EB0-869FEA581DB9}"/>
              </a:ext>
            </a:extLst>
          </p:cNvPr>
          <p:cNvSpPr/>
          <p:nvPr/>
        </p:nvSpPr>
        <p:spPr>
          <a:xfrm>
            <a:off x="4527233" y="3913337"/>
            <a:ext cx="671121" cy="180576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03638F-D8E9-497E-A428-ED3EDFDAA325}"/>
              </a:ext>
            </a:extLst>
          </p:cNvPr>
          <p:cNvSpPr/>
          <p:nvPr/>
        </p:nvSpPr>
        <p:spPr>
          <a:xfrm>
            <a:off x="7164198" y="1445401"/>
            <a:ext cx="545285" cy="17218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BB391DD-C156-4B1B-9D77-CC83730283F9}"/>
              </a:ext>
            </a:extLst>
          </p:cNvPr>
          <p:cNvSpPr/>
          <p:nvPr/>
        </p:nvSpPr>
        <p:spPr>
          <a:xfrm>
            <a:off x="6971250" y="2755293"/>
            <a:ext cx="335559" cy="1637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0D74BFB-E827-48E8-AE7D-4898DF2C94EB}"/>
              </a:ext>
            </a:extLst>
          </p:cNvPr>
          <p:cNvSpPr/>
          <p:nvPr/>
        </p:nvSpPr>
        <p:spPr>
          <a:xfrm>
            <a:off x="8107601" y="3695204"/>
            <a:ext cx="334186" cy="20844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AFC14F-0394-4C98-A1DC-A1CA6E317EA1}"/>
              </a:ext>
            </a:extLst>
          </p:cNvPr>
          <p:cNvSpPr/>
          <p:nvPr/>
        </p:nvSpPr>
        <p:spPr>
          <a:xfrm>
            <a:off x="9351381" y="4968728"/>
            <a:ext cx="276837" cy="2308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4B77CA4-3315-4B21-A116-5FF95D1B506E}"/>
              </a:ext>
            </a:extLst>
          </p:cNvPr>
          <p:cNvSpPr/>
          <p:nvPr/>
        </p:nvSpPr>
        <p:spPr>
          <a:xfrm>
            <a:off x="9972166" y="5706959"/>
            <a:ext cx="276837" cy="19735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4FD19AF1-9B4E-4ABE-A63C-29722F1F1A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43390" y="4032006"/>
            <a:ext cx="1842671" cy="1614881"/>
          </a:xfrm>
          <a:prstGeom prst="bentConnector3">
            <a:avLst>
              <a:gd name="adj1" fmla="val 99168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D71106E-5512-499B-A91F-A2765CF22A31}"/>
              </a:ext>
            </a:extLst>
          </p:cNvPr>
          <p:cNvCxnSpPr/>
          <p:nvPr/>
        </p:nvCxnSpPr>
        <p:spPr>
          <a:xfrm flipV="1">
            <a:off x="8357285" y="5239378"/>
            <a:ext cx="876650" cy="504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AF86F12-7982-4301-8BF8-9C497DEA562A}"/>
              </a:ext>
            </a:extLst>
          </p:cNvPr>
          <p:cNvSpPr txBox="1"/>
          <p:nvPr/>
        </p:nvSpPr>
        <p:spPr>
          <a:xfrm>
            <a:off x="7296078" y="5514561"/>
            <a:ext cx="922789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134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 전성기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DFE49C-83DF-4D3E-AB5C-0360D440CEF1}"/>
              </a:ext>
            </a:extLst>
          </p:cNvPr>
          <p:cNvSpPr txBox="1"/>
          <p:nvPr/>
        </p:nvSpPr>
        <p:spPr>
          <a:xfrm>
            <a:off x="7270910" y="5758469"/>
            <a:ext cx="2080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강건성세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어진 임금이 다스린 좋은 시대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258B66-5821-454D-8AA5-43B2FAA4C569}"/>
              </a:ext>
            </a:extLst>
          </p:cNvPr>
          <p:cNvSpPr/>
          <p:nvPr/>
        </p:nvSpPr>
        <p:spPr>
          <a:xfrm>
            <a:off x="3376246" y="5689375"/>
            <a:ext cx="290146" cy="617134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4C9051-AEA0-4EDE-B8D3-229C75F9C131}"/>
              </a:ext>
            </a:extLst>
          </p:cNvPr>
          <p:cNvSpPr txBox="1"/>
          <p:nvPr/>
        </p:nvSpPr>
        <p:spPr>
          <a:xfrm>
            <a:off x="3587689" y="5937177"/>
            <a:ext cx="238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제도적으로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비슷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 성장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서민 지위 향상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교역 활발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DCDD84-07E5-4D3F-8036-B83B050820F2}"/>
              </a:ext>
            </a:extLst>
          </p:cNvPr>
          <p:cNvSpPr txBox="1"/>
          <p:nvPr/>
        </p:nvSpPr>
        <p:spPr>
          <a:xfrm>
            <a:off x="2516695" y="4006707"/>
            <a:ext cx="679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아스카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" t="13846" r="50028" b="1795"/>
          <a:stretch/>
        </p:blipFill>
        <p:spPr>
          <a:xfrm>
            <a:off x="1459836" y="1044841"/>
            <a:ext cx="4818184" cy="57853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몽골족을 몰아내고 한족의 나라를 세운 명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28964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명이 성립한 뒤 발전하는 과정을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A0C736-CBE9-4D32-AFCA-9B9BDE7147B9}"/>
              </a:ext>
            </a:extLst>
          </p:cNvPr>
          <p:cNvSpPr txBox="1"/>
          <p:nvPr/>
        </p:nvSpPr>
        <p:spPr>
          <a:xfrm>
            <a:off x="4829357" y="1074711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86~87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C5AA1D-7801-4245-9CB9-DC0DA27E307D}"/>
              </a:ext>
            </a:extLst>
          </p:cNvPr>
          <p:cNvSpPr txBox="1"/>
          <p:nvPr/>
        </p:nvSpPr>
        <p:spPr>
          <a:xfrm>
            <a:off x="228870" y="4342479"/>
            <a:ext cx="1134846" cy="584775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환관과 내각을 둘러싼 유학자 관료들의 권력 다툼으로 정치 갈등 심하고 국가 기강 무너짐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2E8AB9-F75F-4BDF-B9D3-02A5D0EB429D}"/>
              </a:ext>
            </a:extLst>
          </p:cNvPr>
          <p:cNvSpPr txBox="1"/>
          <p:nvPr/>
        </p:nvSpPr>
        <p:spPr>
          <a:xfrm>
            <a:off x="106" y="2701130"/>
            <a:ext cx="9515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 절대 권력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32590B-1EC9-4D22-9AA2-AA704B152EC2}"/>
              </a:ext>
            </a:extLst>
          </p:cNvPr>
          <p:cNvSpPr txBox="1"/>
          <p:nvPr/>
        </p:nvSpPr>
        <p:spPr>
          <a:xfrm>
            <a:off x="759709" y="1116016"/>
            <a:ext cx="604007" cy="246221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홍무제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20EC27-F67B-4FE8-A92F-E74F5F9CF0F6}"/>
              </a:ext>
            </a:extLst>
          </p:cNvPr>
          <p:cNvSpPr txBox="1"/>
          <p:nvPr/>
        </p:nvSpPr>
        <p:spPr>
          <a:xfrm>
            <a:off x="759709" y="3607547"/>
            <a:ext cx="604007" cy="246221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영락제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8BDCA138-E348-4089-9943-3656BF15B49E}"/>
              </a:ext>
            </a:extLst>
          </p:cNvPr>
          <p:cNvCxnSpPr>
            <a:stCxn id="18" idx="2"/>
          </p:cNvCxnSpPr>
          <p:nvPr/>
        </p:nvCxnSpPr>
        <p:spPr>
          <a:xfrm rot="16200000" flipH="1">
            <a:off x="1291670" y="1132279"/>
            <a:ext cx="172948" cy="6328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9E45A7F-43DF-49D1-9963-3E7D6FEF7894}"/>
              </a:ext>
            </a:extLst>
          </p:cNvPr>
          <p:cNvSpPr txBox="1"/>
          <p:nvPr/>
        </p:nvSpPr>
        <p:spPr>
          <a:xfrm>
            <a:off x="498579" y="3857228"/>
            <a:ext cx="1071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정화 원정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자금성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베이징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DA77719E-0510-42AB-9894-4378FA082C9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1671" y="1507280"/>
            <a:ext cx="172948" cy="6328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B1802269-67E5-43D4-B98A-37BDFC004551}"/>
              </a:ext>
            </a:extLst>
          </p:cNvPr>
          <p:cNvCxnSpPr/>
          <p:nvPr/>
        </p:nvCxnSpPr>
        <p:spPr>
          <a:xfrm rot="16200000" flipH="1">
            <a:off x="1291671" y="1838762"/>
            <a:ext cx="172948" cy="6328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960D74D-B3D1-4186-B0A2-7CCF774ACA3C}"/>
              </a:ext>
            </a:extLst>
          </p:cNvPr>
          <p:cNvSpPr txBox="1"/>
          <p:nvPr/>
        </p:nvSpPr>
        <p:spPr>
          <a:xfrm>
            <a:off x="6155456" y="1414015"/>
            <a:ext cx="515911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백성에 대한 지배를 확실히 하기 위함이다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이갑제를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실시하여 국가의 통치가 농민에게 직접 미치도록 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F31673-188E-4DB5-8BBB-C9365B95194B}"/>
              </a:ext>
            </a:extLst>
          </p:cNvPr>
          <p:cNvSpPr txBox="1"/>
          <p:nvPr/>
        </p:nvSpPr>
        <p:spPr>
          <a:xfrm>
            <a:off x="6155456" y="1970114"/>
            <a:ext cx="515911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명은 한족의 문화를 되살리기 위해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 풍습의 변발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모자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옷 등을 금지하고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</a:p>
          <a:p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형사취수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등의 유목민의 풍습도 금하였다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230819-E13C-4268-B225-7893CBDF946B}"/>
              </a:ext>
            </a:extLst>
          </p:cNvPr>
          <p:cNvSpPr txBox="1"/>
          <p:nvPr/>
        </p:nvSpPr>
        <p:spPr>
          <a:xfrm>
            <a:off x="6155456" y="2500778"/>
            <a:ext cx="5159111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유교의 전통을 되살리기 위함이다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백성들이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육유의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가르침을 따르게 되면 가정이 화목해지고 이웃끼리 다툼도 줄어들 것이며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범죄도 덜 일어날 것이기 때문이다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착하고 선한 마음을 가진 사람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성실한 사람이 많아지면 국가에도 이익이 될 수 있기 때문에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이런 내용을 전파하고 교육시켰을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FEA1E31-0E3F-497B-BD21-C35ED7B7E5F9}"/>
              </a:ext>
            </a:extLst>
          </p:cNvPr>
          <p:cNvCxnSpPr>
            <a:cxnSpLocks/>
          </p:cNvCxnSpPr>
          <p:nvPr/>
        </p:nvCxnSpPr>
        <p:spPr>
          <a:xfrm flipV="1">
            <a:off x="1394196" y="4634866"/>
            <a:ext cx="4125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0BCDADD-92B7-4DA8-A5C0-E97CFFB46D4B}"/>
              </a:ext>
            </a:extLst>
          </p:cNvPr>
          <p:cNvSpPr txBox="1"/>
          <p:nvPr/>
        </p:nvSpPr>
        <p:spPr>
          <a:xfrm>
            <a:off x="1857674" y="5560103"/>
            <a:ext cx="1403686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중앙권력에 반발하며 생긴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강남의 부유한 지주 계급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25A05A-2443-4E31-B414-CDFC69FB0C99}"/>
              </a:ext>
            </a:extLst>
          </p:cNvPr>
          <p:cNvSpPr txBox="1"/>
          <p:nvPr/>
        </p:nvSpPr>
        <p:spPr>
          <a:xfrm>
            <a:off x="2627177" y="3932560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BA22DB-6D9B-4D0A-B6CD-DD53C5AFD1EE}"/>
              </a:ext>
            </a:extLst>
          </p:cNvPr>
          <p:cNvSpPr txBox="1"/>
          <p:nvPr/>
        </p:nvSpPr>
        <p:spPr>
          <a:xfrm>
            <a:off x="3777797" y="3941352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C84364-D01C-45F5-9BB6-D3E106B184C2}"/>
              </a:ext>
            </a:extLst>
          </p:cNvPr>
          <p:cNvSpPr txBox="1"/>
          <p:nvPr/>
        </p:nvSpPr>
        <p:spPr>
          <a:xfrm>
            <a:off x="5394492" y="3941352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3FD794-225F-4E7A-A9BB-AA9F4B6F4538}"/>
              </a:ext>
            </a:extLst>
          </p:cNvPr>
          <p:cNvSpPr txBox="1"/>
          <p:nvPr/>
        </p:nvSpPr>
        <p:spPr>
          <a:xfrm>
            <a:off x="4463714" y="5560103"/>
            <a:ext cx="1403686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 발달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 무역 허용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수요 ↑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신사층과 혼인 관계 교류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03D36B40-E70A-4AD4-9B63-03D93C90DE6F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 flipV="1">
            <a:off x="353545" y="1239126"/>
            <a:ext cx="406164" cy="1403719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B26749B7-AD9A-4D32-A9C4-4FD13CF0508B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>
            <a:off x="353549" y="2940058"/>
            <a:ext cx="406161" cy="790601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AB9169E-6959-430C-AF7C-C6DD6E52A913}"/>
              </a:ext>
            </a:extLst>
          </p:cNvPr>
          <p:cNvSpPr txBox="1"/>
          <p:nvPr/>
        </p:nvSpPr>
        <p:spPr>
          <a:xfrm>
            <a:off x="6155456" y="4242669"/>
            <a:ext cx="515911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 백성들을 교화하고 교육해요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여론 조성도 우리의 몫이지요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우리는 지방관과 긴밀한 유대 관계를 유지하면서 향촌 사회에서 큰 영향력을 행사하고 있답니다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48A90A-0618-438C-92D2-594897428595}"/>
              </a:ext>
            </a:extLst>
          </p:cNvPr>
          <p:cNvSpPr txBox="1"/>
          <p:nvPr/>
        </p:nvSpPr>
        <p:spPr>
          <a:xfrm>
            <a:off x="6155456" y="4821789"/>
            <a:ext cx="515911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 기존의 엄격한 신분 질서를 강조한 성리학과는 다르지요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그래서 서민들에게 지지를 받고 있어요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양명학에서는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지식과 실천의 일치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강조합니다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52" grpId="0" animBg="1"/>
      <p:bldP spid="5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96" t="12178" r="1379" b="2180"/>
          <a:stretch/>
        </p:blipFill>
        <p:spPr>
          <a:xfrm>
            <a:off x="6523380" y="551491"/>
            <a:ext cx="4866458" cy="613357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D5D84D-6AFA-4278-ADCD-5885E8F2191D}"/>
              </a:ext>
            </a:extLst>
          </p:cNvPr>
          <p:cNvSpPr txBox="1"/>
          <p:nvPr/>
        </p:nvSpPr>
        <p:spPr>
          <a:xfrm>
            <a:off x="10223985" y="5561582"/>
            <a:ext cx="11962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100~101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DED989-BED9-4A63-9692-961BC95A8561}"/>
              </a:ext>
            </a:extLst>
          </p:cNvPr>
          <p:cNvSpPr txBox="1"/>
          <p:nvPr/>
        </p:nvSpPr>
        <p:spPr>
          <a:xfrm>
            <a:off x="946220" y="3833955"/>
            <a:ext cx="5159111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명과 조선은 조공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책봉 관계를 맺었다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명 중심의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동아시아 질서 성립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꾀하였고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조선은 대외 관계의 안정과 선진 문물의 수용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위해 조공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책봉 관계를  맺은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8FD5E-6277-4416-AAE3-633B3136AA2C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몽골족을 몰아내고 한족의 나라를 세운 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F92F64-977E-49D2-8A17-9A72F7C0ECA8}"/>
              </a:ext>
            </a:extLst>
          </p:cNvPr>
          <p:cNvSpPr txBox="1"/>
          <p:nvPr/>
        </p:nvSpPr>
        <p:spPr>
          <a:xfrm>
            <a:off x="109056" y="551491"/>
            <a:ext cx="628964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명이 성립한 뒤 발전하고 멸망하는 과정을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FA03F3-553B-4406-98F7-EE4C0A5D5977}"/>
              </a:ext>
            </a:extLst>
          </p:cNvPr>
          <p:cNvSpPr txBox="1"/>
          <p:nvPr/>
        </p:nvSpPr>
        <p:spPr>
          <a:xfrm>
            <a:off x="10223985" y="5931500"/>
            <a:ext cx="11962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102~103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3CA5C9-059C-41E2-942B-4EEFBEF29223}"/>
              </a:ext>
            </a:extLst>
          </p:cNvPr>
          <p:cNvSpPr txBox="1"/>
          <p:nvPr/>
        </p:nvSpPr>
        <p:spPr>
          <a:xfrm>
            <a:off x="946220" y="4446958"/>
            <a:ext cx="5452483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유럽의 상인들과 함께 중국에 들어온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마테오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리치 같은 서양의 선교사들은 중국에서 과학적 지식을 전파하는 것을 선교의 수단으로 활용하며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중국에 서양의 여러 과학 지식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수학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천문학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지리학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 물품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자명종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지구의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망원경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전하였다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이에 따라 중국에 서양의 지리와 학문이 전파되어 사회 발전에 힘을 보탰다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 내 천주교 신자도 늘어났다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곤여만국전도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중국인의 세계관을 넓혀 주었다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한편 명에 전래된 서양의 학문과 물품들은 조선과 일본 등 주변 나라에까지 전해졌다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ADAD5E-BFD9-4B11-B1FC-0EFC8B62E56F}"/>
              </a:ext>
            </a:extLst>
          </p:cNvPr>
          <p:cNvSpPr txBox="1"/>
          <p:nvPr/>
        </p:nvSpPr>
        <p:spPr>
          <a:xfrm>
            <a:off x="946220" y="5875828"/>
            <a:ext cx="5159111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임진왜란에 참여하여 전쟁 비용을 쓰면서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재정난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겪게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그럼에도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황족들의 사치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계속되었고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조정에서는 권력 다툼이 심화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재정 적자를 메우기 위하여 세금을 더 내게 하자 굶주림에 내몰린 농민들은 반란을 일으켰다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584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" t="13205" r="51296" b="2821"/>
          <a:stretch/>
        </p:blipFill>
        <p:spPr>
          <a:xfrm>
            <a:off x="1232501" y="800776"/>
            <a:ext cx="4895737" cy="600824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FAE24B-419C-4480-ADE4-75978B72EB45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정화의 항해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C52E4B-A752-490B-9FE8-C4AAAE39B2DC}"/>
              </a:ext>
            </a:extLst>
          </p:cNvPr>
          <p:cNvSpPr txBox="1"/>
          <p:nvPr/>
        </p:nvSpPr>
        <p:spPr>
          <a:xfrm>
            <a:off x="109056" y="551491"/>
            <a:ext cx="799854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명 시대 때 있었던 정화의 항해에 대하여 탐구해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DED989-BED9-4A63-9692-961BC95A8561}"/>
              </a:ext>
            </a:extLst>
          </p:cNvPr>
          <p:cNvSpPr txBox="1"/>
          <p:nvPr/>
        </p:nvSpPr>
        <p:spPr>
          <a:xfrm>
            <a:off x="6380403" y="5586820"/>
            <a:ext cx="534740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항해술과 조선술이 있었다는 의미이므로 국력이 강했을 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다른 나라에 조공 관계를 요구했을 때 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30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 개국이나 응한 것을 보니 부강한 선진국이었을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382000-D403-435A-B7FE-7A20576A785E}"/>
              </a:ext>
            </a:extLst>
          </p:cNvPr>
          <p:cNvSpPr txBox="1"/>
          <p:nvPr/>
        </p:nvSpPr>
        <p:spPr>
          <a:xfrm>
            <a:off x="759709" y="1401242"/>
            <a:ext cx="604007" cy="246221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영락제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91" t="12564" r="2287" b="54897"/>
          <a:stretch/>
        </p:blipFill>
        <p:spPr>
          <a:xfrm>
            <a:off x="7133425" y="3952888"/>
            <a:ext cx="5058575" cy="232991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" t="12564" r="51368" b="2436"/>
          <a:stretch/>
        </p:blipFill>
        <p:spPr>
          <a:xfrm>
            <a:off x="2087176" y="764974"/>
            <a:ext cx="4964253" cy="60863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중국의 주인이 된 만주족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청을 세우다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16590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청이 성립하고 발전하는 과정을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29A0B4-BE0B-4A6D-A006-17E0722C9B3F}"/>
              </a:ext>
            </a:extLst>
          </p:cNvPr>
          <p:cNvSpPr txBox="1"/>
          <p:nvPr/>
        </p:nvSpPr>
        <p:spPr>
          <a:xfrm>
            <a:off x="5272548" y="1005717"/>
            <a:ext cx="10644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111~112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38C7BE-3ECE-453E-84D5-4F4DD697F4DE}"/>
              </a:ext>
            </a:extLst>
          </p:cNvPr>
          <p:cNvSpPr txBox="1"/>
          <p:nvPr/>
        </p:nvSpPr>
        <p:spPr>
          <a:xfrm>
            <a:off x="9331" y="3942094"/>
            <a:ext cx="232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대내외적인 평화와 번영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정치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경제의 안정과 성장으로 청 최고의 전성기 평가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4E3EB9-8507-4CB5-93D1-8DBCF891C681}"/>
              </a:ext>
            </a:extLst>
          </p:cNvPr>
          <p:cNvSpPr txBox="1"/>
          <p:nvPr/>
        </p:nvSpPr>
        <p:spPr>
          <a:xfrm>
            <a:off x="7119258" y="1523491"/>
            <a:ext cx="492453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팔기제는 청의 강력한 군사력의 바탕이 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팔기제는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군사 제도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 동시에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인구 통계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조세 납부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병력 동원 등을 위한 행정 제도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로도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활용되어 중국 정복과 통일 과정에서 중요한 역할을 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3373B9-2AA3-40B7-8A04-A31831053FC3}"/>
              </a:ext>
            </a:extLst>
          </p:cNvPr>
          <p:cNvSpPr txBox="1"/>
          <p:nvPr/>
        </p:nvSpPr>
        <p:spPr>
          <a:xfrm>
            <a:off x="7119258" y="2218679"/>
            <a:ext cx="50820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만주족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FD48E6-7A23-4BAA-98B9-505DF5479B0B}"/>
              </a:ext>
            </a:extLst>
          </p:cNvPr>
          <p:cNvSpPr txBox="1"/>
          <p:nvPr/>
        </p:nvSpPr>
        <p:spPr>
          <a:xfrm>
            <a:off x="7119258" y="2547464"/>
            <a:ext cx="5082073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청은 오늘날 중국 영역보다 더 넓은 영토를 차지했었다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청은 강희제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옹정제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건륭제에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걸쳐 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130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여년 간 안정된 통치를 바탕으로 전성기를 누렸다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대외적으로 만주와 중국 이외에 몽골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칭하이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신장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티베트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타이완 지역까지 영토를 확대하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 중국 역사상 최대의 영역을 차지하였다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이에 따라 만주족과 한족 이외에 다양한 민족들이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청의 지배 아래 놓이게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                                                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중학교 역사 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좋은책신사고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71BEBA-438A-4CA5-A055-653D9C00B044}"/>
              </a:ext>
            </a:extLst>
          </p:cNvPr>
          <p:cNvSpPr txBox="1"/>
          <p:nvPr/>
        </p:nvSpPr>
        <p:spPr>
          <a:xfrm>
            <a:off x="759709" y="1033788"/>
            <a:ext cx="699975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누르하치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53B7EC-7E7F-48EE-8DB3-84B93E3ACF1A}"/>
              </a:ext>
            </a:extLst>
          </p:cNvPr>
          <p:cNvSpPr txBox="1"/>
          <p:nvPr/>
        </p:nvSpPr>
        <p:spPr>
          <a:xfrm>
            <a:off x="759709" y="2330938"/>
            <a:ext cx="699975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홍타이지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9DBDBE-DA7E-496B-B5A2-7F431E5722D4}"/>
              </a:ext>
            </a:extLst>
          </p:cNvPr>
          <p:cNvSpPr txBox="1"/>
          <p:nvPr/>
        </p:nvSpPr>
        <p:spPr>
          <a:xfrm>
            <a:off x="759710" y="3722200"/>
            <a:ext cx="618604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강희제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A0D5F6-E841-44FB-8C70-228000BBBBBE}"/>
              </a:ext>
            </a:extLst>
          </p:cNvPr>
          <p:cNvSpPr txBox="1"/>
          <p:nvPr/>
        </p:nvSpPr>
        <p:spPr>
          <a:xfrm>
            <a:off x="759710" y="4301877"/>
            <a:ext cx="618604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옹정제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9B61DF-D176-4A40-8E80-06BC0E01C7CE}"/>
              </a:ext>
            </a:extLst>
          </p:cNvPr>
          <p:cNvSpPr txBox="1"/>
          <p:nvPr/>
        </p:nvSpPr>
        <p:spPr>
          <a:xfrm>
            <a:off x="784198" y="4784850"/>
            <a:ext cx="618604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건륭제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24861-BF34-47F3-919E-A9216EE36B65}"/>
              </a:ext>
            </a:extLst>
          </p:cNvPr>
          <p:cNvSpPr txBox="1"/>
          <p:nvPr/>
        </p:nvSpPr>
        <p:spPr>
          <a:xfrm>
            <a:off x="4783669" y="3939101"/>
            <a:ext cx="155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115/ p. 124~125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F44447-2893-4499-8653-D8D37A9B1AAA}"/>
              </a:ext>
            </a:extLst>
          </p:cNvPr>
          <p:cNvSpPr txBox="1"/>
          <p:nvPr/>
        </p:nvSpPr>
        <p:spPr>
          <a:xfrm>
            <a:off x="33819" y="4529323"/>
            <a:ext cx="23220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청의 전성기를 더욱 발전시키고 안정시킨 황제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2FC997-42B0-437F-A703-A13C1B9C623D}"/>
              </a:ext>
            </a:extLst>
          </p:cNvPr>
          <p:cNvSpPr txBox="1"/>
          <p:nvPr/>
        </p:nvSpPr>
        <p:spPr>
          <a:xfrm>
            <a:off x="33819" y="5046509"/>
            <a:ext cx="23220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정치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군사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문화 융성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 영토 최대 확장 시기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(60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직접 원정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한족과 함께 정복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367F7D17-9412-4CFE-9394-7BDE24FEE6B2}"/>
              </a:ext>
            </a:extLst>
          </p:cNvPr>
          <p:cNvCxnSpPr>
            <a:cxnSpLocks/>
          </p:cNvCxnSpPr>
          <p:nvPr/>
        </p:nvCxnSpPr>
        <p:spPr>
          <a:xfrm flipH="1">
            <a:off x="1109697" y="1313565"/>
            <a:ext cx="1" cy="905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13E1F3C-7A3D-4FFE-B5CD-AB04A26FF171}"/>
              </a:ext>
            </a:extLst>
          </p:cNvPr>
          <p:cNvCxnSpPr>
            <a:cxnSpLocks/>
          </p:cNvCxnSpPr>
          <p:nvPr/>
        </p:nvCxnSpPr>
        <p:spPr>
          <a:xfrm>
            <a:off x="1109698" y="2639906"/>
            <a:ext cx="0" cy="967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1B80CE2-8D0E-49D7-B732-FA2401A8ADA5}"/>
              </a:ext>
            </a:extLst>
          </p:cNvPr>
          <p:cNvSpPr txBox="1"/>
          <p:nvPr/>
        </p:nvSpPr>
        <p:spPr>
          <a:xfrm>
            <a:off x="4829611" y="4233992"/>
            <a:ext cx="2133898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만주족에게 복종한다는 의미로 남자들은 모두 머리를 깎고 변발을 하도록 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만주어를 사용하고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만주식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옷을 입도록 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황제나 체제에 대한 비판을 담은 서적을 출판하는 것을 금지했다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740506-D30D-4E42-A84C-7EDB1CE98B08}"/>
              </a:ext>
            </a:extLst>
          </p:cNvPr>
          <p:cNvSpPr txBox="1"/>
          <p:nvPr/>
        </p:nvSpPr>
        <p:spPr>
          <a:xfrm>
            <a:off x="2331365" y="6277430"/>
            <a:ext cx="38680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청은 한족에 대해 강경책과 회유책을 적절히 사용했기 때문에 소수의 이민족이 세운 왕조임에도 불구하고 오랫동안 안정을 유지할 수 있었다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CB07FAF-BCA5-4C27-B508-AEABB0893ADF}"/>
              </a:ext>
            </a:extLst>
          </p:cNvPr>
          <p:cNvSpPr/>
          <p:nvPr/>
        </p:nvSpPr>
        <p:spPr>
          <a:xfrm>
            <a:off x="7165279" y="4941772"/>
            <a:ext cx="308657" cy="18540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497DF14-FC94-4BDC-B254-7C2979461647}"/>
              </a:ext>
            </a:extLst>
          </p:cNvPr>
          <p:cNvCxnSpPr>
            <a:cxnSpLocks/>
          </p:cNvCxnSpPr>
          <p:nvPr/>
        </p:nvCxnSpPr>
        <p:spPr>
          <a:xfrm>
            <a:off x="1602297" y="5142451"/>
            <a:ext cx="3181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1FDDA3F-6B85-4369-A188-53595ACA321B}"/>
              </a:ext>
            </a:extLst>
          </p:cNvPr>
          <p:cNvSpPr txBox="1"/>
          <p:nvPr/>
        </p:nvSpPr>
        <p:spPr>
          <a:xfrm>
            <a:off x="3251129" y="4954388"/>
            <a:ext cx="15325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지식인 회유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《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사고전서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》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편찬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A1E3230-C15F-487B-B282-02003FBAFDBA}"/>
              </a:ext>
            </a:extLst>
          </p:cNvPr>
          <p:cNvCxnSpPr/>
          <p:nvPr/>
        </p:nvCxnSpPr>
        <p:spPr>
          <a:xfrm>
            <a:off x="8045042" y="5037201"/>
            <a:ext cx="3439486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5E7FCC8-3131-4630-B037-35627B2E3573}"/>
              </a:ext>
            </a:extLst>
          </p:cNvPr>
          <p:cNvSpPr txBox="1"/>
          <p:nvPr/>
        </p:nvSpPr>
        <p:spPr>
          <a:xfrm>
            <a:off x="10638661" y="3962551"/>
            <a:ext cx="155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124~125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F76CB4-2CD2-497D-A831-04AFB53DEA16}"/>
              </a:ext>
            </a:extLst>
          </p:cNvPr>
          <p:cNvSpPr txBox="1"/>
          <p:nvPr/>
        </p:nvSpPr>
        <p:spPr>
          <a:xfrm>
            <a:off x="7593908" y="5659780"/>
            <a:ext cx="4615812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《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사고전서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》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편찬은 당대의 서적을 국가가 모두 모아 정리했다는 데 의의가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이에 따라 편찬 사업이 활발해지고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지식이 체계적으로 정리되었다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그러나 모든 책의 내용을 검열하면서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사상 통제 정책인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문자의 옥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일으키는 역할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하기도 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FF2BE1-B954-424E-AED7-FFC7C54DA891}"/>
              </a:ext>
            </a:extLst>
          </p:cNvPr>
          <p:cNvSpPr txBox="1"/>
          <p:nvPr/>
        </p:nvSpPr>
        <p:spPr>
          <a:xfrm>
            <a:off x="1100861" y="1349896"/>
            <a:ext cx="7748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여진족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후금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BEC4D7-1DD4-4166-9D4E-1073EDE892DD}"/>
              </a:ext>
            </a:extLst>
          </p:cNvPr>
          <p:cNvSpPr txBox="1"/>
          <p:nvPr/>
        </p:nvSpPr>
        <p:spPr>
          <a:xfrm>
            <a:off x="1100861" y="2591467"/>
            <a:ext cx="7748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만주족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77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36" grpId="0" animBg="1"/>
      <p:bldP spid="39" grpId="0" animBg="1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82" t="13589" r="1725" b="6026"/>
          <a:stretch/>
        </p:blipFill>
        <p:spPr>
          <a:xfrm>
            <a:off x="5946790" y="908530"/>
            <a:ext cx="5138226" cy="5900492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91" t="45226" r="2287" b="2436"/>
          <a:stretch/>
        </p:blipFill>
        <p:spPr>
          <a:xfrm>
            <a:off x="48741" y="1040605"/>
            <a:ext cx="5058575" cy="37476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세계의 은이 중국으로 간 까닭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5897461" y="551491"/>
            <a:ext cx="484883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세계의 은이 중국으로 흘러 들어가며 생긴 변화를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05D0394-5543-48CC-ADA2-63CFC2DFD5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09" t="47545" r="1400" b="47704"/>
          <a:stretch/>
        </p:blipFill>
        <p:spPr>
          <a:xfrm>
            <a:off x="444616" y="1268620"/>
            <a:ext cx="4672668" cy="33546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CB7547-71C7-45ED-8C95-99F94837A819}"/>
              </a:ext>
            </a:extLst>
          </p:cNvPr>
          <p:cNvSpPr txBox="1"/>
          <p:nvPr/>
        </p:nvSpPr>
        <p:spPr>
          <a:xfrm>
            <a:off x="2676088" y="4331317"/>
            <a:ext cx="216341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 물품이 유럽에서 인기가 많았기 때문에 중국 물품을 유럽으로 수입해 가면 많은 돈을 벌 수 있었다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228116-BE6F-4F4C-93F9-E5FFF10F569A}"/>
              </a:ext>
            </a:extLst>
          </p:cNvPr>
          <p:cNvSpPr txBox="1"/>
          <p:nvPr/>
        </p:nvSpPr>
        <p:spPr>
          <a:xfrm>
            <a:off x="520117" y="4331317"/>
            <a:ext cx="216341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누각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꽃이 꽂혀 있는 도자기 모양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시중들의 모양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양산과 시종의 옷과 모자 등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63FC0C-E11D-4888-B746-DB42F5C1533C}"/>
              </a:ext>
            </a:extLst>
          </p:cNvPr>
          <p:cNvSpPr txBox="1"/>
          <p:nvPr/>
        </p:nvSpPr>
        <p:spPr>
          <a:xfrm>
            <a:off x="520117" y="5050744"/>
            <a:ext cx="4244665" cy="1215717"/>
          </a:xfrm>
          <a:prstGeom prst="rect">
            <a:avLst/>
          </a:prstGeom>
          <a:solidFill>
            <a:schemeClr val="bg1"/>
          </a:solidFill>
          <a:ln>
            <a:solidFill>
              <a:srgbClr val="FF5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서양 상류층을 열광시킨 중국 문화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17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세기 서양 선교사들의 활발한 활동으로 중국 문화가 유럽에 소개되면서 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18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세기 말까지 유럽 상류층에는 </a:t>
            </a:r>
            <a:r>
              <a:rPr lang="ko-KR" altLang="en-US" sz="9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시누아즈리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중국풍 양식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선풍적인 인기를 끌었다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군주들은 궁전을 중국 도자기로 치장하고 가구도 중국풍으로 장식하였다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중국풍 정자를 짓고 </a:t>
            </a:r>
            <a:r>
              <a:rPr lang="ko-KR" altLang="en-US" sz="9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징더전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 제일의 도자기 생산지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 생산한 찻잔으로 차 모임을 가지는 것도 유행하였다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중국의 고급스러운 도자기와 장식은 당시 귀족들 사이에서 부의 척도로 여겨졌다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이렇듯 당시 유럽인들에게 중국은 세련된 도자기를 생산하는 발전한 국가였고 큰 부러움의 대상이었다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                                                                  _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중학교 역사 ①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천재교육</a:t>
            </a:r>
            <a:endParaRPr lang="en-US" altLang="ko-KR" sz="9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988CD8-6224-44C6-8E88-C3F3414C921A}"/>
              </a:ext>
            </a:extLst>
          </p:cNvPr>
          <p:cNvSpPr txBox="1"/>
          <p:nvPr/>
        </p:nvSpPr>
        <p:spPr>
          <a:xfrm>
            <a:off x="8332386" y="6151882"/>
            <a:ext cx="330138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중국의 경제가 확장되고 은이 화폐의 기본 단위가 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6E9B96-A3CB-40AE-86AB-051C72FD0D8B}"/>
              </a:ext>
            </a:extLst>
          </p:cNvPr>
          <p:cNvSpPr txBox="1"/>
          <p:nvPr/>
        </p:nvSpPr>
        <p:spPr>
          <a:xfrm>
            <a:off x="7588985" y="5268675"/>
            <a:ext cx="4477912" cy="523220"/>
          </a:xfrm>
          <a:prstGeom prst="rect">
            <a:avLst/>
          </a:prstGeom>
          <a:solidFill>
            <a:schemeClr val="bg1"/>
          </a:solidFill>
          <a:ln>
            <a:solidFill>
              <a:srgbClr val="FF5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은행의 어원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은행이란 말은 은의 유통에서 비롯되었다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중국의 상인 조합을 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이라고 하는데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이들은 교역에서 결제 대금으로 은을 사용하였다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은을 취급하는 상인 조합인 행이 나중에 금융업의 주체가 되면서 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은행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이라는 말이 나오게 되었다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_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고등학교 세계사</a:t>
            </a:r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교학사</a:t>
            </a:r>
            <a:endParaRPr lang="en-US" altLang="ko-KR" sz="9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0A0E8DFD-DA9D-40D4-9561-DB93FFFBFAE1}"/>
              </a:ext>
            </a:extLst>
          </p:cNvPr>
          <p:cNvCxnSpPr>
            <a:cxnSpLocks/>
          </p:cNvCxnSpPr>
          <p:nvPr/>
        </p:nvCxnSpPr>
        <p:spPr>
          <a:xfrm flipV="1">
            <a:off x="4730448" y="2944536"/>
            <a:ext cx="1804576" cy="16637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8E055E0-4977-4F0D-A563-F272B2E7638F}"/>
              </a:ext>
            </a:extLst>
          </p:cNvPr>
          <p:cNvSpPr txBox="1"/>
          <p:nvPr/>
        </p:nvSpPr>
        <p:spPr>
          <a:xfrm>
            <a:off x="6543412" y="2829688"/>
            <a:ext cx="729843" cy="246221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은의 흐름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093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" t="13462" r="3502" b="1282"/>
          <a:stretch/>
        </p:blipFill>
        <p:spPr>
          <a:xfrm>
            <a:off x="546176" y="1004456"/>
            <a:ext cx="4633546" cy="584688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" t="3333" r="1767" b="1923"/>
          <a:stretch/>
        </p:blipFill>
        <p:spPr>
          <a:xfrm>
            <a:off x="6003176" y="499581"/>
            <a:ext cx="4661893" cy="6252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선교사의 눈으로 본 중국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61422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유럽의 선교사 입장이 되어 중국의 명과 청을 소개하는 내용의 편지를 써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73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ED10BC6E-D93B-4990-A935-F12B576300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31" t="17492" r="30574" b="27217"/>
          <a:stretch/>
        </p:blipFill>
        <p:spPr>
          <a:xfrm>
            <a:off x="0" y="1281111"/>
            <a:ext cx="6087966" cy="47940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4F592D5-5D52-499E-A3F7-A334F1C5E5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931" t="44971" r="30986" b="14250"/>
          <a:stretch/>
        </p:blipFill>
        <p:spPr>
          <a:xfrm>
            <a:off x="6018707" y="2425779"/>
            <a:ext cx="6173293" cy="362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A66F5B4-9941-4C80-99CE-15BD3741CE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56" t="17265" r="31055" b="30765"/>
          <a:stretch/>
        </p:blipFill>
        <p:spPr>
          <a:xfrm>
            <a:off x="0" y="1299383"/>
            <a:ext cx="5960676" cy="44350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630E4FD-B0E7-449C-AC7A-CE6051F4C2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69" t="42096" r="30573" b="15963"/>
          <a:stretch/>
        </p:blipFill>
        <p:spPr>
          <a:xfrm>
            <a:off x="6095999" y="2085240"/>
            <a:ext cx="6087967" cy="364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2772</TotalTime>
  <Words>1100</Words>
  <Application>Microsoft Office PowerPoint</Application>
  <PresentationFormat>와이드스크린</PresentationFormat>
  <Paragraphs>128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112</cp:revision>
  <dcterms:created xsi:type="dcterms:W3CDTF">2021-05-21T01:10:02Z</dcterms:created>
  <dcterms:modified xsi:type="dcterms:W3CDTF">2024-11-21T05:05:38Z</dcterms:modified>
</cp:coreProperties>
</file>