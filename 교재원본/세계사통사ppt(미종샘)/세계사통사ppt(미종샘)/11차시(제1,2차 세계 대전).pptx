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95" r:id="rId6"/>
    <p:sldId id="281" r:id="rId7"/>
    <p:sldId id="294" r:id="rId8"/>
    <p:sldId id="296" r:id="rId9"/>
    <p:sldId id="285" r:id="rId10"/>
    <p:sldId id="29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세기에 일어난 제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1, 2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 전후의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전쟁의 참상을 알고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평화를 위한 노력의 소중함을 이해할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⑪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9D395A-9F6D-4261-BE86-58510F858F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6" t="59229" r="9891" b="812"/>
          <a:stretch/>
        </p:blipFill>
        <p:spPr>
          <a:xfrm>
            <a:off x="3851934" y="3425440"/>
            <a:ext cx="4630056" cy="33835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934C004-9A10-4985-A6C6-D11FA8BEFC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0" t="22263" r="30093" b="58777"/>
          <a:stretch/>
        </p:blipFill>
        <p:spPr>
          <a:xfrm>
            <a:off x="1102780" y="648817"/>
            <a:ext cx="1904301" cy="130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미국의 발전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제국주의의 등장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81456C10-B976-4140-85CF-6FC1225F9F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59" t="18681" r="28793" b="33793"/>
          <a:stretch/>
        </p:blipFill>
        <p:spPr>
          <a:xfrm>
            <a:off x="0" y="1399913"/>
            <a:ext cx="6146115" cy="37816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F3FE0EC-CB7F-42EC-8E91-775BDDC181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90" t="27586" r="28534" b="13869"/>
          <a:stretch/>
        </p:blipFill>
        <p:spPr>
          <a:xfrm>
            <a:off x="6085831" y="1421525"/>
            <a:ext cx="6106169" cy="464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1" t="5532" r="1031" b="709"/>
          <a:stretch/>
        </p:blipFill>
        <p:spPr>
          <a:xfrm>
            <a:off x="1118680" y="551491"/>
            <a:ext cx="9941669" cy="63356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CF19DA-7660-4B98-A6D4-F7ABD10BCBC9}"/>
              </a:ext>
            </a:extLst>
          </p:cNvPr>
          <p:cNvSpPr txBox="1"/>
          <p:nvPr/>
        </p:nvSpPr>
        <p:spPr>
          <a:xfrm>
            <a:off x="4157069" y="2896643"/>
            <a:ext cx="148723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[</a:t>
            </a:r>
            <a:r>
              <a:rPr lang="ko-KR" altLang="en-US" sz="900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동맹팀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 [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협상팀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독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러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불가리아     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2910D16-495C-4FEC-AED8-2BC74F649F88}"/>
              </a:ext>
            </a:extLst>
          </p:cNvPr>
          <p:cNvSpPr/>
          <p:nvPr/>
        </p:nvSpPr>
        <p:spPr>
          <a:xfrm>
            <a:off x="2483498" y="1767617"/>
            <a:ext cx="1191236" cy="132598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19D619-1741-4A25-B320-136B683D52B4}"/>
              </a:ext>
            </a:extLst>
          </p:cNvPr>
          <p:cNvSpPr/>
          <p:nvPr/>
        </p:nvSpPr>
        <p:spPr>
          <a:xfrm>
            <a:off x="5406614" y="2061946"/>
            <a:ext cx="475377" cy="140344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3D1F015-9A5B-405A-98FA-F9C6833692BF}"/>
              </a:ext>
            </a:extLst>
          </p:cNvPr>
          <p:cNvSpPr/>
          <p:nvPr/>
        </p:nvSpPr>
        <p:spPr>
          <a:xfrm>
            <a:off x="6803471" y="2302191"/>
            <a:ext cx="687898" cy="140344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" t="13191" r="50451" b="5957"/>
          <a:stretch/>
        </p:blipFill>
        <p:spPr>
          <a:xfrm>
            <a:off x="1166853" y="907559"/>
            <a:ext cx="5037284" cy="57771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비극의 시작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제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대전의 배경을 알아보고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대전의 성격과 특징을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0D74D-B3D1-4186-B0A2-7CCF774ACA3C}"/>
              </a:ext>
            </a:extLst>
          </p:cNvPr>
          <p:cNvSpPr txBox="1"/>
          <p:nvPr/>
        </p:nvSpPr>
        <p:spPr>
          <a:xfrm>
            <a:off x="6204137" y="1306355"/>
            <a:ext cx="5597317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유럽 열강은 식민지의 자원과 노동력을 착취하여 세력을 키워 나가고 있었는 반면에 독일은 영국이나 프랑스에 비해 식민지가 변변치 않았기 때문에 프랑스의 지배를 받던 모로코의 독립을 지지한다고 하며 실제로는 이곳을 식민지로 삼고자 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이렇게 식민지를 확보하기 위한 독일의 활동이 활발해지자 이에 맞서기 위해 영국과 프랑스가 연합한 후 러시아를 끌어들여 삼국 협상을 이루었고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독일은 이탈리아와 오스트리아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헝가리와 삼국 동맹을 맺었다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이렇게 유럽은 삼국 동맹과 삼국 협상으로 나뉘어 팽팽하게 대립하게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D99E3D-8D1B-46D0-A802-82689E684074}"/>
              </a:ext>
            </a:extLst>
          </p:cNvPr>
          <p:cNvSpPr txBox="1"/>
          <p:nvPr/>
        </p:nvSpPr>
        <p:spPr>
          <a:xfrm>
            <a:off x="6204137" y="2330701"/>
            <a:ext cx="559731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발칸반도에는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민족이 살고 종교도 다양해 분쟁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끊이지 않았다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이러한 가운데 민족주의가 확산되면서 오스만 제국의 지배를 벗어나 여러 나라들이 독립하게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여기에 열강이 끼어들어 러시아 중심의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범슬라브주의와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독일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오스트리아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·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헝가리 중심의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범게르만주의의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대립이 더욱 심화되면서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유럽의 화약고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라고 불렀다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1AC7A7-9884-4848-B057-B4FD4821C81B}"/>
              </a:ext>
            </a:extLst>
          </p:cNvPr>
          <p:cNvSpPr txBox="1"/>
          <p:nvPr/>
        </p:nvSpPr>
        <p:spPr>
          <a:xfrm>
            <a:off x="6204137" y="3311169"/>
            <a:ext cx="559731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미국이 적극적으로 전쟁에 참여하면서 협상국에 불리하던 전세가 바뀌었다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미국은 뛰어난 무기와 풍부한 군수 물자를 앞세워 독일을 몰아붙였다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미국의 막대한 무기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 등이 연합국으로 유입되면서 연합국이 우세해졌다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9F10BAE-E97A-4750-A1DD-13E4CF993CCA}"/>
              </a:ext>
            </a:extLst>
          </p:cNvPr>
          <p:cNvSpPr/>
          <p:nvPr/>
        </p:nvSpPr>
        <p:spPr>
          <a:xfrm>
            <a:off x="1192346" y="4072456"/>
            <a:ext cx="791049" cy="916193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6C4741F-B2E5-4E8A-8DFA-D4A6C0113A74}"/>
              </a:ext>
            </a:extLst>
          </p:cNvPr>
          <p:cNvSpPr txBox="1"/>
          <p:nvPr/>
        </p:nvSpPr>
        <p:spPr>
          <a:xfrm>
            <a:off x="5264623" y="1305512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28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C19F12-3751-4367-9D95-EF7AE1E5DA5B}"/>
              </a:ext>
            </a:extLst>
          </p:cNvPr>
          <p:cNvSpPr txBox="1"/>
          <p:nvPr/>
        </p:nvSpPr>
        <p:spPr>
          <a:xfrm>
            <a:off x="3924076" y="5287448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9BF64-6F38-429C-95A1-562C2A48F2CF}"/>
              </a:ext>
            </a:extLst>
          </p:cNvPr>
          <p:cNvSpPr txBox="1"/>
          <p:nvPr/>
        </p:nvSpPr>
        <p:spPr>
          <a:xfrm>
            <a:off x="5264623" y="2035354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D254D5-2395-4789-97AF-158022BD432A}"/>
              </a:ext>
            </a:extLst>
          </p:cNvPr>
          <p:cNvSpPr txBox="1"/>
          <p:nvPr/>
        </p:nvSpPr>
        <p:spPr>
          <a:xfrm>
            <a:off x="5264623" y="3050422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41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777-A4D6-4E30-8B83-D03070F8B968}"/>
              </a:ext>
            </a:extLst>
          </p:cNvPr>
          <p:cNvSpPr txBox="1"/>
          <p:nvPr/>
        </p:nvSpPr>
        <p:spPr>
          <a:xfrm>
            <a:off x="4993425" y="3654430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42~43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CCD3A0-9D2E-4E73-89E6-4E09F41D5094}"/>
              </a:ext>
            </a:extLst>
          </p:cNvPr>
          <p:cNvSpPr txBox="1"/>
          <p:nvPr/>
        </p:nvSpPr>
        <p:spPr>
          <a:xfrm>
            <a:off x="4993425" y="5951319"/>
            <a:ext cx="852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66~67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578035-C5FB-4206-8CF8-E339C9F4B0E2}"/>
              </a:ext>
            </a:extLst>
          </p:cNvPr>
          <p:cNvSpPr txBox="1"/>
          <p:nvPr/>
        </p:nvSpPr>
        <p:spPr>
          <a:xfrm>
            <a:off x="2521528" y="3099062"/>
            <a:ext cx="9133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조사단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직접조사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761ABB-BE4A-46C7-9EFF-6087AE4ABEEC}"/>
              </a:ext>
            </a:extLst>
          </p:cNvPr>
          <p:cNvSpPr txBox="1"/>
          <p:nvPr/>
        </p:nvSpPr>
        <p:spPr>
          <a:xfrm>
            <a:off x="3221985" y="2900949"/>
            <a:ext cx="9133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세르비아 거절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599D32-5D4A-458C-B864-9029B82612D4}"/>
              </a:ext>
            </a:extLst>
          </p:cNvPr>
          <p:cNvSpPr txBox="1"/>
          <p:nvPr/>
        </p:nvSpPr>
        <p:spPr>
          <a:xfrm>
            <a:off x="3678664" y="3116075"/>
            <a:ext cx="1224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영국의 참호전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장기화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72841E-1508-4F9F-B2A6-0AABA81F0356}"/>
              </a:ext>
            </a:extLst>
          </p:cNvPr>
          <p:cNvSpPr txBox="1"/>
          <p:nvPr/>
        </p:nvSpPr>
        <p:spPr>
          <a:xfrm>
            <a:off x="3810001" y="4040988"/>
            <a:ext cx="1224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먼로 선언 중립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독일 멕시코 전보 소식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D90494-4002-471F-9D7C-67F074DB3422}"/>
              </a:ext>
            </a:extLst>
          </p:cNvPr>
          <p:cNvSpPr txBox="1"/>
          <p:nvPr/>
        </p:nvSpPr>
        <p:spPr>
          <a:xfrm>
            <a:off x="831075" y="3450899"/>
            <a:ext cx="1224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세르비아 비밀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결사단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오스트리아 황태자 부부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사라예보에서 암살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2657B6-E92B-4F2B-83B4-661D952E74B0}"/>
              </a:ext>
            </a:extLst>
          </p:cNvPr>
          <p:cNvSpPr txBox="1"/>
          <p:nvPr/>
        </p:nvSpPr>
        <p:spPr>
          <a:xfrm>
            <a:off x="6204137" y="4116512"/>
            <a:ext cx="559731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독일의 동맹국들이 차례로 연합국에 항복하였고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독일도 항복하여 전쟁이 끝나게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DBC9DA-D5FD-4990-98A7-081599C19626}"/>
              </a:ext>
            </a:extLst>
          </p:cNvPr>
          <p:cNvSpPr txBox="1"/>
          <p:nvPr/>
        </p:nvSpPr>
        <p:spPr>
          <a:xfrm>
            <a:off x="6204137" y="4972190"/>
            <a:ext cx="559731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대전은 제국주의 국가들의 식민지 경쟁 때문에 일어난 것인데 자기네 나라에만 책임을 물어서 억울했을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막대한 배상금을 갚을 생각에 암담했을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전쟁으로 절망에 빠진 국민의 심리를 이용하여 전체주의자 히틀러가 등장하여 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 일으킴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337F62-28F2-43C1-9336-35B8334776A3}"/>
              </a:ext>
            </a:extLst>
          </p:cNvPr>
          <p:cNvSpPr txBox="1"/>
          <p:nvPr/>
        </p:nvSpPr>
        <p:spPr>
          <a:xfrm>
            <a:off x="6204137" y="5722394"/>
            <a:ext cx="5597317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자신의 권리를 당당하고 요구하고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조금이나마 자신의 생각을 드러낼 수 있었을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차별이 사라진 것은 아니었겠지만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여성을 바라보는 시선이 전보다 개선되어 조금 더 나은 삶을 살 수 있었을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 전반에 참여할 수 있는 여지가 생겼을 것이다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0" grpId="0" animBg="1"/>
      <p:bldP spid="41" grpId="0" animBg="1"/>
      <p:bldP spid="38" grpId="0" animBg="1"/>
      <p:bldP spid="39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2" t="13191" r="1415" b="5957"/>
          <a:stretch/>
        </p:blipFill>
        <p:spPr>
          <a:xfrm>
            <a:off x="5550202" y="907559"/>
            <a:ext cx="5037284" cy="577716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AD5D84D-6AFA-4278-ADCD-5885E8F2191D}"/>
              </a:ext>
            </a:extLst>
          </p:cNvPr>
          <p:cNvSpPr txBox="1"/>
          <p:nvPr/>
        </p:nvSpPr>
        <p:spPr>
          <a:xfrm>
            <a:off x="9761497" y="1020543"/>
            <a:ext cx="6928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76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8FD5E-6277-4416-AAE3-633B3136AA2C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러시아에서 울려 퍼진 혁명의 외침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92F64-977E-49D2-8A17-9A72F7C0ECA8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러시아 혁명의 배경과 의의를 이해해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EBE585-13B2-4D69-A018-129B1EDF26B9}"/>
              </a:ext>
            </a:extLst>
          </p:cNvPr>
          <p:cNvSpPr txBox="1"/>
          <p:nvPr/>
        </p:nvSpPr>
        <p:spPr>
          <a:xfrm>
            <a:off x="10811071" y="1434706"/>
            <a:ext cx="9372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황제의 환상 깨짐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762F580-4C0F-4BF4-A52A-24CCAA2C24CB}"/>
              </a:ext>
            </a:extLst>
          </p:cNvPr>
          <p:cNvCxnSpPr>
            <a:cxnSpLocks/>
          </p:cNvCxnSpPr>
          <p:nvPr/>
        </p:nvCxnSpPr>
        <p:spPr>
          <a:xfrm>
            <a:off x="10866629" y="1468359"/>
            <a:ext cx="0" cy="661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CF2E23-544F-445A-A457-1EF88CD2F96A}"/>
              </a:ext>
            </a:extLst>
          </p:cNvPr>
          <p:cNvSpPr txBox="1"/>
          <p:nvPr/>
        </p:nvSpPr>
        <p:spPr>
          <a:xfrm>
            <a:off x="10663563" y="1196971"/>
            <a:ext cx="1084758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피의 일요일 사건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E44934-F67E-4983-840B-B37F1D1342E3}"/>
              </a:ext>
            </a:extLst>
          </p:cNvPr>
          <p:cNvSpPr txBox="1"/>
          <p:nvPr/>
        </p:nvSpPr>
        <p:spPr>
          <a:xfrm>
            <a:off x="10663562" y="2220428"/>
            <a:ext cx="783633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혁명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5E2AD4-7B7C-4DD5-AABC-DE081F912C27}"/>
              </a:ext>
            </a:extLst>
          </p:cNvPr>
          <p:cNvSpPr txBox="1"/>
          <p:nvPr/>
        </p:nvSpPr>
        <p:spPr>
          <a:xfrm>
            <a:off x="10635782" y="2449774"/>
            <a:ext cx="1084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노동자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농민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군인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니콜라이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추방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EEABB1-A342-406C-826E-CAB8493FB109}"/>
              </a:ext>
            </a:extLst>
          </p:cNvPr>
          <p:cNvSpPr txBox="1"/>
          <p:nvPr/>
        </p:nvSpPr>
        <p:spPr>
          <a:xfrm>
            <a:off x="10663562" y="3157589"/>
            <a:ext cx="783633" cy="24622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혁명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886B51-AC03-44D5-829C-2ED4D855D12E}"/>
              </a:ext>
            </a:extLst>
          </p:cNvPr>
          <p:cNvSpPr txBox="1"/>
          <p:nvPr/>
        </p:nvSpPr>
        <p:spPr>
          <a:xfrm>
            <a:off x="10536572" y="3482105"/>
            <a:ext cx="161937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소비에트 정부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레닌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코민테른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결성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(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국제 공산당 기구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소비에트 사회주의 공화국 연방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 각국 사회주의 운동 지원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제국주의 벗어나려는 나라 지원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사회주의 공화국 선포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 결성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베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인도네시아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 결성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공산당 결성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자본주의와 제국주의에 맞서서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귀족이나 부르주아 같은 지배 세력을 몰아낸 혁명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E7657A-E746-4449-8E50-09BEA1B76681}"/>
              </a:ext>
            </a:extLst>
          </p:cNvPr>
          <p:cNvSpPr txBox="1"/>
          <p:nvPr/>
        </p:nvSpPr>
        <p:spPr>
          <a:xfrm>
            <a:off x="8420794" y="2820159"/>
            <a:ext cx="783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87~88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387E70C-4AE8-4391-A2FF-F187DC7D83B8}"/>
              </a:ext>
            </a:extLst>
          </p:cNvPr>
          <p:cNvCxnSpPr>
            <a:cxnSpLocks/>
          </p:cNvCxnSpPr>
          <p:nvPr/>
        </p:nvCxnSpPr>
        <p:spPr>
          <a:xfrm>
            <a:off x="10866629" y="2771550"/>
            <a:ext cx="0" cy="32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79C2719-C8FA-4284-98A0-B18305B5C1C2}"/>
              </a:ext>
            </a:extLst>
          </p:cNvPr>
          <p:cNvSpPr txBox="1"/>
          <p:nvPr/>
        </p:nvSpPr>
        <p:spPr>
          <a:xfrm>
            <a:off x="6936349" y="766564"/>
            <a:ext cx="16214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부르주아와 기업가가 노동자 착취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F80BAA-826D-4E9D-ADFD-7D8481FB3A0E}"/>
              </a:ext>
            </a:extLst>
          </p:cNvPr>
          <p:cNvSpPr txBox="1"/>
          <p:nvPr/>
        </p:nvSpPr>
        <p:spPr>
          <a:xfrm>
            <a:off x="674323" y="1250040"/>
            <a:ext cx="48007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Q1)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불만이 쌓인 노동자와 농민들은 니콜라이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세를 찾아가 개혁을 요구하는 시위를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그런데 황제의 군대는 시위대에게 총을 겨누고 죽이는 등 민중들을 무자비하게 짓밟았다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3B4151-CDD2-483A-AEBB-26ABCDAB1CA3}"/>
              </a:ext>
            </a:extLst>
          </p:cNvPr>
          <p:cNvSpPr txBox="1"/>
          <p:nvPr/>
        </p:nvSpPr>
        <p:spPr>
          <a:xfrm>
            <a:off x="674324" y="3398091"/>
            <a:ext cx="485536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Q2)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자신들의 재산을 나라에 빼앗기고 남들과 똑같이 나누어 가져야 했기 때문에 사회주의 개혁에 반대하였다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A5E844-8CB7-4E56-85DC-17D12B7F8AB0}"/>
              </a:ext>
            </a:extLst>
          </p:cNvPr>
          <p:cNvSpPr txBox="1"/>
          <p:nvPr/>
        </p:nvSpPr>
        <p:spPr>
          <a:xfrm>
            <a:off x="674323" y="1860345"/>
            <a:ext cx="4855363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전국의 모든 토지를 국가가 소유한 뒤 국가는 그 토지를 국민 모두가 공평하게 사용하도록 관리했다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회사와 공장도 국가가 관리하고 운영하게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전기 회사나 수도 회사는 물론이고 병원과 학교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채소 가게까지도 모두 국가의 소유였다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이로써 노동자와 농민 모두가 여러 가지 생산 수단을 자유롭게 이용하는 사회주의 국가가 탄생한 것이다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신분제도 폐지되었고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노동 시간도 정해졌다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학교나 병원도 모두 무료로 이용하게 되었고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황제의 궁전과 귀족의 대저택은 인민의 집회장이나 요양소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박물관 등으로 바뀌었다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8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" t="12199" r="567" b="2269"/>
          <a:stretch/>
        </p:blipFill>
        <p:spPr>
          <a:xfrm>
            <a:off x="1513309" y="888420"/>
            <a:ext cx="9902758" cy="586577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FAE24B-419C-4480-ADE4-75978B72EB45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또다시 일어난 전쟁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52E4B-A752-490B-9FE8-C4AAAE39B2DC}"/>
              </a:ext>
            </a:extLst>
          </p:cNvPr>
          <p:cNvSpPr txBox="1"/>
          <p:nvPr/>
        </p:nvSpPr>
        <p:spPr>
          <a:xfrm>
            <a:off x="109056" y="551491"/>
            <a:ext cx="683859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제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대전의 배경을 알아보고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대전의 전개 과정과 참상을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3CB53E-71E3-4196-8C6C-4034EA7AA011}"/>
              </a:ext>
            </a:extLst>
          </p:cNvPr>
          <p:cNvSpPr txBox="1"/>
          <p:nvPr/>
        </p:nvSpPr>
        <p:spPr>
          <a:xfrm>
            <a:off x="9331" y="4055398"/>
            <a:ext cx="1750021" cy="27084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전체주의는 국가 전체의 이익을 중요하게 생각하여 개인의 희생을 강요하였다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대공황의 여파로 경제적으로 어려워지고 사회 불안이 커지자 사람들은 강력한 지도자를 바랐고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이때 민족이나 국가 전체의 이익을 앞세우는 전체주의가 사람들의 마음을 사로잡았다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전체주의는 개인의 자유와 민주주의 사상을 탄압하는 심각한 문제를 안고 있었지만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당시 전체주의 국가의 국민들은 이를 외면하거나 위험한 일인지 생각하지  못하였다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B01295-C3F4-4EA5-A5CE-5B9CC0ED9FCF}"/>
              </a:ext>
            </a:extLst>
          </p:cNvPr>
          <p:cNvSpPr txBox="1"/>
          <p:nvPr/>
        </p:nvSpPr>
        <p:spPr>
          <a:xfrm>
            <a:off x="253713" y="1361098"/>
            <a:ext cx="10801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세계대전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8E1D23-522F-4A71-A25A-932F037C7F81}"/>
              </a:ext>
            </a:extLst>
          </p:cNvPr>
          <p:cNvSpPr txBox="1"/>
          <p:nvPr/>
        </p:nvSpPr>
        <p:spPr>
          <a:xfrm>
            <a:off x="8381543" y="4883193"/>
            <a:ext cx="380112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Q2)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일본은 궁지에 몰리자 민간인들에게는 자살을 강요하고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병사들에게는 자살 공격을 명령하는 등 극단적인 행동을 취했다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독일까지 항복을 했는데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일본이 계속 저항하며 버티자 미국은 전쟁을 빨리 끝내 버리기 위하여 극단적인 방법을 쓴 것이다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8969F1-8C70-4353-9635-E146731C4F64}"/>
              </a:ext>
            </a:extLst>
          </p:cNvPr>
          <p:cNvSpPr txBox="1"/>
          <p:nvPr/>
        </p:nvSpPr>
        <p:spPr>
          <a:xfrm>
            <a:off x="6750424" y="6255024"/>
            <a:ext cx="5450907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국제 연합은 국가 간 갈등을 해결하고 전쟁을 방지하며 세계 평화를 유지하는 일을 한다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국제 연맹이 무력 제재를 할 수 없었던 반면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국제 연합은 강대국으로 구성된 안전 보장 이사회를 설치했고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평화를 해치는 세계에 대한 다른 대안이 없을 때 최종적으로 무력을 사용해 제압할 수 있는 군사력을 갖추었다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48F09C-57ED-40BF-B951-C01F19DFC567}"/>
              </a:ext>
            </a:extLst>
          </p:cNvPr>
          <p:cNvSpPr txBox="1"/>
          <p:nvPr/>
        </p:nvSpPr>
        <p:spPr>
          <a:xfrm>
            <a:off x="5426582" y="5273685"/>
            <a:ext cx="783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102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404BEB-7A1D-4DFE-B273-4E084D4E7F16}"/>
              </a:ext>
            </a:extLst>
          </p:cNvPr>
          <p:cNvSpPr txBox="1"/>
          <p:nvPr/>
        </p:nvSpPr>
        <p:spPr>
          <a:xfrm>
            <a:off x="5426582" y="5426085"/>
            <a:ext cx="938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p.103~104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B34931-AD90-48BA-91E9-995D3C76964B}"/>
              </a:ext>
            </a:extLst>
          </p:cNvPr>
          <p:cNvSpPr txBox="1"/>
          <p:nvPr/>
        </p:nvSpPr>
        <p:spPr>
          <a:xfrm>
            <a:off x="11170024" y="1468820"/>
            <a:ext cx="1012644" cy="27084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소련과 독일은 서로 공격하지 않겠다는 상호 불가침 조약을 맺었기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독일은 소련에 폴란드 영토의 일부를 주기로 약속하고 서로 공격하지 않겠다는 조약을 맺었다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이로써 독일은 소련의 위협에서 벗어나 유럽을 공격할 수 있었다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678436-E03E-400B-B99D-7E7DDA341DE8}"/>
              </a:ext>
            </a:extLst>
          </p:cNvPr>
          <p:cNvSpPr txBox="1"/>
          <p:nvPr/>
        </p:nvSpPr>
        <p:spPr>
          <a:xfrm>
            <a:off x="11083312" y="5702175"/>
            <a:ext cx="783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139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1D0939-20D7-44B4-A3E9-86A9BF5DDB96}"/>
              </a:ext>
            </a:extLst>
          </p:cNvPr>
          <p:cNvSpPr txBox="1"/>
          <p:nvPr/>
        </p:nvSpPr>
        <p:spPr>
          <a:xfrm>
            <a:off x="9846182" y="4617446"/>
            <a:ext cx="783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134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30208E-C1D4-4FE9-B0A5-BD6D1EA8A8A8}"/>
              </a:ext>
            </a:extLst>
          </p:cNvPr>
          <p:cNvSpPr txBox="1"/>
          <p:nvPr/>
        </p:nvSpPr>
        <p:spPr>
          <a:xfrm>
            <a:off x="9003500" y="2654175"/>
            <a:ext cx="783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121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FFF0D4F-D379-4BBB-99DC-335EA63A174B}"/>
              </a:ext>
            </a:extLst>
          </p:cNvPr>
          <p:cNvCxnSpPr>
            <a:cxnSpLocks/>
          </p:cNvCxnSpPr>
          <p:nvPr/>
        </p:nvCxnSpPr>
        <p:spPr>
          <a:xfrm>
            <a:off x="1333850" y="1468820"/>
            <a:ext cx="897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E4425D1-6031-4046-9198-F9BFC3F30BB2}"/>
              </a:ext>
            </a:extLst>
          </p:cNvPr>
          <p:cNvSpPr txBox="1"/>
          <p:nvPr/>
        </p:nvSpPr>
        <p:spPr>
          <a:xfrm>
            <a:off x="3005302" y="3894573"/>
            <a:ext cx="10801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루스벨트 대통령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 </a:t>
            </a: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0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90" t="12489" r="1545" b="6497"/>
          <a:stretch/>
        </p:blipFill>
        <p:spPr>
          <a:xfrm>
            <a:off x="6049091" y="790071"/>
            <a:ext cx="4809450" cy="576063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t="12489" r="52986" b="6497"/>
          <a:stretch/>
        </p:blipFill>
        <p:spPr>
          <a:xfrm>
            <a:off x="1278834" y="790071"/>
            <a:ext cx="4809450" cy="57606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전쟁의 비극에서 배운 평화의 가치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16590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전쟁의 참혹함을 살펴보고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평화의 소중함에 대하여 공감해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331F1D-6599-4819-BC35-1885020FFC31}"/>
              </a:ext>
            </a:extLst>
          </p:cNvPr>
          <p:cNvSpPr txBox="1"/>
          <p:nvPr/>
        </p:nvSpPr>
        <p:spPr>
          <a:xfrm>
            <a:off x="0" y="6021302"/>
            <a:ext cx="619107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인권 유린이 극심했기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독일은 아우슈비츠 수용소 등지에서 유대인 수백만 명을 독가스 등으로 학살하였다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중국에 주둔하던 일본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731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부대는 수백만 명을 독가스 등으로 학살하였다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중국에 주둔하던 일본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731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부대는 수천 명의 사람들을 대상으로 세균 실험을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워낙에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많은 민간인이 학살되었고 일본의 경우 우리나라 여성들을 성노예로 삼았기 때문에 가장 참혹한 전쟁이라고 부름을 짐작할 수 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최첨단 기술 동원 전쟁이 모두에게 처참한 결과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1F3BC-DE72-4FD2-B817-9CBBD16AE764}"/>
              </a:ext>
            </a:extLst>
          </p:cNvPr>
          <p:cNvSpPr txBox="1"/>
          <p:nvPr/>
        </p:nvSpPr>
        <p:spPr>
          <a:xfrm>
            <a:off x="10671858" y="3328548"/>
            <a:ext cx="1520142" cy="2400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자신들의 과오를 인정하지 않고 당당하게 역사를 왜곡하는 모습은 전쟁으로 피해를 입은 나라의 국민들에게 상처를 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그러면 국가 사이에 갈등이 생기고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그러한 갈등은 전면적인 전쟁이 아니더라도 다른 방식으로 싸움을 부추길 수 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결국 전쟁의 상처를 치료하고 평화로 가는 데 방해가 되고 나쁜 영향을 줄 것이다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C8FFAE-E563-40F9-9101-1390894FAD32}"/>
              </a:ext>
            </a:extLst>
          </p:cNvPr>
          <p:cNvSpPr txBox="1"/>
          <p:nvPr/>
        </p:nvSpPr>
        <p:spPr>
          <a:xfrm>
            <a:off x="6191076" y="6054342"/>
            <a:ext cx="599159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전쟁의 상처와 아픔을 기억하고 있어야 똑같은 실수를 저지르지 않기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특히나 전쟁을 일으킨 나라들은 더욱더 이러한 상처와 아픔에 민감하게 반응하고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더 오랫동안 기억해야 한다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그래야 피해를 입은 국가의 국민들에게 진정한 사과를 할 수 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피해자들도 전쟁의 상처에서 빠져 나올 수 있기 때문이다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777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4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1" t="4764" b="1517"/>
          <a:stretch/>
        </p:blipFill>
        <p:spPr>
          <a:xfrm>
            <a:off x="6105331" y="553790"/>
            <a:ext cx="4520610" cy="62121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4" t="12691" r="1980" b="1411"/>
          <a:stretch/>
        </p:blipFill>
        <p:spPr>
          <a:xfrm>
            <a:off x="817839" y="915351"/>
            <a:ext cx="4369777" cy="58908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전쟁 보고서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6142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제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1, 2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세계 대전에 관한 설명문을 써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" t="13462" r="2695" b="6666"/>
          <a:stretch/>
        </p:blipFill>
        <p:spPr>
          <a:xfrm>
            <a:off x="716727" y="915351"/>
            <a:ext cx="4572000" cy="547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7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702C0481-F77E-4E68-95BE-0FB137C55D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11" t="17859" r="28578" b="19796"/>
          <a:stretch/>
        </p:blipFill>
        <p:spPr>
          <a:xfrm>
            <a:off x="146870" y="1303089"/>
            <a:ext cx="6086670" cy="49397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9A4277C-9925-4A63-9A7A-D6C8D673E6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80" t="42813" r="28509" b="13150"/>
          <a:stretch/>
        </p:blipFill>
        <p:spPr>
          <a:xfrm>
            <a:off x="6244206" y="1375795"/>
            <a:ext cx="5938464" cy="340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D4E9E1A-698C-4422-978D-4C2689CF91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280" t="18104" r="28646" b="19755"/>
          <a:stretch/>
        </p:blipFill>
        <p:spPr>
          <a:xfrm>
            <a:off x="9331" y="1227057"/>
            <a:ext cx="6181744" cy="50164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DE53A8F-2605-4D3C-BF5D-24E21B4690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280" t="42202" r="28853" b="13884"/>
          <a:stretch/>
        </p:blipFill>
        <p:spPr>
          <a:xfrm>
            <a:off x="6199311" y="2097249"/>
            <a:ext cx="5983358" cy="344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3096</TotalTime>
  <Words>1168</Words>
  <Application>Microsoft Office PowerPoint</Application>
  <PresentationFormat>와이드스크린</PresentationFormat>
  <Paragraphs>109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122</cp:revision>
  <dcterms:created xsi:type="dcterms:W3CDTF">2021-05-21T01:10:02Z</dcterms:created>
  <dcterms:modified xsi:type="dcterms:W3CDTF">2024-10-10T05:05:40Z</dcterms:modified>
</cp:coreProperties>
</file>