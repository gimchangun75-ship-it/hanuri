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86" r:id="rId3"/>
    <p:sldId id="283" r:id="rId4"/>
    <p:sldId id="287" r:id="rId5"/>
    <p:sldId id="295" r:id="rId6"/>
    <p:sldId id="281" r:id="rId7"/>
    <p:sldId id="294" r:id="rId8"/>
    <p:sldId id="296" r:id="rId9"/>
    <p:sldId id="285" r:id="rId10"/>
    <p:sldId id="293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00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DBF09E-2F48-4E2E-887D-C83A1703F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B227155-6CC4-4A07-827B-08BD9D3C46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FC9475-BBB8-4E7C-B71C-BA69F3EAE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2115D5-E04F-46B4-9026-0897E209E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D601A8-7A5F-4A85-98F0-640FE50AC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3802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6AA440-2DC7-49F8-ABF3-AC4215559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A4BD65-C34B-4B31-861B-6B2FEA438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9968D4-CEA1-4ED5-9831-87855B43E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421234-7B8F-4404-9C12-CD50653AD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F11D50-9C5A-4226-8BDD-1FD3BB21D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7348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961B46-3C1C-4B65-83CE-29B306DB3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A3F87C-106D-4D19-8DB6-18A042F69D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3C9D4D-0FED-4442-B439-26F9223BE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23A45C-DBC1-4D4A-88AA-5D80C54CF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CBA1CB-1588-4222-AB69-59FEDF91E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1601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BE135B-E430-499B-AD4A-44B43FD9A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5863E5-1843-4A4C-9004-0E5780BF1A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9411DA0-B5AC-408A-9B24-910EC5B4F2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4E0DE3B-1C4C-42BE-8C7E-0A03B3BCC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E375DDF-57E6-42DE-B908-F3D9F2156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9E51BDF-7C0C-445E-BBE1-395731FAC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4948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3A237B-E50D-4CDA-B697-5F41D805A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C193AE-DBA3-43D7-9C42-86D280EDC8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72BD590-9B7A-4B1E-8CD5-CBC55361F8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87791AA-4CA9-4EBD-ADCF-45995414FD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837961-538C-401B-BA6C-81B6E345ED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72A739A-A9F7-41C3-8E73-C58B39662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2234EBC-BA27-4A3B-BBAD-2A84BE06F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BC7CE16-42DC-46A9-AD74-8AC77F170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9650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A66BFB-6767-4325-90A4-D87B215AE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8661116-7BFA-4449-AA52-93E6DD062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C57FBD7-122F-48CE-82E5-C3CFE3AFF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CCB7F33-CE8D-4098-8F32-5315E3652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6066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AA2BD6F-CF9D-499D-ABDD-DF4A5EB7F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D8FC5D9-2E9D-42A8-B651-C4A2CC6DE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6570DE-7E0C-485D-8328-72AC5FB74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7386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F8748D-3391-40D5-992B-48BCB17B9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97AF4B-B7D5-49D9-8969-0CD238F5E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FB7B14-BF99-4106-AE0C-F05D09AE6D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33C3F4-1B10-4CD7-BD18-68EB58606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E03EB7-E983-4545-8671-7BE21E20F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F5A0FE2-ED3E-4581-B0D5-88909DA40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4236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462667-DBBB-4A4D-BAE9-F2D59A9E8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15DBF80-FFFA-4CD8-9BDA-A39A273A6D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6F5535C-32B6-41A8-8D53-B84ECB908C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E587FB1-1472-4E7B-94B6-659863E3E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36294D4-590D-493F-8138-53F7CA5A3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347E70A-B0FA-4C12-ADF7-DC10C86C9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907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3077AA-FE8C-41FE-927E-C363475A8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973F264-7FEE-477D-B6AD-17E4A3B9D3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F3B7DD-6D54-4392-8080-BC88ECF74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A3D4E4-9827-46BB-860A-BB275868C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A6D0B1-EAAE-4ABE-A3A4-65BF6FB02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6891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2D3092B-8A1F-492F-932D-F9A5CE830F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F1AA047-6D64-43A4-AFE0-246807DF9E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17278F-7610-4CDD-B60D-2518C3E27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85B3C1-A624-4119-9C3A-C5C227D70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6C8147-0120-40A8-806B-9CC651F7D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4435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E46CEAD-EDE2-479A-9F7E-BD61BDB03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8AE9DE0-42FC-4E12-A53D-088334F57A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3AFD70-A355-4236-8E75-E3F63258A9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69C325-16F0-4E5B-9146-ADEC5507B9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1DE10C-87C5-42DE-9363-2810FD5360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8826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911C0EA-AD4D-4FDD-9EDA-065E52C698C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44" t="23853" r="15703" b="55964"/>
          <a:stretch/>
        </p:blipFill>
        <p:spPr>
          <a:xfrm>
            <a:off x="568149" y="561598"/>
            <a:ext cx="2973565" cy="1384183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3FB414AB-7D20-4C1B-8DA1-2BB34161EBA4}"/>
              </a:ext>
            </a:extLst>
          </p:cNvPr>
          <p:cNvSpPr txBox="1"/>
          <p:nvPr/>
        </p:nvSpPr>
        <p:spPr>
          <a:xfrm>
            <a:off x="9331" y="6528945"/>
            <a:ext cx="12192000" cy="28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dirty="0" err="1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한우리</a:t>
            </a:r>
            <a:r>
              <a: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</a:r>
            <a:r>
              <a:rPr lang="en-US" altLang="ko-KR" sz="900" dirty="0" err="1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sk</a:t>
            </a:r>
            <a:r>
              <a:rPr lang="en-US" altLang="ko-KR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 </a:t>
            </a:r>
            <a:r>
              <a:rPr lang="ko-KR" altLang="en-US" sz="900" dirty="0" err="1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논술교습소</a:t>
            </a:r>
            <a:endParaRPr lang="ko-KR" altLang="en-US" sz="900" dirty="0">
              <a:solidFill>
                <a:srgbClr val="003300"/>
              </a:solidFill>
              <a:latin typeface="THE봉숭아틴트" panose="02020603020101020101" pitchFamily="18" charset="-127"/>
              <a:ea typeface="THE봉숭아틴트" panose="02020603020101020101" pitchFamily="18" charset="-127"/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20186495-8991-42AD-B58A-9CBF1D38BA33}"/>
              </a:ext>
            </a:extLst>
          </p:cNvPr>
          <p:cNvCxnSpPr>
            <a:cxnSpLocks/>
          </p:cNvCxnSpPr>
          <p:nvPr/>
        </p:nvCxnSpPr>
        <p:spPr>
          <a:xfrm>
            <a:off x="0" y="6851340"/>
            <a:ext cx="12192000" cy="0"/>
          </a:xfrm>
          <a:prstGeom prst="line">
            <a:avLst/>
          </a:prstGeom>
          <a:ln w="762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1DA6985-C3BD-4D21-B216-0AD1DA5A3AEB}"/>
              </a:ext>
            </a:extLst>
          </p:cNvPr>
          <p:cNvSpPr txBox="1"/>
          <p:nvPr/>
        </p:nvSpPr>
        <p:spPr>
          <a:xfrm>
            <a:off x="3663101" y="2514302"/>
            <a:ext cx="83235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미국이 발전하고 제국주의가 등장했던 </a:t>
            </a:r>
            <a:r>
              <a:rPr lang="en-US" altLang="ko-KR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18~20</a:t>
            </a:r>
            <a:r>
              <a:rPr lang="ko-KR" altLang="en-US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세기의 역사를 파악할 수 있다</a:t>
            </a:r>
            <a:endParaRPr lang="en-US" altLang="ko-KR" sz="16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342900" indent="-342900">
              <a:buAutoNum type="arabicPeriod"/>
            </a:pPr>
            <a:r>
              <a:rPr lang="ko-KR" altLang="en-US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제국주의가 등장한 배경을 이해하고 식민지 쟁탈 과정을 설명할 수 있다</a:t>
            </a:r>
            <a:r>
              <a:rPr lang="en-US" altLang="ko-KR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6C90F0-D105-427E-8B20-6195FD183CE2}"/>
              </a:ext>
            </a:extLst>
          </p:cNvPr>
          <p:cNvSpPr txBox="1"/>
          <p:nvPr/>
        </p:nvSpPr>
        <p:spPr>
          <a:xfrm>
            <a:off x="11397622" y="263760"/>
            <a:ext cx="58900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00" dirty="0">
                <a:solidFill>
                  <a:srgbClr val="0033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⑩</a:t>
            </a:r>
            <a:endParaRPr lang="en-US" altLang="ko-KR" sz="3000" dirty="0">
              <a:solidFill>
                <a:srgbClr val="003300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D750985-C6A6-487E-A622-5A5C07F7BE52}"/>
              </a:ext>
            </a:extLst>
          </p:cNvPr>
          <p:cNvSpPr/>
          <p:nvPr/>
        </p:nvSpPr>
        <p:spPr>
          <a:xfrm>
            <a:off x="1923243" y="2580038"/>
            <a:ext cx="107604" cy="50917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7030A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BF407F-2D88-4762-80A7-3DA7561A0052}"/>
              </a:ext>
            </a:extLst>
          </p:cNvPr>
          <p:cNvSpPr txBox="1"/>
          <p:nvPr/>
        </p:nvSpPr>
        <p:spPr>
          <a:xfrm>
            <a:off x="2054932" y="2433586"/>
            <a:ext cx="17836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학습 목표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4077119-DB80-4CCB-8853-B762CB93BD2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82" t="63754" r="9679" b="1486"/>
          <a:stretch/>
        </p:blipFill>
        <p:spPr>
          <a:xfrm>
            <a:off x="3851934" y="3369536"/>
            <a:ext cx="4506793" cy="2940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505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지난주 복습 정리해요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혁명의 시대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9" name="그림 18">
            <a:extLst>
              <a:ext uri="{FF2B5EF4-FFF2-40B4-BE49-F238E27FC236}">
                <a16:creationId xmlns:a16="http://schemas.microsoft.com/office/drawing/2014/main" id="{553DAB3B-DF80-4F20-8E3D-6E2709AB324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348" t="18436" r="28716" b="32110"/>
          <a:stretch/>
        </p:blipFill>
        <p:spPr>
          <a:xfrm>
            <a:off x="9330" y="1302351"/>
            <a:ext cx="6048183" cy="3918607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75DFEFD3-50FF-44D6-9E55-DE82CC0275E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555" t="30214" r="28647" b="13517"/>
          <a:stretch/>
        </p:blipFill>
        <p:spPr>
          <a:xfrm>
            <a:off x="6105331" y="1448273"/>
            <a:ext cx="6032393" cy="4461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073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2" t="10212" r="1183"/>
          <a:stretch/>
        </p:blipFill>
        <p:spPr>
          <a:xfrm>
            <a:off x="1015098" y="601453"/>
            <a:ext cx="9943878" cy="620756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브리핑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 시간 타임라인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3C753B8C-131E-484F-848D-E0DDAE73C70D}"/>
              </a:ext>
            </a:extLst>
          </p:cNvPr>
          <p:cNvSpPr txBox="1"/>
          <p:nvPr/>
        </p:nvSpPr>
        <p:spPr>
          <a:xfrm>
            <a:off x="109056" y="551491"/>
            <a:ext cx="6354806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연표와 지도를 보며 이번 시간에 학습할 세계사의 주요 사건 및 용어를 살펴보자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endParaRPr lang="en-US" altLang="ko-KR" sz="14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25D5DD9-9C80-47D2-8EB0-869FEA581DB9}"/>
              </a:ext>
            </a:extLst>
          </p:cNvPr>
          <p:cNvSpPr/>
          <p:nvPr/>
        </p:nvSpPr>
        <p:spPr>
          <a:xfrm>
            <a:off x="9754999" y="2608717"/>
            <a:ext cx="849668" cy="163667"/>
          </a:xfrm>
          <a:prstGeom prst="rect">
            <a:avLst/>
          </a:prstGeom>
          <a:noFill/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ADCDD84-07E5-4D3F-8036-B83B050820F2}"/>
              </a:ext>
            </a:extLst>
          </p:cNvPr>
          <p:cNvSpPr txBox="1"/>
          <p:nvPr/>
        </p:nvSpPr>
        <p:spPr>
          <a:xfrm>
            <a:off x="1039737" y="4928982"/>
            <a:ext cx="2189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미국 독립 혁명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+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프랑스혁명 영향</a:t>
            </a:r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독립 기운</a:t>
            </a:r>
            <a:endParaRPr lang="en-US" altLang="ko-KR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4CF19DA-7660-4B98-A6D4-F7ABD10BCBC9}"/>
              </a:ext>
            </a:extLst>
          </p:cNvPr>
          <p:cNvSpPr txBox="1"/>
          <p:nvPr/>
        </p:nvSpPr>
        <p:spPr>
          <a:xfrm>
            <a:off x="1840817" y="1112743"/>
            <a:ext cx="31925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민주주의 기반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+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영토 확장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서부 개척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~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태평양 연안까지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)+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공업화</a:t>
            </a:r>
            <a:endParaRPr lang="en-US" altLang="ko-KR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046EBB6-1C97-4239-9BC4-21C768202D87}"/>
              </a:ext>
            </a:extLst>
          </p:cNvPr>
          <p:cNvSpPr txBox="1"/>
          <p:nvPr/>
        </p:nvSpPr>
        <p:spPr>
          <a:xfrm>
            <a:off x="6096000" y="1110471"/>
            <a:ext cx="31925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북부 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공업 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vs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남부 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농업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5E2AE79-3800-4EEF-85D6-D90CBE3C7906}"/>
              </a:ext>
            </a:extLst>
          </p:cNvPr>
          <p:cNvSpPr txBox="1"/>
          <p:nvPr/>
        </p:nvSpPr>
        <p:spPr>
          <a:xfrm>
            <a:off x="9382521" y="735238"/>
            <a:ext cx="6087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공업화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4499C3A8-CF85-497D-AA4B-C189D4C19B86}"/>
              </a:ext>
            </a:extLst>
          </p:cNvPr>
          <p:cNvCxnSpPr>
            <a:cxnSpLocks/>
          </p:cNvCxnSpPr>
          <p:nvPr/>
        </p:nvCxnSpPr>
        <p:spPr>
          <a:xfrm>
            <a:off x="2101020" y="4745856"/>
            <a:ext cx="0" cy="2482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2914128-D0D8-48F2-B641-EEBFE61261EA}"/>
              </a:ext>
            </a:extLst>
          </p:cNvPr>
          <p:cNvSpPr txBox="1"/>
          <p:nvPr/>
        </p:nvSpPr>
        <p:spPr>
          <a:xfrm>
            <a:off x="1324857" y="6057211"/>
            <a:ext cx="172813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정치적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경제적 미국에 의존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D6102B9-5F92-4F48-A21F-14B6083A3D06}"/>
              </a:ext>
            </a:extLst>
          </p:cNvPr>
          <p:cNvSpPr txBox="1"/>
          <p:nvPr/>
        </p:nvSpPr>
        <p:spPr>
          <a:xfrm>
            <a:off x="2219744" y="4588463"/>
            <a:ext cx="8436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대항해 시대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2AF17A68-EE39-4091-A840-BC7C71D36FC8}"/>
              </a:ext>
            </a:extLst>
          </p:cNvPr>
          <p:cNvCxnSpPr>
            <a:cxnSpLocks/>
          </p:cNvCxnSpPr>
          <p:nvPr/>
        </p:nvCxnSpPr>
        <p:spPr>
          <a:xfrm>
            <a:off x="2101020" y="5265973"/>
            <a:ext cx="0" cy="2482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06FB2FF5-D17B-4D89-95D6-62A641C93203}"/>
              </a:ext>
            </a:extLst>
          </p:cNvPr>
          <p:cNvSpPr txBox="1"/>
          <p:nvPr/>
        </p:nvSpPr>
        <p:spPr>
          <a:xfrm>
            <a:off x="4896159" y="5774648"/>
            <a:ext cx="8527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103</a:t>
            </a:r>
            <a:endParaRPr lang="ko-KR" altLang="en-US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889D8757-056A-426C-88D3-71AD79BCA078}"/>
              </a:ext>
            </a:extLst>
          </p:cNvPr>
          <p:cNvCxnSpPr>
            <a:cxnSpLocks/>
          </p:cNvCxnSpPr>
          <p:nvPr/>
        </p:nvCxnSpPr>
        <p:spPr>
          <a:xfrm>
            <a:off x="7105475" y="3376457"/>
            <a:ext cx="343949" cy="2048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FDCEE210-0171-45F9-A440-FBBCCC8FBD99}"/>
              </a:ext>
            </a:extLst>
          </p:cNvPr>
          <p:cNvCxnSpPr>
            <a:cxnSpLocks/>
          </p:cNvCxnSpPr>
          <p:nvPr/>
        </p:nvCxnSpPr>
        <p:spPr>
          <a:xfrm>
            <a:off x="7986319" y="3913353"/>
            <a:ext cx="260059" cy="155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A00F8ABA-1EAE-4657-A631-9B89BDF6EA4F}"/>
              </a:ext>
            </a:extLst>
          </p:cNvPr>
          <p:cNvSpPr txBox="1"/>
          <p:nvPr/>
        </p:nvSpPr>
        <p:spPr>
          <a:xfrm>
            <a:off x="5843535" y="3950771"/>
            <a:ext cx="8527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119</a:t>
            </a:r>
            <a:endParaRPr lang="ko-KR" altLang="en-US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2527F6F-4043-4545-A3F1-62A3F38C1AD2}"/>
              </a:ext>
            </a:extLst>
          </p:cNvPr>
          <p:cNvSpPr txBox="1"/>
          <p:nvPr/>
        </p:nvSpPr>
        <p:spPr>
          <a:xfrm>
            <a:off x="5843536" y="4512057"/>
            <a:ext cx="8527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126</a:t>
            </a:r>
            <a:endParaRPr lang="ko-KR" altLang="en-US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75FA5FF-6897-40BA-857F-D98F427426E1}"/>
              </a:ext>
            </a:extLst>
          </p:cNvPr>
          <p:cNvSpPr txBox="1"/>
          <p:nvPr/>
        </p:nvSpPr>
        <p:spPr>
          <a:xfrm>
            <a:off x="7566510" y="5827914"/>
            <a:ext cx="108218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영국 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종단 정책</a:t>
            </a:r>
            <a:endParaRPr lang="en-US" altLang="ko-KR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Vs</a:t>
            </a:r>
          </a:p>
          <a:p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프랑스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횡단 정책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5CC92EC-2108-493C-AE64-2C2A64BA0CDC}"/>
              </a:ext>
            </a:extLst>
          </p:cNvPr>
          <p:cNvSpPr txBox="1"/>
          <p:nvPr/>
        </p:nvSpPr>
        <p:spPr>
          <a:xfrm>
            <a:off x="9978492" y="2958004"/>
            <a:ext cx="218222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원료 공급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상품 시장 획득 위해 세계 분할</a:t>
            </a:r>
            <a:endParaRPr lang="en-US" altLang="ko-KR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52" name="연결선: 꺾임 51">
            <a:extLst>
              <a:ext uri="{FF2B5EF4-FFF2-40B4-BE49-F238E27FC236}">
                <a16:creationId xmlns:a16="http://schemas.microsoft.com/office/drawing/2014/main" id="{B9489612-ABAE-4633-9AC9-2C704F2F9704}"/>
              </a:ext>
            </a:extLst>
          </p:cNvPr>
          <p:cNvCxnSpPr>
            <a:cxnSpLocks/>
          </p:cNvCxnSpPr>
          <p:nvPr/>
        </p:nvCxnSpPr>
        <p:spPr>
          <a:xfrm rot="10800000">
            <a:off x="9920121" y="2736012"/>
            <a:ext cx="100317" cy="33740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B0A642DA-5C55-4307-9A21-A6DA97F6B982}"/>
              </a:ext>
            </a:extLst>
          </p:cNvPr>
          <p:cNvSpPr txBox="1"/>
          <p:nvPr/>
        </p:nvSpPr>
        <p:spPr>
          <a:xfrm>
            <a:off x="9978492" y="3159339"/>
            <a:ext cx="2182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아프리카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아시아 식민지 정책으로</a:t>
            </a:r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동아시아 지역 급변 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중국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일본 근대화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24F5921C-3C1C-498F-8F84-C9360285976D}"/>
              </a:ext>
            </a:extLst>
          </p:cNvPr>
          <p:cNvSpPr/>
          <p:nvPr/>
        </p:nvSpPr>
        <p:spPr>
          <a:xfrm>
            <a:off x="10014075" y="1405074"/>
            <a:ext cx="765778" cy="297891"/>
          </a:xfrm>
          <a:prstGeom prst="rect">
            <a:avLst/>
          </a:prstGeom>
          <a:noFill/>
          <a:ln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1483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4" t="12908" r="49676" b="5674"/>
          <a:stretch/>
        </p:blipFill>
        <p:spPr>
          <a:xfrm>
            <a:off x="1535660" y="835659"/>
            <a:ext cx="5114807" cy="582519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이슈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날아오르는 미국 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11FB145E-846A-454E-B89C-84C53F27A57D}"/>
              </a:ext>
            </a:extLst>
          </p:cNvPr>
          <p:cNvSpPr txBox="1"/>
          <p:nvPr/>
        </p:nvSpPr>
        <p:spPr>
          <a:xfrm>
            <a:off x="109056" y="551491"/>
            <a:ext cx="6289647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미국이 남북 전쟁을 거치면서 정치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·</a:t>
            </a:r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경제적으로 발전하는 과정을 알아보자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A0C736-CBE9-4D32-AFCA-9B9BDE7147B9}"/>
              </a:ext>
            </a:extLst>
          </p:cNvPr>
          <p:cNvSpPr txBox="1"/>
          <p:nvPr/>
        </p:nvSpPr>
        <p:spPr>
          <a:xfrm>
            <a:off x="4994272" y="5082343"/>
            <a:ext cx="8527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95~96</a:t>
            </a:r>
            <a:endParaRPr lang="ko-KR" altLang="en-US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4C5AA1D-7801-4245-9CB9-DC0DA27E307D}"/>
              </a:ext>
            </a:extLst>
          </p:cNvPr>
          <p:cNvSpPr txBox="1"/>
          <p:nvPr/>
        </p:nvSpPr>
        <p:spPr>
          <a:xfrm>
            <a:off x="6790124" y="1980778"/>
            <a:ext cx="3285414" cy="369332"/>
          </a:xfrm>
          <a:prstGeom prst="rect">
            <a:avLst/>
          </a:prstGeom>
          <a:noFill/>
          <a:ln>
            <a:solidFill>
              <a:srgbClr val="0033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영토 확장이라는 자국의 이익을 이하여 원주민의 삶을 파괴</a:t>
            </a:r>
            <a:endParaRPr lang="en-US" altLang="ko-KR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인디언 강제 이주 정책과 원주민 보호 구역의 실상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미국에 의존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C32590B-1EC9-4D22-9AA2-AA704B152EC2}"/>
              </a:ext>
            </a:extLst>
          </p:cNvPr>
          <p:cNvSpPr txBox="1"/>
          <p:nvPr/>
        </p:nvSpPr>
        <p:spPr>
          <a:xfrm>
            <a:off x="448756" y="1116016"/>
            <a:ext cx="1077480" cy="246221"/>
          </a:xfrm>
          <a:prstGeom prst="rect">
            <a:avLst/>
          </a:prstGeom>
          <a:solidFill>
            <a:srgbClr val="FF5050"/>
          </a:solidFill>
        </p:spPr>
        <p:txBody>
          <a:bodyPr wrap="square" rtlCol="0">
            <a:spAutoFit/>
          </a:bodyPr>
          <a:lstStyle/>
          <a:p>
            <a:r>
              <a:rPr lang="ko-KR" altLang="en-US" sz="100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미국의 서부 개척</a:t>
            </a:r>
            <a:endParaRPr lang="en-US" altLang="ko-KR" sz="10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20EC27-F67B-4FE8-A92F-E74F5F9CF0F6}"/>
              </a:ext>
            </a:extLst>
          </p:cNvPr>
          <p:cNvSpPr txBox="1"/>
          <p:nvPr/>
        </p:nvSpPr>
        <p:spPr>
          <a:xfrm>
            <a:off x="448757" y="3607547"/>
            <a:ext cx="1071498" cy="246221"/>
          </a:xfrm>
          <a:prstGeom prst="rect">
            <a:avLst/>
          </a:prstGeom>
          <a:solidFill>
            <a:srgbClr val="FF5050"/>
          </a:solidFill>
        </p:spPr>
        <p:txBody>
          <a:bodyPr wrap="square" rtlCol="0">
            <a:spAutoFit/>
          </a:bodyPr>
          <a:lstStyle/>
          <a:p>
            <a:r>
              <a:rPr lang="ko-KR" altLang="en-US" sz="100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미국의 남북 전쟁</a:t>
            </a:r>
            <a:endParaRPr lang="en-US" altLang="ko-KR" sz="10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960D74D-B3D1-4186-B0A2-7CCF774ACA3C}"/>
              </a:ext>
            </a:extLst>
          </p:cNvPr>
          <p:cNvSpPr txBox="1"/>
          <p:nvPr/>
        </p:nvSpPr>
        <p:spPr>
          <a:xfrm>
            <a:off x="6642343" y="4152781"/>
            <a:ext cx="515911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28600" indent="-228600">
              <a:buAutoNum type="arabicParenR"/>
            </a:pP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남부에서는 흑인 노예를 이용한 대농장이 발달하여 노예제의 유지가 필요했던 반면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산업이 발달한 북부에서는 값싼 노동력이 필요하였기 때문에 노예제의 폐지를 원하였다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en-US" altLang="ko-KR" sz="10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6D99E3D-8D1B-46D0-A802-82689E684074}"/>
              </a:ext>
            </a:extLst>
          </p:cNvPr>
          <p:cNvSpPr txBox="1"/>
          <p:nvPr/>
        </p:nvSpPr>
        <p:spPr>
          <a:xfrm>
            <a:off x="6642343" y="4748399"/>
            <a:ext cx="5159111" cy="10156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2)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링컨은 노예제의 확대 반대와 연방제 유지를 주장했다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그러자 남부는 자신들이 보호받을 수 없을 것이라고 생각하여 연방 정부를 탈퇴해서 독립을 하겠다고 나섰다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이렇게 해서 남북 전쟁이 시작되었는데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남군에는 유능한 장군들이 많아 초반 전제는 북군에게 불리했다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그런데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전쟁 중간에 링컨이 발표한 노예 해방 선언으로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많은 흑인들이 북군에 지원하면서 북군의 사기가 매우 높아졌고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 이후로는 안정된 물자와 충분한 인력을 바탕으로 북군이 승리를 거두게 되었다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31AC7A7-9884-4848-B057-B4FD4821C81B}"/>
              </a:ext>
            </a:extLst>
          </p:cNvPr>
          <p:cNvSpPr txBox="1"/>
          <p:nvPr/>
        </p:nvSpPr>
        <p:spPr>
          <a:xfrm>
            <a:off x="6642343" y="5885137"/>
            <a:ext cx="5159111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3)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노예제가 폐지되었다는 것은 북부 중심의 산업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즉 공업 중심으로 미국의 산업이 재편되었다는 뜻이다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노예 해방으로 값싼 노동력이 많아져 공업 발달에 힘을 실어 주었다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한편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대륙 횡단 철도는 미국 산업을 발전시키는 데 긍정적인 영향을 주었다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왜냐하면 넓어진 영토를 가로질러 빠르게 연결함으로써 미국 사람들을 단결시킬 수 있었고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물자의 이동도 빨라졌기 때문이다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FC32123-DD62-4400-8F6B-8C9CD1B7E367}"/>
              </a:ext>
            </a:extLst>
          </p:cNvPr>
          <p:cNvSpPr txBox="1"/>
          <p:nvPr/>
        </p:nvSpPr>
        <p:spPr>
          <a:xfrm>
            <a:off x="6734622" y="1754492"/>
            <a:ext cx="22733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[1838. </a:t>
            </a:r>
            <a:r>
              <a:rPr lang="ko-KR" altLang="en-US" sz="8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체로키족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강제 이주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부족 인구 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1/3 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사망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9EF68D5-688A-4E71-9262-96BBD703FCB4}"/>
              </a:ext>
            </a:extLst>
          </p:cNvPr>
          <p:cNvSpPr txBox="1"/>
          <p:nvPr/>
        </p:nvSpPr>
        <p:spPr>
          <a:xfrm>
            <a:off x="448757" y="5939686"/>
            <a:ext cx="1071498" cy="246221"/>
          </a:xfrm>
          <a:prstGeom prst="rect">
            <a:avLst/>
          </a:prstGeom>
          <a:solidFill>
            <a:srgbClr val="FF5050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 최대 공업국</a:t>
            </a:r>
            <a:endParaRPr lang="en-US" altLang="ko-KR" sz="10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BDAB26BF-E692-4ED8-B2E4-617C7A5092B8}"/>
              </a:ext>
            </a:extLst>
          </p:cNvPr>
          <p:cNvCxnSpPr>
            <a:cxnSpLocks/>
          </p:cNvCxnSpPr>
          <p:nvPr/>
        </p:nvCxnSpPr>
        <p:spPr>
          <a:xfrm>
            <a:off x="824472" y="1524001"/>
            <a:ext cx="0" cy="1914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C8DAE0A7-BF97-4584-B0CE-5DDC6231E848}"/>
              </a:ext>
            </a:extLst>
          </p:cNvPr>
          <p:cNvCxnSpPr>
            <a:cxnSpLocks/>
          </p:cNvCxnSpPr>
          <p:nvPr/>
        </p:nvCxnSpPr>
        <p:spPr>
          <a:xfrm>
            <a:off x="824472" y="4001549"/>
            <a:ext cx="0" cy="18036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9B47FC7F-BC5D-4CBA-BEE2-90E010201E28}"/>
              </a:ext>
            </a:extLst>
          </p:cNvPr>
          <p:cNvSpPr txBox="1"/>
          <p:nvPr/>
        </p:nvSpPr>
        <p:spPr>
          <a:xfrm>
            <a:off x="824472" y="1474971"/>
            <a:ext cx="157329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서부 개척자인가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?</a:t>
            </a:r>
          </a:p>
          <a:p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진보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도전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</a:p>
          <a:p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원주민 추방인가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?</a:t>
            </a:r>
          </a:p>
          <a:p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희생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E1AEF27-0982-48EF-A8FE-949795CF55EE}"/>
              </a:ext>
            </a:extLst>
          </p:cNvPr>
          <p:cNvSpPr txBox="1"/>
          <p:nvPr/>
        </p:nvSpPr>
        <p:spPr>
          <a:xfrm>
            <a:off x="2067016" y="4473358"/>
            <a:ext cx="981889" cy="507831"/>
          </a:xfrm>
          <a:prstGeom prst="rect">
            <a:avLst/>
          </a:prstGeom>
          <a:noFill/>
          <a:ln>
            <a:solidFill>
              <a:srgbClr val="0033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풍부한 노동력과</a:t>
            </a:r>
            <a:endParaRPr lang="en-US" altLang="ko-KR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자원을 바탕으로 </a:t>
            </a:r>
            <a:endParaRPr lang="en-US" altLang="ko-KR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상업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+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공업 발달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0B0F1E1-3F94-4E38-AB03-F65FD869E2A9}"/>
              </a:ext>
            </a:extLst>
          </p:cNvPr>
          <p:cNvSpPr txBox="1"/>
          <p:nvPr/>
        </p:nvSpPr>
        <p:spPr>
          <a:xfrm>
            <a:off x="5447490" y="4473358"/>
            <a:ext cx="875489" cy="507831"/>
          </a:xfrm>
          <a:prstGeom prst="rect">
            <a:avLst/>
          </a:prstGeom>
          <a:noFill/>
          <a:ln>
            <a:solidFill>
              <a:srgbClr val="0033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목화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사탕수수 농작물 생산</a:t>
            </a:r>
            <a:endParaRPr lang="en-US" altLang="ko-KR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농업 발달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F9F10BAE-E97A-4750-A1DD-13E4CF993CCA}"/>
              </a:ext>
            </a:extLst>
          </p:cNvPr>
          <p:cNvSpPr/>
          <p:nvPr/>
        </p:nvSpPr>
        <p:spPr>
          <a:xfrm>
            <a:off x="4994272" y="5492118"/>
            <a:ext cx="1214139" cy="507831"/>
          </a:xfrm>
          <a:prstGeom prst="rect">
            <a:avLst/>
          </a:prstGeom>
          <a:noFill/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6C4741F-B2E5-4E8A-8DFA-D4A6C0113A74}"/>
              </a:ext>
            </a:extLst>
          </p:cNvPr>
          <p:cNvSpPr txBox="1"/>
          <p:nvPr/>
        </p:nvSpPr>
        <p:spPr>
          <a:xfrm>
            <a:off x="4001906" y="5549362"/>
            <a:ext cx="8527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98~99</a:t>
            </a:r>
            <a:endParaRPr lang="ko-KR" altLang="en-US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4C19F12-3751-4367-9D95-EF7AE1E5DA5B}"/>
              </a:ext>
            </a:extLst>
          </p:cNvPr>
          <p:cNvSpPr txBox="1"/>
          <p:nvPr/>
        </p:nvSpPr>
        <p:spPr>
          <a:xfrm>
            <a:off x="5071004" y="6050887"/>
            <a:ext cx="8527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100</a:t>
            </a:r>
            <a:endParaRPr lang="ko-KR" altLang="en-US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9756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40" grpId="0" animBg="1"/>
      <p:bldP spid="4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그림 4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42" t="13193" r="738" b="5674"/>
          <a:stretch/>
        </p:blipFill>
        <p:spPr>
          <a:xfrm>
            <a:off x="5782582" y="856033"/>
            <a:ext cx="5114807" cy="5804823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6AD5D84D-6AFA-4278-ADCD-5885E8F2191D}"/>
              </a:ext>
            </a:extLst>
          </p:cNvPr>
          <p:cNvSpPr txBox="1"/>
          <p:nvPr/>
        </p:nvSpPr>
        <p:spPr>
          <a:xfrm>
            <a:off x="10052491" y="3242891"/>
            <a:ext cx="6928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104</a:t>
            </a:r>
            <a:endParaRPr lang="ko-KR" altLang="en-US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58FD5E-6277-4416-AAE3-633B3136AA2C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이슈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독립의 물결에 휩싸인 라틴아메리카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F92F64-977E-49D2-8A17-9A72F7C0ECA8}"/>
              </a:ext>
            </a:extLst>
          </p:cNvPr>
          <p:cNvSpPr txBox="1"/>
          <p:nvPr/>
        </p:nvSpPr>
        <p:spPr>
          <a:xfrm>
            <a:off x="109056" y="551491"/>
            <a:ext cx="6289647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라틴 아메리카의 독립 배경과 과정을 살펴보자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endParaRPr lang="en-US" altLang="ko-KR" sz="14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21F076-5A72-4592-B2D6-E00DE8F493D8}"/>
              </a:ext>
            </a:extLst>
          </p:cNvPr>
          <p:cNvSpPr txBox="1"/>
          <p:nvPr/>
        </p:nvSpPr>
        <p:spPr>
          <a:xfrm>
            <a:off x="3731364" y="610768"/>
            <a:ext cx="22733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독립운동 주도 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8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크리오요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주도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아이티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4C7406-491F-4F08-815E-7CDFE3FEA181}"/>
              </a:ext>
            </a:extLst>
          </p:cNvPr>
          <p:cNvSpPr txBox="1"/>
          <p:nvPr/>
        </p:nvSpPr>
        <p:spPr>
          <a:xfrm>
            <a:off x="9998893" y="5554142"/>
            <a:ext cx="14395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105~106</a:t>
            </a:r>
            <a:endParaRPr lang="ko-KR" altLang="en-US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BFB7AF6-C81D-4D26-AAD7-95B15760A7F8}"/>
              </a:ext>
            </a:extLst>
          </p:cNvPr>
          <p:cNvSpPr txBox="1"/>
          <p:nvPr/>
        </p:nvSpPr>
        <p:spPr>
          <a:xfrm>
            <a:off x="2480563" y="1193611"/>
            <a:ext cx="851626" cy="400110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미국의 독립</a:t>
            </a:r>
            <a:endParaRPr lang="en-US" altLang="ko-KR" sz="10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프랑스 혁명</a:t>
            </a:r>
            <a:endParaRPr lang="en-US" altLang="ko-KR" sz="10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9EBE585-13B2-4D69-A018-129B1EDF26B9}"/>
              </a:ext>
            </a:extLst>
          </p:cNvPr>
          <p:cNvSpPr txBox="1"/>
          <p:nvPr/>
        </p:nvSpPr>
        <p:spPr>
          <a:xfrm>
            <a:off x="7215573" y="2786839"/>
            <a:ext cx="8210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프랑스 혁명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E60A6C7-B5A4-442B-8D5D-8748568DAE15}"/>
              </a:ext>
            </a:extLst>
          </p:cNvPr>
          <p:cNvSpPr txBox="1"/>
          <p:nvPr/>
        </p:nvSpPr>
        <p:spPr>
          <a:xfrm>
            <a:off x="1895949" y="2863430"/>
            <a:ext cx="355199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하지만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유럽 열강은 이 지역에 대한 지배권을 확보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하려고 나섬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B762F580-4C0F-4BF4-A52A-24CCAA2C24CB}"/>
              </a:ext>
            </a:extLst>
          </p:cNvPr>
          <p:cNvCxnSpPr>
            <a:cxnSpLocks/>
          </p:cNvCxnSpPr>
          <p:nvPr/>
        </p:nvCxnSpPr>
        <p:spPr>
          <a:xfrm>
            <a:off x="2881211" y="1668149"/>
            <a:ext cx="0" cy="11186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2CF2E23-544F-445A-A457-1EF88CD2F96A}"/>
              </a:ext>
            </a:extLst>
          </p:cNvPr>
          <p:cNvSpPr txBox="1"/>
          <p:nvPr/>
        </p:nvSpPr>
        <p:spPr>
          <a:xfrm>
            <a:off x="2480563" y="3678685"/>
            <a:ext cx="851629" cy="24622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먼로 선언</a:t>
            </a:r>
            <a:endParaRPr lang="en-US" altLang="ko-KR" sz="10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E26208DC-0C1F-43B4-947C-509ED8EA768B}"/>
              </a:ext>
            </a:extLst>
          </p:cNvPr>
          <p:cNvCxnSpPr>
            <a:cxnSpLocks/>
          </p:cNvCxnSpPr>
          <p:nvPr/>
        </p:nvCxnSpPr>
        <p:spPr>
          <a:xfrm>
            <a:off x="2895793" y="3155533"/>
            <a:ext cx="0" cy="3682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2FBB9535-773B-4AB3-A939-BDC5558C74AE}"/>
              </a:ext>
            </a:extLst>
          </p:cNvPr>
          <p:cNvSpPr txBox="1"/>
          <p:nvPr/>
        </p:nvSpPr>
        <p:spPr>
          <a:xfrm>
            <a:off x="3215855" y="2071432"/>
            <a:ext cx="272355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우리도 빼앗긴 나라를 되찾자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</a:t>
            </a:r>
          </a:p>
          <a:p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우리의 소중한 인권도 보장받을 수 있도록 하자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</a:t>
            </a:r>
          </a:p>
          <a:p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오랜 시간 지속된 식민 지배에서 벗어나자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DABE64F-1AAF-4DBD-9CAC-1B3702419FAA}"/>
              </a:ext>
            </a:extLst>
          </p:cNvPr>
          <p:cNvSpPr txBox="1"/>
          <p:nvPr/>
        </p:nvSpPr>
        <p:spPr>
          <a:xfrm>
            <a:off x="3438940" y="1400874"/>
            <a:ext cx="18363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8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나폴레옹 공격으로 에스파냐 간섭 약화</a:t>
            </a:r>
            <a:r>
              <a:rPr lang="en-US" altLang="ko-KR" sz="8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DED989-BED9-4A63-9692-961BC95A8561}"/>
              </a:ext>
            </a:extLst>
          </p:cNvPr>
          <p:cNvSpPr txBox="1"/>
          <p:nvPr/>
        </p:nvSpPr>
        <p:spPr>
          <a:xfrm>
            <a:off x="3372051" y="3621055"/>
            <a:ext cx="234923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유럽 세력으로 하여금 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국내 문제에 간섭하지 못하도록 막음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DC0F81A2-182A-4217-B99A-2F212C71C4C6}"/>
              </a:ext>
            </a:extLst>
          </p:cNvPr>
          <p:cNvGrpSpPr/>
          <p:nvPr/>
        </p:nvGrpSpPr>
        <p:grpSpPr>
          <a:xfrm>
            <a:off x="2387416" y="4074998"/>
            <a:ext cx="3551990" cy="2154710"/>
            <a:chOff x="2387416" y="4074998"/>
            <a:chExt cx="3551990" cy="2154710"/>
          </a:xfrm>
        </p:grpSpPr>
        <p:cxnSp>
          <p:nvCxnSpPr>
            <p:cNvPr id="31" name="직선 화살표 연결선 30">
              <a:extLst>
                <a:ext uri="{FF2B5EF4-FFF2-40B4-BE49-F238E27FC236}">
                  <a16:creationId xmlns:a16="http://schemas.microsoft.com/office/drawing/2014/main" id="{8CE88701-CA39-40D9-A742-28B7D11BC659}"/>
                </a:ext>
              </a:extLst>
            </p:cNvPr>
            <p:cNvCxnSpPr>
              <a:cxnSpLocks/>
            </p:cNvCxnSpPr>
            <p:nvPr/>
          </p:nvCxnSpPr>
          <p:spPr>
            <a:xfrm>
              <a:off x="2867021" y="4074998"/>
              <a:ext cx="0" cy="6312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A455A97-A198-41C5-A7EE-B861782E5943}"/>
                </a:ext>
              </a:extLst>
            </p:cNvPr>
            <p:cNvSpPr txBox="1"/>
            <p:nvPr/>
          </p:nvSpPr>
          <p:spPr>
            <a:xfrm>
              <a:off x="2387416" y="4764196"/>
              <a:ext cx="3333871" cy="55399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라틴 아메리카 독립에 영향을 끼침</a:t>
              </a:r>
              <a:endPara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  <a:p>
              <a:r>
                <a:rPr lang="en-US" altLang="ko-KR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[</a:t>
              </a:r>
              <a:r>
                <a:rPr lang="ko-KR" altLang="en-US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아이티</a:t>
              </a:r>
              <a:r>
                <a:rPr lang="en-US" altLang="ko-KR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, </a:t>
              </a:r>
              <a:r>
                <a:rPr lang="ko-KR" altLang="en-US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베네수엘라</a:t>
              </a:r>
              <a:r>
                <a:rPr lang="en-US" altLang="ko-KR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, </a:t>
              </a:r>
              <a:r>
                <a:rPr lang="ko-KR" altLang="en-US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콜롬비아</a:t>
              </a:r>
              <a:r>
                <a:rPr lang="en-US" altLang="ko-KR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, </a:t>
              </a:r>
              <a:r>
                <a:rPr lang="ko-KR" altLang="en-US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에콰도르</a:t>
              </a:r>
              <a:r>
                <a:rPr lang="en-US" altLang="ko-KR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, </a:t>
              </a:r>
              <a:r>
                <a:rPr lang="ko-KR" altLang="en-US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볼리비아</a:t>
              </a:r>
              <a:r>
                <a:rPr lang="en-US" altLang="ko-KR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, </a:t>
              </a:r>
            </a:p>
            <a:p>
              <a:r>
                <a:rPr lang="ko-KR" altLang="en-US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페루</a:t>
              </a:r>
              <a:r>
                <a:rPr lang="en-US" altLang="ko-KR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, </a:t>
              </a:r>
              <a:r>
                <a:rPr lang="ko-KR" altLang="en-US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아르헨티나</a:t>
              </a:r>
              <a:r>
                <a:rPr lang="en-US" altLang="ko-KR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, </a:t>
              </a:r>
              <a:r>
                <a:rPr lang="ko-KR" altLang="en-US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칠레</a:t>
              </a:r>
              <a:r>
                <a:rPr lang="en-US" altLang="ko-KR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, </a:t>
              </a:r>
              <a:r>
                <a:rPr lang="ko-KR" altLang="en-US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브라질</a:t>
              </a:r>
              <a:r>
                <a:rPr lang="en-US" altLang="ko-KR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, </a:t>
              </a:r>
              <a:r>
                <a:rPr lang="ko-KR" altLang="en-US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멕시코 </a:t>
              </a:r>
              <a:r>
                <a:rPr lang="en-US" altLang="ko-KR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19</a:t>
              </a:r>
              <a:r>
                <a:rPr lang="ko-KR" altLang="en-US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세기 초 독립</a:t>
              </a:r>
              <a:endPara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ABFE8E16-69ED-41A3-A522-23D1BA0EB3EB}"/>
                </a:ext>
              </a:extLst>
            </p:cNvPr>
            <p:cNvCxnSpPr>
              <a:cxnSpLocks/>
            </p:cNvCxnSpPr>
            <p:nvPr/>
          </p:nvCxnSpPr>
          <p:spPr>
            <a:xfrm>
              <a:off x="2867021" y="5308180"/>
              <a:ext cx="0" cy="47315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0E17F75-73F8-4840-8A94-18B3350FA44C}"/>
                </a:ext>
              </a:extLst>
            </p:cNvPr>
            <p:cNvSpPr txBox="1"/>
            <p:nvPr/>
          </p:nvSpPr>
          <p:spPr>
            <a:xfrm>
              <a:off x="2387416" y="5829598"/>
              <a:ext cx="3551990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독립했지만 농촌 황폐화</a:t>
              </a:r>
              <a:r>
                <a:rPr lang="en-US" altLang="ko-KR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, </a:t>
              </a:r>
              <a:r>
                <a:rPr lang="ko-KR" altLang="en-US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정치 불안정</a:t>
              </a:r>
              <a:r>
                <a:rPr lang="en-US" altLang="ko-KR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, </a:t>
              </a:r>
              <a:r>
                <a:rPr lang="ko-KR" altLang="en-US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국민의 삶 열악</a:t>
              </a:r>
              <a:endPara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  <a:p>
              <a:r>
                <a:rPr lang="en-US" altLang="ko-KR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+ </a:t>
              </a:r>
              <a:r>
                <a:rPr lang="ko-KR" altLang="en-US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미국 중남미 지역에 세력 뻗침 → </a:t>
              </a:r>
              <a:r>
                <a:rPr lang="ko-KR" altLang="en-US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정치적</a:t>
              </a:r>
              <a:r>
                <a:rPr lang="en-US" altLang="ko-KR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, </a:t>
              </a:r>
              <a:r>
                <a:rPr lang="ko-KR" altLang="en-US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경제적 미국 영향 아래</a:t>
              </a:r>
              <a:endPara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FE3695C9-4FB5-44E4-9743-096E99EFAC47}"/>
              </a:ext>
            </a:extLst>
          </p:cNvPr>
          <p:cNvSpPr txBox="1"/>
          <p:nvPr/>
        </p:nvSpPr>
        <p:spPr>
          <a:xfrm>
            <a:off x="6876062" y="5439711"/>
            <a:ext cx="12872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러시아 근대화 실패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810ECE7-D8F2-45EA-B7C0-3155C05E5FC5}"/>
              </a:ext>
            </a:extLst>
          </p:cNvPr>
          <p:cNvSpPr txBox="1"/>
          <p:nvPr/>
        </p:nvSpPr>
        <p:spPr>
          <a:xfrm>
            <a:off x="9259074" y="5913139"/>
            <a:ext cx="11398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크림 전쟁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2390ACA-A4EA-4B58-8E4D-04CF5C959BC1}"/>
              </a:ext>
            </a:extLst>
          </p:cNvPr>
          <p:cNvSpPr txBox="1"/>
          <p:nvPr/>
        </p:nvSpPr>
        <p:spPr>
          <a:xfrm>
            <a:off x="6691522" y="6454014"/>
            <a:ext cx="29434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 다시 전제 정치 </a:t>
            </a:r>
            <a:endParaRPr lang="en-US" altLang="ko-KR" sz="8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 </a:t>
            </a:r>
            <a:r>
              <a:rPr lang="en-US" altLang="ko-KR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19c</a:t>
            </a:r>
            <a:r>
              <a:rPr lang="ko-KR" altLang="en-US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말이 되어서야 시베리아 횡단열차</a:t>
            </a:r>
            <a:r>
              <a:rPr lang="en-US" altLang="ko-KR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석탄 철광 방직 공업 발달 </a:t>
            </a:r>
            <a:endParaRPr lang="en-US" altLang="ko-KR" sz="8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90FAFF3-AB13-4D24-95F9-4D61F55696E2}"/>
              </a:ext>
            </a:extLst>
          </p:cNvPr>
          <p:cNvSpPr txBox="1"/>
          <p:nvPr/>
        </p:nvSpPr>
        <p:spPr>
          <a:xfrm>
            <a:off x="9100937" y="6271183"/>
            <a:ext cx="8210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브나로드 운동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EFF83B6-E3E5-4E9F-9BE1-ED77A861372F}"/>
              </a:ext>
            </a:extLst>
          </p:cNvPr>
          <p:cNvSpPr txBox="1"/>
          <p:nvPr/>
        </p:nvSpPr>
        <p:spPr>
          <a:xfrm>
            <a:off x="3438940" y="1233094"/>
            <a:ext cx="89202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8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계몽사상</a:t>
            </a:r>
            <a:r>
              <a:rPr lang="en-US" altLang="ko-KR" sz="8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5DCC3A0-83A2-4290-B3A4-4DF28E6D63C1}"/>
              </a:ext>
            </a:extLst>
          </p:cNvPr>
          <p:cNvSpPr txBox="1"/>
          <p:nvPr/>
        </p:nvSpPr>
        <p:spPr>
          <a:xfrm>
            <a:off x="3438940" y="4337021"/>
            <a:ext cx="18363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8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영국의 라틴 아메리카 지원</a:t>
            </a:r>
            <a:r>
              <a:rPr lang="en-US" altLang="ko-KR" sz="8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485847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" t="7658" r="780" b="6242"/>
          <a:stretch/>
        </p:blipFill>
        <p:spPr>
          <a:xfrm>
            <a:off x="982917" y="628319"/>
            <a:ext cx="10226165" cy="6115548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23FAE24B-419C-4480-ADE4-75978B72EB45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이슈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제국주의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침략을 정당화하다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1C52E4B-A752-490B-9FE8-C4AAAE39B2DC}"/>
              </a:ext>
            </a:extLst>
          </p:cNvPr>
          <p:cNvSpPr txBox="1"/>
          <p:nvPr/>
        </p:nvSpPr>
        <p:spPr>
          <a:xfrm>
            <a:off x="109056" y="551491"/>
            <a:ext cx="6838591" cy="4770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제국주의가 등장한 원인과 침략 과정을 알아보고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제국주의의 문제점을 생각해 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endParaRPr lang="ko-KR" altLang="en-US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2B9901F-0C0B-4C72-AB72-6827738268B7}"/>
              </a:ext>
            </a:extLst>
          </p:cNvPr>
          <p:cNvSpPr txBox="1"/>
          <p:nvPr/>
        </p:nvSpPr>
        <p:spPr>
          <a:xfrm>
            <a:off x="5265338" y="2390443"/>
            <a:ext cx="6065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113</a:t>
            </a:r>
            <a:endParaRPr lang="ko-KR" altLang="en-US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F49C789-E5AC-4949-9D84-221C4412578D}"/>
              </a:ext>
            </a:extLst>
          </p:cNvPr>
          <p:cNvSpPr txBox="1"/>
          <p:nvPr/>
        </p:nvSpPr>
        <p:spPr>
          <a:xfrm>
            <a:off x="7697253" y="3033080"/>
            <a:ext cx="6065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119</a:t>
            </a:r>
            <a:endParaRPr lang="ko-KR" altLang="en-US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C7FC49-FC75-4C18-B766-DD9DA732C124}"/>
              </a:ext>
            </a:extLst>
          </p:cNvPr>
          <p:cNvSpPr txBox="1"/>
          <p:nvPr/>
        </p:nvSpPr>
        <p:spPr>
          <a:xfrm>
            <a:off x="7617166" y="3835494"/>
            <a:ext cx="6065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116</a:t>
            </a:r>
            <a:endParaRPr lang="ko-KR" altLang="en-US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B9D77E79-923E-4176-8CEB-416B888409AC}"/>
              </a:ext>
            </a:extLst>
          </p:cNvPr>
          <p:cNvGrpSpPr/>
          <p:nvPr/>
        </p:nvGrpSpPr>
        <p:grpSpPr>
          <a:xfrm>
            <a:off x="2968551" y="2694371"/>
            <a:ext cx="2645981" cy="2085093"/>
            <a:chOff x="3186370" y="2602774"/>
            <a:chExt cx="2645981" cy="2085093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DDCEA733-4712-4FAF-BE77-B1E917FBE564}"/>
                </a:ext>
              </a:extLst>
            </p:cNvPr>
            <p:cNvGrpSpPr/>
            <p:nvPr/>
          </p:nvGrpSpPr>
          <p:grpSpPr>
            <a:xfrm>
              <a:off x="4894112" y="2602774"/>
              <a:ext cx="938239" cy="1115797"/>
              <a:chOff x="4894112" y="2602774"/>
              <a:chExt cx="938239" cy="1115797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EF05B1F-4AA0-484A-9E42-200A6C53A44B}"/>
                  </a:ext>
                </a:extLst>
              </p:cNvPr>
              <p:cNvSpPr txBox="1"/>
              <p:nvPr/>
            </p:nvSpPr>
            <p:spPr>
              <a:xfrm>
                <a:off x="4894112" y="2602774"/>
                <a:ext cx="43765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000" dirty="0">
                    <a:solidFill>
                      <a:srgbClr val="C00000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시장</a:t>
                </a:r>
                <a:endParaRPr lang="en-US" altLang="ko-KR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4A3F324-B758-42F2-9DCD-C1DA0EE3DE9C}"/>
                  </a:ext>
                </a:extLst>
              </p:cNvPr>
              <p:cNvSpPr txBox="1"/>
              <p:nvPr/>
            </p:nvSpPr>
            <p:spPr>
              <a:xfrm>
                <a:off x="5270630" y="3033080"/>
                <a:ext cx="43765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000" dirty="0">
                    <a:solidFill>
                      <a:srgbClr val="C00000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원료</a:t>
                </a:r>
                <a:endParaRPr lang="en-US" altLang="ko-KR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16395A0-E36C-465E-BD43-85451E9CF1BB}"/>
                  </a:ext>
                </a:extLst>
              </p:cNvPr>
              <p:cNvSpPr txBox="1"/>
              <p:nvPr/>
            </p:nvSpPr>
            <p:spPr>
              <a:xfrm>
                <a:off x="5225807" y="3472350"/>
                <a:ext cx="60654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000" dirty="0">
                    <a:solidFill>
                      <a:srgbClr val="C00000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노동력</a:t>
                </a:r>
                <a:endParaRPr lang="en-US" altLang="ko-KR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0E80747-F676-41F0-B913-66884FD4E376}"/>
                </a:ext>
              </a:extLst>
            </p:cNvPr>
            <p:cNvSpPr txBox="1"/>
            <p:nvPr/>
          </p:nvSpPr>
          <p:spPr>
            <a:xfrm>
              <a:off x="3186370" y="4441646"/>
              <a:ext cx="203943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나라가 강해지기 위해 필요하다</a:t>
              </a:r>
              <a:r>
                <a:rPr lang="en-US" altLang="ko-KR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!!</a:t>
              </a: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38D22CA2-E8B2-469B-8E8F-D26A420EE629}"/>
              </a:ext>
            </a:extLst>
          </p:cNvPr>
          <p:cNvGrpSpPr/>
          <p:nvPr/>
        </p:nvGrpSpPr>
        <p:grpSpPr>
          <a:xfrm>
            <a:off x="2293990" y="1028545"/>
            <a:ext cx="3628675" cy="3676418"/>
            <a:chOff x="-4093" y="750941"/>
            <a:chExt cx="3628675" cy="3676418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4C59C381-9EF5-4AE0-AB3B-CBAFB82CCD9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2158"/>
            <a:stretch/>
          </p:blipFill>
          <p:spPr>
            <a:xfrm>
              <a:off x="9331" y="750941"/>
              <a:ext cx="3615251" cy="2488330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0E523DE-4228-4E0D-A01E-F19B90E7BBD8}"/>
                </a:ext>
              </a:extLst>
            </p:cNvPr>
            <p:cNvSpPr txBox="1"/>
            <p:nvPr/>
          </p:nvSpPr>
          <p:spPr>
            <a:xfrm>
              <a:off x="-4093" y="3211642"/>
              <a:ext cx="3615251" cy="121571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[</a:t>
              </a:r>
              <a:r>
                <a:rPr lang="ko-KR" altLang="en-US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제국주의</a:t>
              </a:r>
              <a:r>
                <a:rPr lang="en-US" altLang="ko-KR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]</a:t>
              </a:r>
            </a:p>
            <a:p>
              <a:r>
                <a:rPr lang="ko-KR" altLang="en-US" sz="9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민족주의와 결합하여 민족 감정과 애국심을 강조하였고</a:t>
              </a:r>
              <a:r>
                <a:rPr lang="en-US" altLang="ko-KR" sz="9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, ‘</a:t>
              </a:r>
              <a:r>
                <a:rPr lang="ko-KR" altLang="en-US" sz="9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약육강식</a:t>
              </a:r>
              <a:r>
                <a:rPr lang="en-US" altLang="ko-KR" sz="9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’</a:t>
              </a:r>
              <a:r>
                <a:rPr lang="ko-KR" altLang="en-US" sz="9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과 </a:t>
              </a:r>
              <a:r>
                <a:rPr lang="en-US" altLang="ko-KR" sz="9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‘</a:t>
              </a:r>
              <a:r>
                <a:rPr lang="ko-KR" altLang="en-US" sz="9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적자생존</a:t>
              </a:r>
              <a:r>
                <a:rPr lang="en-US" altLang="ko-KR" sz="9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’</a:t>
              </a:r>
              <a:r>
                <a:rPr lang="ko-KR" altLang="en-US" sz="9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을 강조하는 다윈의 진화론을 받아들여 이것이 사회 발전의 원리라고 주장하는 사회 진화론의 입장을 취하였다</a:t>
              </a:r>
              <a:r>
                <a:rPr lang="en-US" altLang="ko-KR" sz="9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. </a:t>
              </a:r>
              <a:r>
                <a:rPr lang="ko-KR" altLang="en-US" sz="9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또한 인종주의와 결합하여 외국인과 유색 인종 등에 대해 배타적인 태도를 취하였다</a:t>
              </a:r>
              <a:r>
                <a:rPr lang="en-US" altLang="ko-KR" sz="9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. </a:t>
              </a:r>
              <a:r>
                <a:rPr lang="ko-KR" altLang="en-US" sz="9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당시 서양인들은 문명적 우월함을 가지고 제국주의를 적극적으로 지지하였으며</a:t>
              </a:r>
              <a:r>
                <a:rPr lang="en-US" altLang="ko-KR" sz="9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, </a:t>
              </a:r>
              <a:r>
                <a:rPr lang="ko-KR" altLang="en-US" sz="9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유럽인이 후진 지역 사람들을 지배하는 것이 정당하다고 여겼다</a:t>
              </a:r>
              <a:r>
                <a:rPr lang="en-US" altLang="ko-KR" sz="9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.</a:t>
              </a:r>
            </a:p>
            <a:p>
              <a:r>
                <a:rPr lang="en-US" altLang="ko-KR" sz="9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                                                                     _ </a:t>
              </a:r>
              <a:r>
                <a:rPr lang="ko-KR" altLang="en-US" sz="9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중학교 </a:t>
              </a:r>
              <a:r>
                <a:rPr lang="en-US" altLang="ko-KR" sz="9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《</a:t>
              </a:r>
              <a:r>
                <a:rPr lang="ko-KR" altLang="en-US" sz="9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역사 ②</a:t>
              </a:r>
              <a:r>
                <a:rPr lang="en-US" altLang="ko-KR" sz="9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》, </a:t>
              </a:r>
              <a:r>
                <a:rPr lang="ko-KR" altLang="en-US" sz="9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천재 교육</a:t>
              </a:r>
              <a:endPara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233CB53E-71E3-4196-8C6C-4034EA7AA011}"/>
              </a:ext>
            </a:extLst>
          </p:cNvPr>
          <p:cNvSpPr txBox="1"/>
          <p:nvPr/>
        </p:nvSpPr>
        <p:spPr>
          <a:xfrm>
            <a:off x="1148869" y="5784382"/>
            <a:ext cx="5064208" cy="10156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제국 열강들의 국경선 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+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영국의 인도 아편 재배 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+ 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대규모 강제 노동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제대로 된 임금을 받지 못하고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가혹한 노동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 시달렸을 것이다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강대국들이 마음대로 국경선을 정했기 때문에 한 국가 안에서 문화와 부족이 다른 사람들끼리 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내부적으로 분쟁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을 겪어야 했을 것이다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자국의 자원을 앗아가는 열강들을 보면서 아무런 대응을 하지 못했기 때문에 억울했을 것이다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경제적으로 여러 가지 수탈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 시달렸을 것이다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  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F096564-93B4-4576-9A12-814BD113CEF0}"/>
              </a:ext>
            </a:extLst>
          </p:cNvPr>
          <p:cNvSpPr txBox="1"/>
          <p:nvPr/>
        </p:nvSpPr>
        <p:spPr>
          <a:xfrm>
            <a:off x="8660642" y="3489246"/>
            <a:ext cx="3531723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제국주의 열강의 아프리카 분할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아시아 여러 나라 제국주의 국가 식민지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다양한 자원 풍부한 태평양 여러 섬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금과 다이아몬드 등 엄청난 지하자원 아프리카를 통째로 식민지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EB01295-C3F4-4EA5-A5CE-5B9CC0ED9FCF}"/>
              </a:ext>
            </a:extLst>
          </p:cNvPr>
          <p:cNvSpPr txBox="1"/>
          <p:nvPr/>
        </p:nvSpPr>
        <p:spPr>
          <a:xfrm>
            <a:off x="2316818" y="4910461"/>
            <a:ext cx="11256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식민지 지배 합리화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392496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1" t="11407" r="849" b="2044"/>
          <a:stretch/>
        </p:blipFill>
        <p:spPr>
          <a:xfrm>
            <a:off x="1159723" y="901004"/>
            <a:ext cx="9916160" cy="593553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이슈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기울어 가는 중국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제국주의로 향하는 일본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11FB145E-846A-454E-B89C-84C53F27A57D}"/>
              </a:ext>
            </a:extLst>
          </p:cNvPr>
          <p:cNvSpPr txBox="1"/>
          <p:nvPr/>
        </p:nvSpPr>
        <p:spPr>
          <a:xfrm>
            <a:off x="109056" y="551491"/>
            <a:ext cx="6165909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중국과 일본이 </a:t>
            </a:r>
            <a:r>
              <a:rPr lang="ko-KR" altLang="en-US" sz="1400" dirty="0" err="1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근대화하는</a:t>
            </a:r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과정을 알아보자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8D4E33-3C09-4620-AC47-D29E71544727}"/>
              </a:ext>
            </a:extLst>
          </p:cNvPr>
          <p:cNvSpPr txBox="1"/>
          <p:nvPr/>
        </p:nvSpPr>
        <p:spPr>
          <a:xfrm>
            <a:off x="1285912" y="1293743"/>
            <a:ext cx="10881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120~121</a:t>
            </a:r>
            <a:endParaRPr lang="ko-KR" altLang="en-US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FD48D5-2D6B-4CE2-954E-EE01BF0985F8}"/>
              </a:ext>
            </a:extLst>
          </p:cNvPr>
          <p:cNvSpPr txBox="1"/>
          <p:nvPr/>
        </p:nvSpPr>
        <p:spPr>
          <a:xfrm>
            <a:off x="6772312" y="1583596"/>
            <a:ext cx="1088172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125~126</a:t>
            </a:r>
            <a:endParaRPr lang="ko-KR" altLang="en-US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BBD179-177F-4083-B91C-A28DBE6C78AE}"/>
              </a:ext>
            </a:extLst>
          </p:cNvPr>
          <p:cNvSpPr txBox="1"/>
          <p:nvPr/>
        </p:nvSpPr>
        <p:spPr>
          <a:xfrm>
            <a:off x="66741" y="3627209"/>
            <a:ext cx="15266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청의 입장에서 영국만 이익을 얻는 불평등 조약이고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청이 속국으로 들어가는 것으로 보인다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7C62921-4345-4079-BBAB-19E52C66AE6B}"/>
              </a:ext>
            </a:extLst>
          </p:cNvPr>
          <p:cNvCxnSpPr/>
          <p:nvPr/>
        </p:nvCxnSpPr>
        <p:spPr>
          <a:xfrm>
            <a:off x="3867150" y="3868770"/>
            <a:ext cx="1133475" cy="21240"/>
          </a:xfrm>
          <a:prstGeom prst="line">
            <a:avLst/>
          </a:prstGeom>
          <a:ln w="127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A3509CD7-E311-4947-B5BD-665ED7CEDC9F}"/>
              </a:ext>
            </a:extLst>
          </p:cNvPr>
          <p:cNvCxnSpPr>
            <a:cxnSpLocks/>
          </p:cNvCxnSpPr>
          <p:nvPr/>
        </p:nvCxnSpPr>
        <p:spPr>
          <a:xfrm>
            <a:off x="2838450" y="4018280"/>
            <a:ext cx="1377950" cy="0"/>
          </a:xfrm>
          <a:prstGeom prst="line">
            <a:avLst/>
          </a:prstGeom>
          <a:ln w="127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E562240D-5588-4980-A9CF-C7D611DDE2F2}"/>
              </a:ext>
            </a:extLst>
          </p:cNvPr>
          <p:cNvCxnSpPr>
            <a:cxnSpLocks/>
          </p:cNvCxnSpPr>
          <p:nvPr/>
        </p:nvCxnSpPr>
        <p:spPr>
          <a:xfrm>
            <a:off x="2204720" y="4201160"/>
            <a:ext cx="589280" cy="0"/>
          </a:xfrm>
          <a:prstGeom prst="line">
            <a:avLst/>
          </a:prstGeom>
          <a:ln w="127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C8E6D91A-3D97-45CE-BDF8-8A98922BEA50}"/>
              </a:ext>
            </a:extLst>
          </p:cNvPr>
          <p:cNvCxnSpPr>
            <a:cxnSpLocks/>
          </p:cNvCxnSpPr>
          <p:nvPr/>
        </p:nvCxnSpPr>
        <p:spPr>
          <a:xfrm>
            <a:off x="3172343" y="4201160"/>
            <a:ext cx="694807" cy="0"/>
          </a:xfrm>
          <a:prstGeom prst="line">
            <a:avLst/>
          </a:prstGeom>
          <a:ln w="127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C331F1D-6599-4819-BC35-1885020FFC31}"/>
              </a:ext>
            </a:extLst>
          </p:cNvPr>
          <p:cNvSpPr txBox="1"/>
          <p:nvPr/>
        </p:nvSpPr>
        <p:spPr>
          <a:xfrm>
            <a:off x="8107600" y="1414765"/>
            <a:ext cx="40844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서양의 문물을 받아들이고 낡은 제도를 없앤 것을 말한다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</a:p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메이지 유신을 통해 일본은 많은 공장을 세우고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철도와 전기 시설을 갖추었으며 국립 은행을 설치하였다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DF7A196-A17C-4E27-B25E-D6CD2B9E18D5}"/>
              </a:ext>
            </a:extLst>
          </p:cNvPr>
          <p:cNvSpPr txBox="1"/>
          <p:nvPr/>
        </p:nvSpPr>
        <p:spPr>
          <a:xfrm>
            <a:off x="2838450" y="5925374"/>
            <a:ext cx="9111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제도의 개혁 </a:t>
            </a:r>
            <a:r>
              <a:rPr lang="en-US" altLang="ko-KR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X]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068B949-3DF7-49BB-9438-67E6645F5DF2}"/>
              </a:ext>
            </a:extLst>
          </p:cNvPr>
          <p:cNvSpPr txBox="1"/>
          <p:nvPr/>
        </p:nvSpPr>
        <p:spPr>
          <a:xfrm>
            <a:off x="10890617" y="2468104"/>
            <a:ext cx="1276350" cy="14773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미국에 의해 개항을 하고 불평등 조약을 맺게 된 일본은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메이지 유신 이후 근대화 과정을 밟더니 자기들이 받았던 침략적 행동을 주변국에게 똑같이 하면서 침략하기 시작했다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DC60F29-178E-4311-9B3C-1588EF555EF7}"/>
              </a:ext>
            </a:extLst>
          </p:cNvPr>
          <p:cNvSpPr txBox="1"/>
          <p:nvPr/>
        </p:nvSpPr>
        <p:spPr>
          <a:xfrm>
            <a:off x="1333537" y="4989443"/>
            <a:ext cx="10881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123</a:t>
            </a:r>
            <a:endParaRPr lang="ko-KR" altLang="en-US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CF5C6E2-9A48-462D-941A-A9AA8D8150DF}"/>
              </a:ext>
            </a:extLst>
          </p:cNvPr>
          <p:cNvSpPr txBox="1"/>
          <p:nvPr/>
        </p:nvSpPr>
        <p:spPr>
          <a:xfrm>
            <a:off x="2609887" y="4989443"/>
            <a:ext cx="10881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123~4</a:t>
            </a:r>
            <a:endParaRPr lang="ko-KR" altLang="en-US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4FAD4B0-6724-4862-B32A-441A6CAC1DBE}"/>
              </a:ext>
            </a:extLst>
          </p:cNvPr>
          <p:cNvSpPr txBox="1"/>
          <p:nvPr/>
        </p:nvSpPr>
        <p:spPr>
          <a:xfrm>
            <a:off x="3781462" y="4970393"/>
            <a:ext cx="10881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129</a:t>
            </a:r>
            <a:endParaRPr lang="ko-KR" altLang="en-US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A0EF1B8-1A30-41CF-A12B-75E139A5ECF0}"/>
              </a:ext>
            </a:extLst>
          </p:cNvPr>
          <p:cNvSpPr txBox="1"/>
          <p:nvPr/>
        </p:nvSpPr>
        <p:spPr>
          <a:xfrm>
            <a:off x="4857787" y="4970393"/>
            <a:ext cx="10881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130</a:t>
            </a:r>
            <a:endParaRPr lang="ko-KR" altLang="en-US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661CEE1-99B1-40A4-9749-0B1B04998822}"/>
              </a:ext>
            </a:extLst>
          </p:cNvPr>
          <p:cNvSpPr txBox="1"/>
          <p:nvPr/>
        </p:nvSpPr>
        <p:spPr>
          <a:xfrm>
            <a:off x="2527178" y="2584433"/>
            <a:ext cx="107691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아편 중독</a:t>
            </a:r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+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은이 해외 유출</a:t>
            </a:r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 재정 악화</a:t>
            </a:r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DC36E8E-4B1A-4D10-BC22-A4B98AAA22B9}"/>
              </a:ext>
            </a:extLst>
          </p:cNvPr>
          <p:cNvSpPr txBox="1"/>
          <p:nvPr/>
        </p:nvSpPr>
        <p:spPr>
          <a:xfrm>
            <a:off x="3667579" y="1404387"/>
            <a:ext cx="12427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청 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8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임칙서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광저우 파견</a:t>
            </a:r>
            <a:endParaRPr lang="en-US" altLang="ko-KR" sz="8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C45EAFB9-0B02-4F0D-B31D-E394AA202E04}"/>
              </a:ext>
            </a:extLst>
          </p:cNvPr>
          <p:cNvCxnSpPr>
            <a:cxnSpLocks/>
          </p:cNvCxnSpPr>
          <p:nvPr/>
        </p:nvCxnSpPr>
        <p:spPr>
          <a:xfrm>
            <a:off x="5577352" y="5757220"/>
            <a:ext cx="101" cy="245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44A07848-2E99-4357-A7B1-E0FB8A026CB3}"/>
              </a:ext>
            </a:extLst>
          </p:cNvPr>
          <p:cNvSpPr txBox="1"/>
          <p:nvPr/>
        </p:nvSpPr>
        <p:spPr>
          <a:xfrm>
            <a:off x="5242042" y="5996959"/>
            <a:ext cx="10881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청의 몰락 재촉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4B3342A-2BD0-4B08-BE41-0406321EA72B}"/>
              </a:ext>
            </a:extLst>
          </p:cNvPr>
          <p:cNvSpPr/>
          <p:nvPr/>
        </p:nvSpPr>
        <p:spPr>
          <a:xfrm>
            <a:off x="2785034" y="6252695"/>
            <a:ext cx="387309" cy="25660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AEA3B37-B56E-4B70-8A11-12B3A60EDC55}"/>
              </a:ext>
            </a:extLst>
          </p:cNvPr>
          <p:cNvSpPr txBox="1"/>
          <p:nvPr/>
        </p:nvSpPr>
        <p:spPr>
          <a:xfrm>
            <a:off x="5242042" y="6405388"/>
            <a:ext cx="9110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8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쑨원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삼민주의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2D85DEE3-6FF2-449E-9CCC-1477EF4175CE}"/>
              </a:ext>
            </a:extLst>
          </p:cNvPr>
          <p:cNvCxnSpPr>
            <a:cxnSpLocks/>
          </p:cNvCxnSpPr>
          <p:nvPr/>
        </p:nvCxnSpPr>
        <p:spPr>
          <a:xfrm>
            <a:off x="5577352" y="6195370"/>
            <a:ext cx="101" cy="245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75F83D6E-0A34-4B51-9925-CC0819930FCB}"/>
              </a:ext>
            </a:extLst>
          </p:cNvPr>
          <p:cNvCxnSpPr>
            <a:cxnSpLocks/>
          </p:cNvCxnSpPr>
          <p:nvPr/>
        </p:nvCxnSpPr>
        <p:spPr>
          <a:xfrm>
            <a:off x="5579035" y="3244861"/>
            <a:ext cx="0" cy="8354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33BC3479-4231-44F5-B1A8-D63A9C0EB7B3}"/>
              </a:ext>
            </a:extLst>
          </p:cNvPr>
          <p:cNvSpPr txBox="1"/>
          <p:nvPr/>
        </p:nvSpPr>
        <p:spPr>
          <a:xfrm>
            <a:off x="4921848" y="4080281"/>
            <a:ext cx="7272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8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애로호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사건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73FDE45-0CCD-446F-A694-D3DC4BF1850C}"/>
              </a:ext>
            </a:extLst>
          </p:cNvPr>
          <p:cNvSpPr txBox="1"/>
          <p:nvPr/>
        </p:nvSpPr>
        <p:spPr>
          <a:xfrm>
            <a:off x="4923529" y="4241645"/>
            <a:ext cx="170808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차 아편전쟁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 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영국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프랑스 승리</a:t>
            </a:r>
            <a:endParaRPr lang="en-US" altLang="ko-KR" sz="8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730C933C-0A74-4FDD-A64F-14702C1C8BE3}"/>
              </a:ext>
            </a:extLst>
          </p:cNvPr>
          <p:cNvCxnSpPr>
            <a:cxnSpLocks/>
          </p:cNvCxnSpPr>
          <p:nvPr/>
        </p:nvCxnSpPr>
        <p:spPr>
          <a:xfrm>
            <a:off x="5579035" y="4401308"/>
            <a:ext cx="0" cy="2975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2178CE5C-8452-40C3-918E-7A1A2E965058}"/>
              </a:ext>
            </a:extLst>
          </p:cNvPr>
          <p:cNvSpPr txBox="1"/>
          <p:nvPr/>
        </p:nvSpPr>
        <p:spPr>
          <a:xfrm>
            <a:off x="4923529" y="4671950"/>
            <a:ext cx="170808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중국이 영국의 반 식민지화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95D4949-ADC3-4497-BB5F-625EE486974D}"/>
              </a:ext>
            </a:extLst>
          </p:cNvPr>
          <p:cNvSpPr txBox="1"/>
          <p:nvPr/>
        </p:nvSpPr>
        <p:spPr>
          <a:xfrm>
            <a:off x="5530155" y="4835017"/>
            <a:ext cx="8354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근대화 운동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827770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5" grpId="0"/>
      <p:bldP spid="2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4" t="3591" r="1369" b="2051"/>
          <a:stretch/>
        </p:blipFill>
        <p:spPr>
          <a:xfrm>
            <a:off x="6096000" y="525349"/>
            <a:ext cx="4544807" cy="624063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14" t="12691" r="1980" b="1411"/>
          <a:stretch/>
        </p:blipFill>
        <p:spPr>
          <a:xfrm>
            <a:off x="817839" y="915351"/>
            <a:ext cx="4369777" cy="589084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논평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제국주의를 고발하다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8D81FBF9-8558-421A-B8F3-EDA21673DB14}"/>
              </a:ext>
            </a:extLst>
          </p:cNvPr>
          <p:cNvSpPr txBox="1"/>
          <p:nvPr/>
        </p:nvSpPr>
        <p:spPr>
          <a:xfrm>
            <a:off x="109057" y="536170"/>
            <a:ext cx="614227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제국주의의 만행을 비판하는 내용으로 고발장을 써 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14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47725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7192EC5E-FE0D-40FF-AB03-F7440246CA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845" t="18084" r="28621" b="34713"/>
          <a:stretch/>
        </p:blipFill>
        <p:spPr>
          <a:xfrm>
            <a:off x="9330" y="1357594"/>
            <a:ext cx="6269871" cy="382399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문제 풀며 스스로 정리해요 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7" name="그림 16">
            <a:extLst>
              <a:ext uri="{FF2B5EF4-FFF2-40B4-BE49-F238E27FC236}">
                <a16:creationId xmlns:a16="http://schemas.microsoft.com/office/drawing/2014/main" id="{64D4A091-1B82-408E-A98D-62543A91BA1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017" t="26820" r="28879" b="13256"/>
          <a:stretch/>
        </p:blipFill>
        <p:spPr>
          <a:xfrm>
            <a:off x="6174598" y="1303089"/>
            <a:ext cx="6008071" cy="4698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698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문제 풀며 스스로 정리해요 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E3E1E774-7A37-4B0E-A712-279F95ADA10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759" t="18681" r="28793" b="33793"/>
          <a:stretch/>
        </p:blipFill>
        <p:spPr>
          <a:xfrm>
            <a:off x="0" y="1399913"/>
            <a:ext cx="6146115" cy="378168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0CA0C1E-498A-4964-8753-B7E53353D8C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190" t="27586" r="28534" b="13869"/>
          <a:stretch/>
        </p:blipFill>
        <p:spPr>
          <a:xfrm>
            <a:off x="6085831" y="1421525"/>
            <a:ext cx="6106169" cy="464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6960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2958</TotalTime>
  <Words>1001</Words>
  <Application>Microsoft Office PowerPoint</Application>
  <PresentationFormat>와이드스크린</PresentationFormat>
  <Paragraphs>137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THE봉숭아틴트</vt:lpstr>
      <vt:lpstr>나눔스퀘어 Bold</vt:lpstr>
      <vt:lpstr>나눔스퀘어_ac Bold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821098119832</dc:creator>
  <cp:lastModifiedBy>Administrator</cp:lastModifiedBy>
  <cp:revision>120</cp:revision>
  <dcterms:created xsi:type="dcterms:W3CDTF">2021-05-21T01:10:02Z</dcterms:created>
  <dcterms:modified xsi:type="dcterms:W3CDTF">2024-10-10T05:05:33Z</dcterms:modified>
</cp:coreProperties>
</file>