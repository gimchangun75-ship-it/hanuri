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86" r:id="rId3"/>
    <p:sldId id="283" r:id="rId4"/>
    <p:sldId id="287" r:id="rId5"/>
    <p:sldId id="288" r:id="rId6"/>
    <p:sldId id="281" r:id="rId7"/>
    <p:sldId id="294" r:id="rId8"/>
    <p:sldId id="285" r:id="rId9"/>
    <p:sldId id="293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BF09E-2F48-4E2E-887D-C83A1703F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227155-6CC4-4A07-827B-08BD9D3C4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FC9475-BBB8-4E7C-B71C-BA69F3EA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115D5-E04F-46B4-9026-0897E209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601A8-7A5F-4A85-98F0-640FE50A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80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AA440-2DC7-49F8-ABF3-AC421555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4BD65-C34B-4B31-861B-6B2FEA438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968D4-CEA1-4ED5-9831-87855B43E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421234-7B8F-4404-9C12-CD50653AD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F11D50-9C5A-4226-8BDD-1FD3BB21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34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61B46-3C1C-4B65-83CE-29B306DB3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A3F87C-106D-4D19-8DB6-18A042F69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3C9D4D-0FED-4442-B439-26F9223B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23A45C-DBC1-4D4A-88AA-5D80C54C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BA1CB-1588-4222-AB69-59FEDF91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0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E135B-E430-499B-AD4A-44B43FD9A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5863E5-1843-4A4C-9004-0E5780BF1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411DA0-B5AC-408A-9B24-910EC5B4F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E0DE3B-1C4C-42BE-8C7E-0A03B3BCC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375DDF-57E6-42DE-B908-F3D9F215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E51BDF-7C0C-445E-BBE1-395731FA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94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A237B-E50D-4CDA-B697-5F41D805A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C193AE-DBA3-43D7-9C42-86D280EDC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2BD590-9B7A-4B1E-8CD5-CBC55361F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7791AA-4CA9-4EBD-ADCF-45995414F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37961-538C-401B-BA6C-81B6E345E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2A739A-A9F7-41C3-8E73-C58B3966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234EBC-BA27-4A3B-BBAD-2A84BE06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C7CE16-42DC-46A9-AD74-8AC77F17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65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66BFB-6767-4325-90A4-D87B215A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661116-7BFA-4449-AA52-93E6DD062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57FBD7-122F-48CE-82E5-C3CFE3AFF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CB7F33-CE8D-4098-8F32-5315E365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06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A2BD6F-CF9D-499D-ABDD-DF4A5EB7F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8FC5D9-2E9D-42A8-B651-C4A2CC6D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570DE-7E0C-485D-8328-72AC5FB74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386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8748D-3391-40D5-992B-48BCB17B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97AF4B-B7D5-49D9-8969-0CD238F5E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FB7B14-BF99-4106-AE0C-F05D09AE6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33C3F4-1B10-4CD7-BD18-68EB58606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E03EB7-E983-4545-8671-7BE21E20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5A0FE2-ED3E-4581-B0D5-88909DA4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236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62667-DBBB-4A4D-BAE9-F2D59A9E8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5DBF80-FFFA-4CD8-9BDA-A39A273A6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F5535C-32B6-41A8-8D53-B84ECB908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587FB1-1472-4E7B-94B6-659863E3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6294D4-590D-493F-8138-53F7CA5A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47E70A-B0FA-4C12-ADF7-DC10C86C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07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3077AA-FE8C-41FE-927E-C363475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73F264-7FEE-477D-B6AD-17E4A3B9D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F3B7DD-6D54-4392-8080-BC88ECF74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A3D4E4-9827-46BB-860A-BB275868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6D0B1-EAAE-4ABE-A3A4-65BF6FB0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891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D3092B-8A1F-492F-932D-F9A5CE830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1AA047-6D64-43A4-AFE0-246807DF9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17278F-7610-4CDD-B60D-2518C3E2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85B3C1-A624-4119-9C3A-C5C227D7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6C8147-0120-40A8-806B-9CC651F7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43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46CEAD-EDE2-479A-9F7E-BD61BDB0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AE9DE0-42FC-4E12-A53D-088334F57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AFD70-A355-4236-8E75-E3F63258A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6A2E3-3A1D-4D3B-9152-FDAA0160F4E2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9C325-16F0-4E5B-9146-ADEC5507B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DE10C-87C5-42DE-9363-2810FD536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826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3FB414AB-7D20-4C1B-8DA1-2BB34161EBA4}"/>
              </a:ext>
            </a:extLst>
          </p:cNvPr>
          <p:cNvSpPr txBox="1"/>
          <p:nvPr/>
        </p:nvSpPr>
        <p:spPr>
          <a:xfrm>
            <a:off x="9331" y="6528945"/>
            <a:ext cx="12192000" cy="28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한우리</a:t>
            </a:r>
            <a:r>
              <a: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</a:r>
            <a:r>
              <a:rPr lang="en-US" altLang="ko-KR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sk</a:t>
            </a:r>
            <a:r>
              <a:rPr lang="en-US" altLang="ko-KR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</a:t>
            </a: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논술교습소</a:t>
            </a:r>
            <a:endParaRPr lang="ko-KR" altLang="en-US" sz="900" dirty="0">
              <a:solidFill>
                <a:srgbClr val="003300"/>
              </a:solidFill>
              <a:latin typeface="THE봉숭아틴트" panose="02020603020101020101" pitchFamily="18" charset="-127"/>
              <a:ea typeface="THE봉숭아틴트" panose="02020603020101020101" pitchFamily="18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0186495-8991-42AD-B58A-9CBF1D38BA33}"/>
              </a:ext>
            </a:extLst>
          </p:cNvPr>
          <p:cNvCxnSpPr>
            <a:cxnSpLocks/>
          </p:cNvCxnSpPr>
          <p:nvPr/>
        </p:nvCxnSpPr>
        <p:spPr>
          <a:xfrm>
            <a:off x="0" y="6851340"/>
            <a:ext cx="1219200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DA6985-C3BD-4D21-B216-0AD1DA5A3AEB}"/>
              </a:ext>
            </a:extLst>
          </p:cNvPr>
          <p:cNvSpPr txBox="1"/>
          <p:nvPr/>
        </p:nvSpPr>
        <p:spPr>
          <a:xfrm>
            <a:off x="3663101" y="2514302"/>
            <a:ext cx="75668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르네상스</a:t>
            </a:r>
            <a:r>
              <a:rPr lang="en-US" altLang="ko-KR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 개혁</a:t>
            </a:r>
            <a:r>
              <a:rPr lang="en-US" altLang="ko-KR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6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신항로</a:t>
            </a:r>
            <a:r>
              <a:rPr lang="ko-KR" altLang="en-US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개척 시기</a:t>
            </a: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</a:t>
            </a:r>
            <a:r>
              <a:rPr lang="ko-KR" altLang="en-US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유럽의 역사를 파악할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르네상스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종교 개혁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6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신항로</a:t>
            </a: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개척이 유럽 사회에 미친 영향을 이해할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6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6C90F0-D105-427E-8B20-6195FD183CE2}"/>
              </a:ext>
            </a:extLst>
          </p:cNvPr>
          <p:cNvSpPr txBox="1"/>
          <p:nvPr/>
        </p:nvSpPr>
        <p:spPr>
          <a:xfrm>
            <a:off x="11397622" y="263760"/>
            <a:ext cx="5890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>
                <a:solidFill>
                  <a:srgbClr val="0033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⑤</a:t>
            </a:r>
            <a:endParaRPr lang="en-US" altLang="ko-KR" sz="3000" dirty="0">
              <a:solidFill>
                <a:srgbClr val="0033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750985-C6A6-487E-A622-5A5C07F7BE52}"/>
              </a:ext>
            </a:extLst>
          </p:cNvPr>
          <p:cNvSpPr/>
          <p:nvPr/>
        </p:nvSpPr>
        <p:spPr>
          <a:xfrm>
            <a:off x="1923243" y="2580038"/>
            <a:ext cx="107604" cy="50917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BF407F-2D88-4762-80A7-3DA7561A0052}"/>
              </a:ext>
            </a:extLst>
          </p:cNvPr>
          <p:cNvSpPr txBox="1"/>
          <p:nvPr/>
        </p:nvSpPr>
        <p:spPr>
          <a:xfrm>
            <a:off x="2054932" y="2433586"/>
            <a:ext cx="17836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 목표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5F2DFAF-5D38-42AE-A087-228328A1F5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89" t="59694" r="9490" b="1911"/>
          <a:stretch/>
        </p:blipFill>
        <p:spPr>
          <a:xfrm>
            <a:off x="3812750" y="3439511"/>
            <a:ext cx="4566499" cy="328742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946782C-913F-43C3-B90A-F604E5DBD4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47" t="20584" r="23440" b="57698"/>
          <a:stretch/>
        </p:blipFill>
        <p:spPr>
          <a:xfrm>
            <a:off x="497167" y="462094"/>
            <a:ext cx="2449586" cy="148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505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지난주 복습 정리해요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고대 통일 제국 </a:t>
            </a:r>
            <a:r>
              <a:rPr lang="en-US" altLang="ko-KR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인도</a:t>
            </a:r>
            <a:r>
              <a:rPr lang="en-US" altLang="ko-KR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</a:t>
            </a:r>
            <a:r>
              <a:rPr lang="ko-KR" altLang="en-US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동남 아시아</a:t>
            </a:r>
            <a:r>
              <a:rPr lang="en-US" altLang="ko-KR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</a:t>
            </a:r>
            <a:r>
              <a:rPr lang="ko-KR" altLang="en-US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</a:t>
            </a:r>
            <a:r>
              <a:rPr lang="en-US" altLang="ko-KR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F00646A6-AE90-4D15-AF8D-83BAFB1E10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90" t="15780" r="24999" b="21346"/>
          <a:stretch/>
        </p:blipFill>
        <p:spPr>
          <a:xfrm>
            <a:off x="9330" y="1466667"/>
            <a:ext cx="6182686" cy="431194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D154C03-C6AF-4691-857D-53E7E1273A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358" t="24465" r="25482" b="15123"/>
          <a:stretch/>
        </p:blipFill>
        <p:spPr>
          <a:xfrm>
            <a:off x="6166849" y="1593687"/>
            <a:ext cx="6018371" cy="407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73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" t="1369" r="606"/>
          <a:stretch/>
        </p:blipFill>
        <p:spPr>
          <a:xfrm>
            <a:off x="2122415" y="527884"/>
            <a:ext cx="9227891" cy="62769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브리핑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시간 타임라인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C753B8C-131E-484F-848D-E0DDAE73C70D}"/>
              </a:ext>
            </a:extLst>
          </p:cNvPr>
          <p:cNvSpPr txBox="1"/>
          <p:nvPr/>
        </p:nvSpPr>
        <p:spPr>
          <a:xfrm>
            <a:off x="109056" y="551491"/>
            <a:ext cx="6274966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연표와 지도를 보며 이번 시간에 학습할 세계사의 주요 사건 및 용어를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1CAC95-0840-4CF3-A7E4-669B6B5D11C7}"/>
              </a:ext>
            </a:extLst>
          </p:cNvPr>
          <p:cNvSpPr txBox="1"/>
          <p:nvPr/>
        </p:nvSpPr>
        <p:spPr>
          <a:xfrm>
            <a:off x="251724" y="1151655"/>
            <a:ext cx="1480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 </a:t>
            </a: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유럽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3EB4B3-0857-4AC4-93A5-A74DCCC0BB52}"/>
              </a:ext>
            </a:extLst>
          </p:cNvPr>
          <p:cNvSpPr txBox="1"/>
          <p:nvPr/>
        </p:nvSpPr>
        <p:spPr>
          <a:xfrm>
            <a:off x="9331" y="1406333"/>
            <a:ext cx="23479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에게 문명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그리스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알렉산드로스 제국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 제국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서로마 멸망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프랑크 왕국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</a:t>
            </a:r>
            <a:r>
              <a:rPr lang="en-US" altLang="ko-KR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중세</a:t>
            </a:r>
            <a:r>
              <a:rPr lang="en-US" altLang="ko-KR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교황의 권위</a:t>
            </a:r>
            <a:endParaRPr lang="en-US" altLang="ko-KR" sz="1000" dirty="0">
              <a:solidFill>
                <a:srgbClr val="FF5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동로마 비잔티움 제국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</a:t>
            </a:r>
            <a:r>
              <a:rPr lang="en-US" altLang="ko-KR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중세</a:t>
            </a:r>
            <a:r>
              <a:rPr lang="en-US" altLang="ko-KR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황제의 권위</a:t>
            </a:r>
            <a:endParaRPr lang="en-US" altLang="ko-KR" sz="1000" dirty="0">
              <a:solidFill>
                <a:srgbClr val="FF5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십자군 전쟁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실패로 중세 </a:t>
            </a:r>
            <a:r>
              <a:rPr lang="ko-KR" altLang="en-US" sz="1000" dirty="0" err="1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교황권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붕괴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BF31860-E9E8-4698-B006-B7813DEA9323}"/>
              </a:ext>
            </a:extLst>
          </p:cNvPr>
          <p:cNvSpPr/>
          <p:nvPr/>
        </p:nvSpPr>
        <p:spPr>
          <a:xfrm>
            <a:off x="3548543" y="1908160"/>
            <a:ext cx="1702965" cy="15725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2446C31-1E50-40F8-B456-7684E2B7CDBD}"/>
              </a:ext>
            </a:extLst>
          </p:cNvPr>
          <p:cNvSpPr txBox="1"/>
          <p:nvPr/>
        </p:nvSpPr>
        <p:spPr>
          <a:xfrm>
            <a:off x="9332" y="2984964"/>
            <a:ext cx="1374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① 르네상스</a:t>
            </a:r>
            <a:endParaRPr lang="en-US" altLang="ko-KR" sz="10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이탈리아 르네상스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북유럽 르네상스</a:t>
            </a:r>
            <a:endParaRPr lang="ko-KR" altLang="en-US" sz="9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B1A2A5C-2F9D-49E4-85CC-470972EBF6A9}"/>
              </a:ext>
            </a:extLst>
          </p:cNvPr>
          <p:cNvSpPr txBox="1"/>
          <p:nvPr/>
        </p:nvSpPr>
        <p:spPr>
          <a:xfrm>
            <a:off x="9331" y="3769416"/>
            <a:ext cx="2196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② 종교개혁</a:t>
            </a:r>
            <a:r>
              <a:rPr lang="en-US" altLang="ko-KR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 전쟁</a:t>
            </a:r>
            <a:endParaRPr lang="en-US" altLang="ko-KR" sz="1000" dirty="0">
              <a:solidFill>
                <a:srgbClr val="FF5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 개혁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신성로마제국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스위스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영국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 전쟁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영국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신성로마제국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7FE8C20-946E-48B1-9995-B8493BFCED54}"/>
              </a:ext>
            </a:extLst>
          </p:cNvPr>
          <p:cNvSpPr txBox="1"/>
          <p:nvPr/>
        </p:nvSpPr>
        <p:spPr>
          <a:xfrm>
            <a:off x="9331" y="4464763"/>
            <a:ext cx="1811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③ </a:t>
            </a:r>
            <a:r>
              <a:rPr lang="ko-KR" altLang="en-US" sz="1000" dirty="0" err="1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신항로</a:t>
            </a:r>
            <a:r>
              <a:rPr lang="ko-KR" altLang="en-US" sz="10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개척</a:t>
            </a:r>
            <a:endParaRPr lang="en-US" altLang="ko-KR" sz="1000" dirty="0">
              <a:solidFill>
                <a:schemeClr val="accent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오스만 제국의 지중해 장악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동방 무역로 새로운 바닷길 개척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9702FF5-9ADE-428C-B291-DBECCB0D0ACE}"/>
              </a:ext>
            </a:extLst>
          </p:cNvPr>
          <p:cNvSpPr txBox="1"/>
          <p:nvPr/>
        </p:nvSpPr>
        <p:spPr>
          <a:xfrm>
            <a:off x="4544261" y="4215155"/>
            <a:ext cx="9782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59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B7AC6C-CE91-4F7D-A453-4C79437D1356}"/>
              </a:ext>
            </a:extLst>
          </p:cNvPr>
          <p:cNvSpPr/>
          <p:nvPr/>
        </p:nvSpPr>
        <p:spPr>
          <a:xfrm>
            <a:off x="3716323" y="3650939"/>
            <a:ext cx="7466202" cy="591111"/>
          </a:xfrm>
          <a:prstGeom prst="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483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" t="7782" r="351" b="2022"/>
          <a:stretch/>
        </p:blipFill>
        <p:spPr>
          <a:xfrm>
            <a:off x="1226075" y="586899"/>
            <a:ext cx="9959790" cy="61856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르네상스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인간의 가치에 주목하다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62896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르네상스의 의미와 특징을 살펴보고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르네상스가 예술에 미친 영향을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FB6D38-EA1E-4F7E-97C7-EB1B94F1BF76}"/>
              </a:ext>
            </a:extLst>
          </p:cNvPr>
          <p:cNvSpPr txBox="1"/>
          <p:nvPr/>
        </p:nvSpPr>
        <p:spPr>
          <a:xfrm>
            <a:off x="1167865" y="943840"/>
            <a:ext cx="5550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9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021D265-723D-45B3-A736-24C1AACF0861}"/>
              </a:ext>
            </a:extLst>
          </p:cNvPr>
          <p:cNvSpPr txBox="1"/>
          <p:nvPr/>
        </p:nvSpPr>
        <p:spPr>
          <a:xfrm>
            <a:off x="0" y="1235805"/>
            <a:ext cx="20333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르네상스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중세의 신과 교회 중심 문화에서 벗어나 고대 그리스 로마의 문화를 새롭게 되살리며 인간의 개성을 재발견 하여 새로운 문화를 탄생시키려 했던 움직임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AD43765-278C-4BD4-8B46-6E06C9C76C6C}"/>
              </a:ext>
            </a:extLst>
          </p:cNvPr>
          <p:cNvSpPr txBox="1"/>
          <p:nvPr/>
        </p:nvSpPr>
        <p:spPr>
          <a:xfrm>
            <a:off x="6489905" y="1887458"/>
            <a:ext cx="2603761" cy="246221"/>
          </a:xfrm>
          <a:prstGeom prst="rect">
            <a:avLst/>
          </a:prstGeom>
          <a:solidFill>
            <a:srgbClr val="003300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르네상스 미술의 특징 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(p.25)</a:t>
            </a:r>
            <a:endParaRPr lang="ko-KR" altLang="en-US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0573F8-E4F8-47F0-A12E-2653A6EA8DFD}"/>
              </a:ext>
            </a:extLst>
          </p:cNvPr>
          <p:cNvSpPr txBox="1"/>
          <p:nvPr/>
        </p:nvSpPr>
        <p:spPr>
          <a:xfrm>
            <a:off x="3636053" y="1940523"/>
            <a:ext cx="7364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9~10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1C35E48-1894-44B5-83E2-EFAC02429191}"/>
              </a:ext>
            </a:extLst>
          </p:cNvPr>
          <p:cNvSpPr txBox="1"/>
          <p:nvPr/>
        </p:nvSpPr>
        <p:spPr>
          <a:xfrm>
            <a:off x="5223807" y="1903251"/>
            <a:ext cx="5770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9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D29A0B4-BE0B-4A6D-A006-17E0722C9B3F}"/>
              </a:ext>
            </a:extLst>
          </p:cNvPr>
          <p:cNvSpPr txBox="1"/>
          <p:nvPr/>
        </p:nvSpPr>
        <p:spPr>
          <a:xfrm>
            <a:off x="1167865" y="2328023"/>
            <a:ext cx="5550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11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8DBBE3C-0DA9-4FA4-B8EE-5446BEFA1A6F}"/>
              </a:ext>
            </a:extLst>
          </p:cNvPr>
          <p:cNvSpPr txBox="1"/>
          <p:nvPr/>
        </p:nvSpPr>
        <p:spPr>
          <a:xfrm>
            <a:off x="8346932" y="4985644"/>
            <a:ext cx="5550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25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AAF0D17-372D-4C63-A2DD-94B8CDE3535E}"/>
              </a:ext>
            </a:extLst>
          </p:cNvPr>
          <p:cNvSpPr txBox="1"/>
          <p:nvPr/>
        </p:nvSpPr>
        <p:spPr>
          <a:xfrm>
            <a:off x="10984411" y="5957222"/>
            <a:ext cx="7433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40, 50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0745F70-00B8-4FAF-BC4F-25AB59EFDDF6}"/>
              </a:ext>
            </a:extLst>
          </p:cNvPr>
          <p:cNvSpPr txBox="1"/>
          <p:nvPr/>
        </p:nvSpPr>
        <p:spPr>
          <a:xfrm>
            <a:off x="-1" y="4268460"/>
            <a:ext cx="6096001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① 고대 그리스 로마 전통 간직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조각품 등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  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② 지중해 무역 중심지로 도시와 상공업 발달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무역 중심지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③ 예술가와 학자의 후원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상인 힘 과시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       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④ 크리스트교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봉건제 영향력 적게 받음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도시 발달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부유 상인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⑤ 십자군 전쟁 동안 이슬람 세계 문화 전파  ⑥ 비잔티움이 이슬람에 멸망하면서 많은 학자들이 이탈리아로 넘어옴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D834F75-B79D-45C2-82F3-9243A753DA63}"/>
              </a:ext>
            </a:extLst>
          </p:cNvPr>
          <p:cNvSpPr txBox="1"/>
          <p:nvPr/>
        </p:nvSpPr>
        <p:spPr>
          <a:xfrm>
            <a:off x="6096383" y="2131013"/>
            <a:ext cx="6119314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① 종교적인 내용을 그렸지만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실제 사람처럼 자연스러우면서도 개성 있게 표현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인간 자체 아름다움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건강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감정 표현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②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대칭과 균형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중요하게 여기고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원근법과 명암법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사용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③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해부학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활용해 정확하고 사실적인 묘사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456CD68-584F-4847-B1B9-92B7631046D8}"/>
              </a:ext>
            </a:extLst>
          </p:cNvPr>
          <p:cNvSpPr txBox="1"/>
          <p:nvPr/>
        </p:nvSpPr>
        <p:spPr>
          <a:xfrm>
            <a:off x="6205970" y="5386648"/>
            <a:ext cx="4979895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르네상스 시기는 신 중심의 사고에서 벗어나 인간 중심의 문화가 발달한 시기이다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인문주의가 싹트며 이전과 다른 새로운 문화와 사상을 발전시켰다는 점에서 큰 의미가 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하지만 로마의 교황청이 예술가들을 후원했기 때문에 크리스트교에서 완전히 벗어나지는 못했다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           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95D6AE5-2FA9-4247-A6F8-5A4E048141BB}"/>
              </a:ext>
            </a:extLst>
          </p:cNvPr>
          <p:cNvSpPr txBox="1"/>
          <p:nvPr/>
        </p:nvSpPr>
        <p:spPr>
          <a:xfrm>
            <a:off x="6154550" y="6110818"/>
            <a:ext cx="4939832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알프스 이북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북유럽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르네상스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부패한 교회세력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비판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크리스트교 권위 비판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불합리한 현실 비판하는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사회 개혁적 성격</a:t>
            </a:r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에라스뮈스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우신예찬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),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세르반데스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돈키호테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),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토마스모어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유토피아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AE2C9A-AAA6-46E4-AE72-7F4784C4B042}"/>
              </a:ext>
            </a:extLst>
          </p:cNvPr>
          <p:cNvSpPr txBox="1"/>
          <p:nvPr/>
        </p:nvSpPr>
        <p:spPr>
          <a:xfrm>
            <a:off x="11094382" y="6209284"/>
            <a:ext cx="1121315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북유럽 르네상스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BD91E45-6CE7-4371-AC88-99F4A9FC23E3}"/>
              </a:ext>
            </a:extLst>
          </p:cNvPr>
          <p:cNvSpPr txBox="1"/>
          <p:nvPr/>
        </p:nvSpPr>
        <p:spPr>
          <a:xfrm>
            <a:off x="1942" y="892222"/>
            <a:ext cx="1165924" cy="23852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altLang="ko-KR" sz="9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이탈리아 르네상스</a:t>
            </a:r>
            <a:r>
              <a:rPr lang="en-US" altLang="ko-KR" sz="9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95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75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70" grpId="0" animBg="1"/>
      <p:bldP spid="72" grpId="0" animBg="1"/>
      <p:bldP spid="74" grpId="0" animBg="1"/>
      <p:bldP spid="7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" t="7851" r="818" b="2074"/>
          <a:stretch/>
        </p:blipFill>
        <p:spPr>
          <a:xfrm>
            <a:off x="1054054" y="551490"/>
            <a:ext cx="10102553" cy="62575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 개혁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유럽을 흔들다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676176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종교 개혁의 배경과 종교 개혁이 서유럽 사회에 미친 영향을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F1CAA5-839D-49D9-9041-70DAB5299B72}"/>
              </a:ext>
            </a:extLst>
          </p:cNvPr>
          <p:cNvSpPr/>
          <p:nvPr/>
        </p:nvSpPr>
        <p:spPr>
          <a:xfrm>
            <a:off x="1485829" y="1094337"/>
            <a:ext cx="401652" cy="273104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789A78-B777-4572-89BB-ED18E44F0AFD}"/>
              </a:ext>
            </a:extLst>
          </p:cNvPr>
          <p:cNvSpPr txBox="1"/>
          <p:nvPr/>
        </p:nvSpPr>
        <p:spPr>
          <a:xfrm>
            <a:off x="0" y="931979"/>
            <a:ext cx="13245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p.58</a:t>
            </a: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부패하고 타락한 로마가 가톨릭 교회와 교황을 비판하고 크리스트교를 새롭게 바꾸려는 움직임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ED31F5-DC19-4430-8BC2-CF05ADAD256A}"/>
              </a:ext>
            </a:extLst>
          </p:cNvPr>
          <p:cNvSpPr txBox="1"/>
          <p:nvPr/>
        </p:nvSpPr>
        <p:spPr>
          <a:xfrm>
            <a:off x="5280990" y="2347351"/>
            <a:ext cx="5550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62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FC8FDE2-4F5A-4CDD-B45B-8E61A0C54810}"/>
              </a:ext>
            </a:extLst>
          </p:cNvPr>
          <p:cNvSpPr txBox="1"/>
          <p:nvPr/>
        </p:nvSpPr>
        <p:spPr>
          <a:xfrm>
            <a:off x="5241843" y="3212503"/>
            <a:ext cx="5550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68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2DAB967-2ED5-4C77-9DB0-BCB606A76BCB}"/>
              </a:ext>
            </a:extLst>
          </p:cNvPr>
          <p:cNvSpPr txBox="1"/>
          <p:nvPr/>
        </p:nvSpPr>
        <p:spPr>
          <a:xfrm>
            <a:off x="5293510" y="3929397"/>
            <a:ext cx="555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62</a:t>
            </a:r>
          </a:p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63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74E96C8-1688-4407-BE60-2334B484D8FD}"/>
              </a:ext>
            </a:extLst>
          </p:cNvPr>
          <p:cNvSpPr txBox="1"/>
          <p:nvPr/>
        </p:nvSpPr>
        <p:spPr>
          <a:xfrm>
            <a:off x="5267541" y="5097858"/>
            <a:ext cx="5550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69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210D9B8-80A7-433A-94EF-BB759706CB45}"/>
              </a:ext>
            </a:extLst>
          </p:cNvPr>
          <p:cNvGrpSpPr/>
          <p:nvPr/>
        </p:nvGrpSpPr>
        <p:grpSpPr>
          <a:xfrm>
            <a:off x="3379665" y="2175356"/>
            <a:ext cx="2025353" cy="1222209"/>
            <a:chOff x="3379665" y="2175356"/>
            <a:chExt cx="2025353" cy="1222209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E83B7C7-E061-4953-A5D1-7EC1D629709A}"/>
                </a:ext>
              </a:extLst>
            </p:cNvPr>
            <p:cNvSpPr txBox="1"/>
            <p:nvPr/>
          </p:nvSpPr>
          <p:spPr>
            <a:xfrm>
              <a:off x="3379665" y="2175356"/>
              <a:ext cx="2025353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5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잘못된 일이야</a:t>
              </a:r>
              <a:r>
                <a:rPr lang="en-US" altLang="ko-KR" sz="95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 </a:t>
              </a:r>
              <a:r>
                <a:rPr lang="ko-KR" altLang="en-US" sz="95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교회의 잘못을 비판하는 내용의 </a:t>
              </a:r>
              <a:r>
                <a:rPr lang="en-US" altLang="ko-KR" sz="95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&lt;95</a:t>
              </a:r>
              <a:r>
                <a:rPr lang="ko-KR" altLang="en-US" sz="95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개조 </a:t>
              </a:r>
              <a:r>
                <a:rPr lang="ko-KR" altLang="en-US" sz="950" dirty="0" err="1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반박문</a:t>
              </a:r>
              <a:r>
                <a:rPr lang="en-US" altLang="ko-KR" sz="95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&gt;</a:t>
              </a:r>
              <a:r>
                <a:rPr lang="ko-KR" altLang="en-US" sz="95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을 </a:t>
              </a:r>
              <a:r>
                <a:rPr lang="ko-KR" altLang="en-US" sz="950" dirty="0" err="1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쓰겠어</a:t>
              </a:r>
              <a:r>
                <a:rPr lang="en-US" altLang="ko-KR" sz="95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DC19A58-6D87-4372-A00D-DAF1892375FF}"/>
                </a:ext>
              </a:extLst>
            </p:cNvPr>
            <p:cNvSpPr txBox="1"/>
            <p:nvPr/>
          </p:nvSpPr>
          <p:spPr>
            <a:xfrm>
              <a:off x="3379665" y="3012844"/>
              <a:ext cx="2025353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5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                   </a:t>
              </a:r>
              <a:r>
                <a:rPr lang="ko-KR" altLang="en-US" sz="95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구원을 받는 자는 신에 의해 미리 결정되어 있지</a:t>
              </a:r>
              <a:r>
                <a:rPr lang="en-US" altLang="ko-KR" sz="95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D83FC88-08C6-4D23-90E9-327859FD0A4E}"/>
              </a:ext>
            </a:extLst>
          </p:cNvPr>
          <p:cNvGrpSpPr/>
          <p:nvPr/>
        </p:nvGrpSpPr>
        <p:grpSpPr>
          <a:xfrm>
            <a:off x="3641836" y="3769313"/>
            <a:ext cx="1763182" cy="847110"/>
            <a:chOff x="3691783" y="3910189"/>
            <a:chExt cx="1763182" cy="847110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317F5EE-0228-46C4-B8A7-FA274BC4AF13}"/>
                </a:ext>
              </a:extLst>
            </p:cNvPr>
            <p:cNvSpPr txBox="1"/>
            <p:nvPr/>
          </p:nvSpPr>
          <p:spPr>
            <a:xfrm>
              <a:off x="3691783" y="3910189"/>
              <a:ext cx="1763182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5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                            </a:t>
              </a:r>
              <a:r>
                <a:rPr lang="ko-KR" altLang="en-US" sz="95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누구나 하느님의 가르침을 얻을 수 있어</a:t>
              </a:r>
              <a:r>
                <a:rPr lang="en-US" altLang="ko-KR" sz="95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257B842-9D7F-4E97-81F2-630BB8DFE05F}"/>
                </a:ext>
              </a:extLst>
            </p:cNvPr>
            <p:cNvSpPr txBox="1"/>
            <p:nvPr/>
          </p:nvSpPr>
          <p:spPr>
            <a:xfrm>
              <a:off x="3691783" y="4226384"/>
              <a:ext cx="1763182" cy="530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5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                        </a:t>
              </a:r>
              <a:r>
                <a:rPr lang="ko-KR" altLang="en-US" sz="95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독일어로 번역해 많은 사람들이 쉽게 읽을 수 있게 할 거야</a:t>
              </a:r>
              <a:r>
                <a:rPr lang="en-US" altLang="ko-KR" sz="95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D1046D85-DC1C-4781-B9DE-493732970368}"/>
              </a:ext>
            </a:extLst>
          </p:cNvPr>
          <p:cNvSpPr txBox="1"/>
          <p:nvPr/>
        </p:nvSpPr>
        <p:spPr>
          <a:xfrm>
            <a:off x="3898726" y="4843433"/>
            <a:ext cx="153244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신을 믿고 따르는 증거이므로 축복으로 생각해야 해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661CBFB-9DFD-4D42-9404-56D6C6FFEF84}"/>
              </a:ext>
            </a:extLst>
          </p:cNvPr>
          <p:cNvSpPr txBox="1"/>
          <p:nvPr/>
        </p:nvSpPr>
        <p:spPr>
          <a:xfrm>
            <a:off x="5992854" y="2775979"/>
            <a:ext cx="5528586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 개혁으로 구교와 신교로 나누어지게 되자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둘 사이에 갈등이 커졌다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프랑스에서는 </a:t>
            </a:r>
            <a:r>
              <a:rPr lang="ko-KR" altLang="en-US" sz="95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구교가 신교도를 대량으로 학살하는 사건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일어났고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갈등은 더 커졌다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당연히 </a:t>
            </a:r>
            <a:r>
              <a:rPr lang="ko-KR" altLang="en-US" sz="95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구교와 신교는 서로의 종교를 인정하지 않았다</a:t>
            </a:r>
            <a:r>
              <a:rPr lang="en-US" altLang="ko-KR" sz="95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이러한 갈등은 국가 간의 전쟁으로 확산되었는데 그 전쟁이 바로 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30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년 전쟁이다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CDDB804-81A3-4798-8974-7EE68DA74FF7}"/>
              </a:ext>
            </a:extLst>
          </p:cNvPr>
          <p:cNvSpPr/>
          <p:nvPr/>
        </p:nvSpPr>
        <p:spPr>
          <a:xfrm>
            <a:off x="6023296" y="378852"/>
            <a:ext cx="5950590" cy="509174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8587B0E-F8B8-4443-999B-40F4A5FB0546}"/>
              </a:ext>
            </a:extLst>
          </p:cNvPr>
          <p:cNvSpPr txBox="1"/>
          <p:nvPr/>
        </p:nvSpPr>
        <p:spPr>
          <a:xfrm>
            <a:off x="1567" y="5674963"/>
            <a:ext cx="2817133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p.71</a:t>
            </a:r>
          </a:p>
          <a:p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이제부터 우리 영국 교회의 수장은 교황이 아니라 바로 짐이다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그동안 로마 가톨릭 교회가 관리하던 토지와 재산도 </a:t>
            </a:r>
            <a:r>
              <a:rPr lang="ko-KR" altLang="en-US" sz="95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영국 국교회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수장인 짐의 것이다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</a:t>
            </a:r>
          </a:p>
          <a:p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</a:t>
            </a:r>
            <a:r>
              <a:rPr lang="ko-KR" altLang="en-US" sz="95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 가톨릭 교회와 교황에게서 </a:t>
            </a:r>
            <a:endParaRPr lang="en-US" altLang="ko-KR" sz="95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95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</a:t>
            </a:r>
            <a:r>
              <a:rPr lang="ko-KR" altLang="en-US" sz="95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독립된 </a:t>
            </a:r>
            <a:r>
              <a:rPr lang="en-US" altLang="ko-KR" sz="95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95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영국 </a:t>
            </a:r>
            <a:r>
              <a:rPr lang="ko-KR" altLang="en-US" sz="95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국교회</a:t>
            </a:r>
            <a:r>
              <a:rPr lang="ko-KR" altLang="en-US" sz="95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탄생</a:t>
            </a:r>
            <a:r>
              <a:rPr lang="en-US" altLang="ko-KR" sz="95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’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교회 내부 필요 의식</a:t>
            </a:r>
            <a:endParaRPr lang="en-US" altLang="ko-KR" sz="95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E7060AC9-7034-424D-8636-7C20ABA461AC}"/>
              </a:ext>
            </a:extLst>
          </p:cNvPr>
          <p:cNvCxnSpPr>
            <a:cxnSpLocks/>
          </p:cNvCxnSpPr>
          <p:nvPr/>
        </p:nvCxnSpPr>
        <p:spPr>
          <a:xfrm flipH="1">
            <a:off x="2379311" y="6244017"/>
            <a:ext cx="380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1EFC9492-763C-46BF-9B2A-3C8ADC34F8BB}"/>
              </a:ext>
            </a:extLst>
          </p:cNvPr>
          <p:cNvSpPr txBox="1"/>
          <p:nvPr/>
        </p:nvSpPr>
        <p:spPr>
          <a:xfrm>
            <a:off x="8980848" y="2452957"/>
            <a:ext cx="5550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88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7BA732F-D620-4443-9268-6D3146F4B5B7}"/>
              </a:ext>
            </a:extLst>
          </p:cNvPr>
          <p:cNvSpPr txBox="1"/>
          <p:nvPr/>
        </p:nvSpPr>
        <p:spPr>
          <a:xfrm>
            <a:off x="9401508" y="1854582"/>
            <a:ext cx="7093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86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왜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1799A5D-FBD2-4ED3-A6C3-15B27FB284BC}"/>
              </a:ext>
            </a:extLst>
          </p:cNvPr>
          <p:cNvSpPr txBox="1"/>
          <p:nvPr/>
        </p:nvSpPr>
        <p:spPr>
          <a:xfrm>
            <a:off x="6320300" y="2219845"/>
            <a:ext cx="5653585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십자군 전쟁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흑사병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종교개혁 등으로 사회가 혼란해지고 가톨릭 교회가 위기에 빠지자 희생양이 필요해서이다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6810E16-A8B0-4998-8146-A324C0E586A9}"/>
              </a:ext>
            </a:extLst>
          </p:cNvPr>
          <p:cNvSpPr txBox="1"/>
          <p:nvPr/>
        </p:nvSpPr>
        <p:spPr>
          <a:xfrm>
            <a:off x="6559075" y="5875360"/>
            <a:ext cx="3956525" cy="6771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① </a:t>
            </a:r>
            <a:r>
              <a:rPr lang="ko-KR" altLang="en-US" sz="95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베스트팔렌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조약으로 많은 국가들이 영토를 인정</a:t>
            </a:r>
            <a:endParaRPr lang="en-US" altLang="ko-KR" sz="95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② 신교를 믿던 네덜란드는 에스파냐의 지배에서 독립</a:t>
            </a:r>
            <a:endParaRPr lang="en-US" altLang="ko-KR" sz="95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③ 신성로마제국에서 로마 가톨릭과 신교 모두에게 종교의 자유 보장</a:t>
            </a:r>
            <a:endParaRPr lang="en-US" altLang="ko-KR" sz="95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 제후국이 독립하면서 영토↓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인구 ↓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경제 ↓</a:t>
            </a:r>
            <a:endParaRPr lang="en-US" altLang="ko-KR" sz="95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37DAD41-64ED-4B06-9F0D-A4A6CD34DFE6}"/>
              </a:ext>
            </a:extLst>
          </p:cNvPr>
          <p:cNvSpPr/>
          <p:nvPr/>
        </p:nvSpPr>
        <p:spPr>
          <a:xfrm>
            <a:off x="7679141" y="2444497"/>
            <a:ext cx="405722" cy="220756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541518-7ECC-4F0E-9E79-64001CF9A8B0}"/>
              </a:ext>
            </a:extLst>
          </p:cNvPr>
          <p:cNvSpPr txBox="1"/>
          <p:nvPr/>
        </p:nvSpPr>
        <p:spPr>
          <a:xfrm>
            <a:off x="5320375" y="1530178"/>
            <a:ext cx="426796" cy="461665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신성 </a:t>
            </a:r>
            <a:endParaRPr lang="en-US" altLang="ko-KR" sz="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</a:t>
            </a:r>
            <a:endParaRPr lang="en-US" altLang="ko-KR" sz="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제국</a:t>
            </a:r>
            <a:endParaRPr lang="en-US" altLang="ko-KR" sz="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02BBB1-2752-4C51-802D-4274FBB96E47}"/>
              </a:ext>
            </a:extLst>
          </p:cNvPr>
          <p:cNvSpPr txBox="1"/>
          <p:nvPr/>
        </p:nvSpPr>
        <p:spPr>
          <a:xfrm>
            <a:off x="5318982" y="2681416"/>
            <a:ext cx="426796" cy="200055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스위스</a:t>
            </a:r>
            <a:endParaRPr lang="en-US" altLang="ko-KR" sz="7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6B07BD-08C8-4E65-B7D7-936C138A4824}"/>
              </a:ext>
            </a:extLst>
          </p:cNvPr>
          <p:cNvSpPr txBox="1"/>
          <p:nvPr/>
        </p:nvSpPr>
        <p:spPr>
          <a:xfrm>
            <a:off x="5345125" y="5955492"/>
            <a:ext cx="426796" cy="215444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영국</a:t>
            </a:r>
            <a:endParaRPr lang="en-US" altLang="ko-KR" sz="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7F05F8-1B4E-40C4-873F-E499B4F63753}"/>
              </a:ext>
            </a:extLst>
          </p:cNvPr>
          <p:cNvSpPr txBox="1"/>
          <p:nvPr/>
        </p:nvSpPr>
        <p:spPr>
          <a:xfrm>
            <a:off x="7396481" y="379357"/>
            <a:ext cx="765648" cy="230832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 개혁</a:t>
            </a:r>
            <a:r>
              <a:rPr lang="en-US" altLang="ko-KR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355DF4-1431-4F71-A88D-20DAE232362F}"/>
              </a:ext>
            </a:extLst>
          </p:cNvPr>
          <p:cNvSpPr txBox="1"/>
          <p:nvPr/>
        </p:nvSpPr>
        <p:spPr>
          <a:xfrm>
            <a:off x="9834086" y="379357"/>
            <a:ext cx="765648" cy="230832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 전쟁</a:t>
            </a:r>
            <a:r>
              <a:rPr lang="en-US" altLang="ko-KR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A928CD-9FEA-414A-A134-5146CC1C7599}"/>
              </a:ext>
            </a:extLst>
          </p:cNvPr>
          <p:cNvSpPr txBox="1"/>
          <p:nvPr/>
        </p:nvSpPr>
        <p:spPr>
          <a:xfrm>
            <a:off x="6096000" y="611452"/>
            <a:ext cx="5986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가톨릭 교회 타락 → 루터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칼뱅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헨리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8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 →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아우구스부르크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화의 → 위그노 전쟁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/30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년 전쟁 →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베스트팔렌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조약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4E96C8-1688-4407-BE60-2334B484D8FD}"/>
              </a:ext>
            </a:extLst>
          </p:cNvPr>
          <p:cNvSpPr txBox="1"/>
          <p:nvPr/>
        </p:nvSpPr>
        <p:spPr>
          <a:xfrm>
            <a:off x="10079916" y="5923546"/>
            <a:ext cx="5550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94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093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4" grpId="0"/>
      <p:bldP spid="86" grpId="0"/>
      <p:bldP spid="92" grpId="0"/>
      <p:bldP spid="9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" t="9927" r="869" b="1333"/>
          <a:stretch/>
        </p:blipFill>
        <p:spPr>
          <a:xfrm>
            <a:off x="1066801" y="555776"/>
            <a:ext cx="10304858" cy="6241264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8EF9949-BC53-4FC4-8D34-7DE2C38137AD}"/>
              </a:ext>
            </a:extLst>
          </p:cNvPr>
          <p:cNvSpPr txBox="1"/>
          <p:nvPr/>
        </p:nvSpPr>
        <p:spPr>
          <a:xfrm>
            <a:off x="109056" y="536170"/>
            <a:ext cx="578001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유럽의 </a:t>
            </a:r>
            <a:r>
              <a:rPr lang="ko-KR" altLang="en-US" sz="14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신항로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개척 과정과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이것이 유럽 사회에 미친 영향을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F2FFBF-584C-49EA-B045-BCF4E886AD9D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신항로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개척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더 넓은 세계로 향하다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4E0F42-A4F9-4E8F-9FBC-9403F21FEF15}"/>
              </a:ext>
            </a:extLst>
          </p:cNvPr>
          <p:cNvSpPr txBox="1"/>
          <p:nvPr/>
        </p:nvSpPr>
        <p:spPr>
          <a:xfrm>
            <a:off x="8923190" y="1835686"/>
            <a:ext cx="1377279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사탕수수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밀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포도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올리브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망고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커피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쌀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목화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말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돼지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염소 등</a:t>
            </a:r>
            <a:endParaRPr lang="en-US" altLang="ko-KR" sz="95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15EF25-27B0-4D4F-A0C6-02D344531CA6}"/>
              </a:ext>
            </a:extLst>
          </p:cNvPr>
          <p:cNvSpPr txBox="1"/>
          <p:nvPr/>
        </p:nvSpPr>
        <p:spPr>
          <a:xfrm>
            <a:off x="7010033" y="2615294"/>
            <a:ext cx="1469559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감자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옥수수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카카오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토마토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호박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고추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땅콩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담배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고구마 등</a:t>
            </a:r>
            <a:endParaRPr lang="en-US" altLang="ko-KR" sz="95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619737-D8EF-4164-888D-FE9E45793DE8}"/>
              </a:ext>
            </a:extLst>
          </p:cNvPr>
          <p:cNvSpPr txBox="1"/>
          <p:nvPr/>
        </p:nvSpPr>
        <p:spPr>
          <a:xfrm>
            <a:off x="3634025" y="5498443"/>
            <a:ext cx="2350403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5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왕국의 지원</a:t>
            </a:r>
            <a:r>
              <a:rPr lang="en-US" altLang="ko-KR" sz="95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항해술</a:t>
            </a:r>
            <a:r>
              <a:rPr lang="en-US" altLang="ko-KR" sz="95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천문학</a:t>
            </a:r>
            <a:r>
              <a:rPr lang="en-US" altLang="ko-KR" sz="95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지리학 등</a:t>
            </a:r>
            <a:endParaRPr lang="en-US" altLang="ko-KR" sz="95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EF9517-7143-4CE9-B9E5-A7E7DA86438F}"/>
              </a:ext>
            </a:extLst>
          </p:cNvPr>
          <p:cNvSpPr txBox="1"/>
          <p:nvPr/>
        </p:nvSpPr>
        <p:spPr>
          <a:xfrm>
            <a:off x="6310353" y="3605859"/>
            <a:ext cx="4307968" cy="5309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아메리카에서 들어온 여러 농산물은 유럽의 식탁을 풍부하게 하였다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 유럽의 국가들은 아메리카 대륙을 식민지 삼아 사탕수수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담배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목화를 기르는 대농장을 운영하였다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이것을 유럽에 팔아 큰 수익을 얻어 상업이 크게 발달하였다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.(</a:t>
            </a:r>
            <a:r>
              <a:rPr lang="ko-KR" altLang="en-US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 혁명</a:t>
            </a:r>
            <a:r>
              <a:rPr lang="en-US" altLang="ko-KR" sz="9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926BFC-5932-4E7C-BD7B-8528B70A0721}"/>
              </a:ext>
            </a:extLst>
          </p:cNvPr>
          <p:cNvSpPr txBox="1"/>
          <p:nvPr/>
        </p:nvSpPr>
        <p:spPr>
          <a:xfrm>
            <a:off x="8787953" y="3244589"/>
            <a:ext cx="11324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137~138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F478C1D-27C7-405B-A385-1091D3851F96}"/>
              </a:ext>
            </a:extLst>
          </p:cNvPr>
          <p:cNvSpPr txBox="1"/>
          <p:nvPr/>
        </p:nvSpPr>
        <p:spPr>
          <a:xfrm>
            <a:off x="6105331" y="517292"/>
            <a:ext cx="5053912" cy="246221"/>
          </a:xfrm>
          <a:prstGeom prst="rect">
            <a:avLst/>
          </a:prstGeom>
          <a:solidFill>
            <a:srgbClr val="003300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포르투갈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에스파냐들이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새로운 바닷길을 찾아 대서양과 인도양을 탐험한 시대 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대항해 시대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0A9D29-BBEE-4B8D-8C0E-0C814B53BCEA}"/>
              </a:ext>
            </a:extLst>
          </p:cNvPr>
          <p:cNvSpPr txBox="1"/>
          <p:nvPr/>
        </p:nvSpPr>
        <p:spPr>
          <a:xfrm>
            <a:off x="4471762" y="1313325"/>
            <a:ext cx="13245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circleNumDbPlain"/>
            </a:pPr>
            <a:r>
              <a:rPr lang="ko-KR" altLang="en-US" sz="8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바르톨로뮤디아스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228600" indent="-228600">
              <a:buAutoNum type="circleNumDbPlain"/>
            </a:pP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228600" indent="-228600">
              <a:buAutoNum type="circleNumDbPlain"/>
            </a:pP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228600" indent="-228600">
              <a:buAutoNum type="circleNumDbPlain"/>
            </a:pP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8AEA2A-9E3A-42AD-B2ED-C8E71CF48D45}"/>
              </a:ext>
            </a:extLst>
          </p:cNvPr>
          <p:cNvSpPr txBox="1"/>
          <p:nvPr/>
        </p:nvSpPr>
        <p:spPr>
          <a:xfrm>
            <a:off x="3187073" y="4377168"/>
            <a:ext cx="3614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①</a:t>
            </a:r>
            <a:endParaRPr lang="en-US" altLang="ko-KR" sz="1100" b="1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179067-B191-487C-826A-7C7BC0DADD49}"/>
              </a:ext>
            </a:extLst>
          </p:cNvPr>
          <p:cNvSpPr txBox="1"/>
          <p:nvPr/>
        </p:nvSpPr>
        <p:spPr>
          <a:xfrm>
            <a:off x="2671107" y="3444243"/>
            <a:ext cx="3614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②</a:t>
            </a:r>
            <a:endParaRPr lang="en-US" altLang="ko-KR" sz="1100" b="1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C81796-743B-40EC-A1AA-DDE13B990A66}"/>
              </a:ext>
            </a:extLst>
          </p:cNvPr>
          <p:cNvSpPr txBox="1"/>
          <p:nvPr/>
        </p:nvSpPr>
        <p:spPr>
          <a:xfrm>
            <a:off x="4067917" y="4066775"/>
            <a:ext cx="3614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③</a:t>
            </a:r>
            <a:endParaRPr lang="en-US" altLang="ko-KR" sz="1100" b="1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95D6A9-1DAB-423E-B31A-B67F004AB6A7}"/>
              </a:ext>
            </a:extLst>
          </p:cNvPr>
          <p:cNvSpPr txBox="1"/>
          <p:nvPr/>
        </p:nvSpPr>
        <p:spPr>
          <a:xfrm>
            <a:off x="1945503" y="4620449"/>
            <a:ext cx="3614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④</a:t>
            </a:r>
            <a:endParaRPr lang="en-US" altLang="ko-KR" sz="1100" b="1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6BA976-51A0-4208-B69D-1425C1160DB0}"/>
              </a:ext>
            </a:extLst>
          </p:cNvPr>
          <p:cNvSpPr txBox="1"/>
          <p:nvPr/>
        </p:nvSpPr>
        <p:spPr>
          <a:xfrm>
            <a:off x="1763929" y="1910559"/>
            <a:ext cx="710824" cy="230832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에스파냐</a:t>
            </a:r>
            <a:r>
              <a:rPr lang="en-US" altLang="ko-KR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0F6677-C1FD-44A6-B7FB-A90435BC2848}"/>
              </a:ext>
            </a:extLst>
          </p:cNvPr>
          <p:cNvSpPr txBox="1"/>
          <p:nvPr/>
        </p:nvSpPr>
        <p:spPr>
          <a:xfrm>
            <a:off x="3433338" y="1910559"/>
            <a:ext cx="710824" cy="230832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포르투갈</a:t>
            </a:r>
            <a:r>
              <a:rPr lang="en-US" altLang="ko-KR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DE0202-EA0F-4136-B2F4-CBE0A28351AD}"/>
              </a:ext>
            </a:extLst>
          </p:cNvPr>
          <p:cNvSpPr txBox="1"/>
          <p:nvPr/>
        </p:nvSpPr>
        <p:spPr>
          <a:xfrm>
            <a:off x="4607797" y="2405509"/>
            <a:ext cx="710824" cy="230832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에스파냐</a:t>
            </a:r>
            <a:r>
              <a:rPr lang="en-US" altLang="ko-KR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B8FC4C-324B-4F96-8FE4-8830133E5A4C}"/>
              </a:ext>
            </a:extLst>
          </p:cNvPr>
          <p:cNvSpPr txBox="1"/>
          <p:nvPr/>
        </p:nvSpPr>
        <p:spPr>
          <a:xfrm>
            <a:off x="4676520" y="4457790"/>
            <a:ext cx="3614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④</a:t>
            </a:r>
            <a:endParaRPr lang="en-US" altLang="ko-KR" sz="1100" b="1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B099DA-8B14-40FC-BEE0-5748EF981155}"/>
              </a:ext>
            </a:extLst>
          </p:cNvPr>
          <p:cNvSpPr txBox="1"/>
          <p:nvPr/>
        </p:nvSpPr>
        <p:spPr>
          <a:xfrm>
            <a:off x="5661826" y="3706049"/>
            <a:ext cx="3614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④</a:t>
            </a:r>
            <a:endParaRPr lang="en-US" altLang="ko-KR" sz="1100" b="1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EE38E-FB93-4914-B2EF-6A49A4BC8BBF}"/>
              </a:ext>
            </a:extLst>
          </p:cNvPr>
          <p:cNvSpPr txBox="1"/>
          <p:nvPr/>
        </p:nvSpPr>
        <p:spPr>
          <a:xfrm>
            <a:off x="3367808" y="3956092"/>
            <a:ext cx="3614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④</a:t>
            </a:r>
            <a:endParaRPr lang="en-US" altLang="ko-KR" sz="1100" b="1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CB0767-3222-4C69-92B5-E0F852EAEF0C}"/>
              </a:ext>
            </a:extLst>
          </p:cNvPr>
          <p:cNvSpPr txBox="1"/>
          <p:nvPr/>
        </p:nvSpPr>
        <p:spPr>
          <a:xfrm>
            <a:off x="3905533" y="815933"/>
            <a:ext cx="11324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101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249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1" t="14359" r="1875" b="1282"/>
          <a:stretch/>
        </p:blipFill>
        <p:spPr>
          <a:xfrm>
            <a:off x="474785" y="1028697"/>
            <a:ext cx="4756638" cy="57853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논평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한눈에 보는 유럽의 변화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D81FBF9-8558-421A-B8F3-EDA21673DB14}"/>
              </a:ext>
            </a:extLst>
          </p:cNvPr>
          <p:cNvSpPr txBox="1"/>
          <p:nvPr/>
        </p:nvSpPr>
        <p:spPr>
          <a:xfrm>
            <a:off x="109057" y="536170"/>
            <a:ext cx="531222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오늘 학습한 내용을 마인드맵으로 표현해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8" t="4166" r="1514" b="2436"/>
          <a:stretch/>
        </p:blipFill>
        <p:spPr>
          <a:xfrm rot="5400000">
            <a:off x="6628659" y="448379"/>
            <a:ext cx="4721469" cy="640521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7" t="13462" r="1683" b="1538"/>
          <a:stretch/>
        </p:blipFill>
        <p:spPr>
          <a:xfrm>
            <a:off x="474784" y="854874"/>
            <a:ext cx="4934553" cy="597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026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스스로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7573238C-88B4-4CB0-B2EE-66EBE0FE4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28" t="18349" r="26445" b="32425"/>
          <a:stretch/>
        </p:blipFill>
        <p:spPr>
          <a:xfrm>
            <a:off x="109057" y="1369938"/>
            <a:ext cx="5855515" cy="337601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246B2A8-7F29-43E5-8C09-30028EAA4A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735" t="17248" r="27408" b="15229"/>
          <a:stretch/>
        </p:blipFill>
        <p:spPr>
          <a:xfrm>
            <a:off x="6082018" y="1369938"/>
            <a:ext cx="5712903" cy="463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698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스스로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4A28873E-5085-4E14-A337-76772A5F18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96" t="17737" r="26858" b="34434"/>
          <a:stretch/>
        </p:blipFill>
        <p:spPr>
          <a:xfrm>
            <a:off x="9331" y="1299248"/>
            <a:ext cx="6002002" cy="339621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65760C2-939B-4AC5-84AC-E907F67EF0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871" t="14924" r="26996" b="15841"/>
          <a:stretch/>
        </p:blipFill>
        <p:spPr>
          <a:xfrm>
            <a:off x="6007657" y="1303533"/>
            <a:ext cx="5996347" cy="495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96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1937</TotalTime>
  <Words>924</Words>
  <Application>Microsoft Office PowerPoint</Application>
  <PresentationFormat>와이드스크린</PresentationFormat>
  <Paragraphs>121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THE봉숭아틴트</vt:lpstr>
      <vt:lpstr>나눔스퀘어 Bold</vt:lpstr>
      <vt:lpstr>나눔스퀘어_ac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821098119832</dc:creator>
  <cp:lastModifiedBy>Administrator</cp:lastModifiedBy>
  <cp:revision>95</cp:revision>
  <dcterms:created xsi:type="dcterms:W3CDTF">2021-05-21T01:10:02Z</dcterms:created>
  <dcterms:modified xsi:type="dcterms:W3CDTF">2024-10-31T04:55:21Z</dcterms:modified>
</cp:coreProperties>
</file>