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296" r:id="rId3"/>
    <p:sldId id="274" r:id="rId4"/>
    <p:sldId id="283" r:id="rId5"/>
    <p:sldId id="287" r:id="rId6"/>
    <p:sldId id="288" r:id="rId7"/>
    <p:sldId id="281" r:id="rId8"/>
    <p:sldId id="292" r:id="rId9"/>
    <p:sldId id="297" r:id="rId10"/>
    <p:sldId id="29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2023-11-14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8833" t="32074" r="77083" b="38593"/>
          <a:stretch/>
        </p:blipFill>
        <p:spPr>
          <a:xfrm>
            <a:off x="323628" y="1533781"/>
            <a:ext cx="2575560" cy="3017520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3295494" y="0"/>
            <a:ext cx="8896506" cy="6788970"/>
            <a:chOff x="3946018" y="0"/>
            <a:chExt cx="8245982" cy="6292552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3"/>
            <a:srcRect l="13254" t="11502" r="31003" b="12234"/>
            <a:stretch/>
          </p:blipFill>
          <p:spPr>
            <a:xfrm>
              <a:off x="3946018" y="0"/>
              <a:ext cx="4125394" cy="317484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/>
            <a:srcRect l="13509" t="11298" r="31134" b="13509"/>
            <a:stretch/>
          </p:blipFill>
          <p:spPr>
            <a:xfrm>
              <a:off x="8071412" y="26530"/>
              <a:ext cx="4120588" cy="3148314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5"/>
            <a:srcRect l="13066" t="10831" r="31399" b="13478"/>
            <a:stretch/>
          </p:blipFill>
          <p:spPr>
            <a:xfrm>
              <a:off x="3975975" y="3091485"/>
              <a:ext cx="4125394" cy="311686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6"/>
            <a:srcRect l="14011" t="11589" r="31507" b="12742"/>
            <a:stretch/>
          </p:blipFill>
          <p:spPr>
            <a:xfrm>
              <a:off x="8101369" y="3174844"/>
              <a:ext cx="4090631" cy="3117708"/>
            </a:xfrm>
            <a:prstGeom prst="rect">
              <a:avLst/>
            </a:prstGeom>
          </p:spPr>
        </p:pic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488" y="8724555"/>
            <a:ext cx="18288000" cy="10287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301375" y="10660140"/>
            <a:ext cx="18288000" cy="10287000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346778" y="3425307"/>
            <a:ext cx="2518997" cy="11259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28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rcRect l="31135" t="41319" r="27327" b="11958"/>
          <a:stretch/>
        </p:blipFill>
        <p:spPr>
          <a:xfrm>
            <a:off x="212531" y="957109"/>
            <a:ext cx="6093174" cy="385524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54852" t="36259" r="6969" b="19525"/>
          <a:stretch/>
        </p:blipFill>
        <p:spPr>
          <a:xfrm>
            <a:off x="6182675" y="957109"/>
            <a:ext cx="5917886" cy="385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25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C00A03-B5FA-408D-AF50-B21A2CBB92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96" t="21591" r="22757" b="55793"/>
          <a:stretch/>
        </p:blipFill>
        <p:spPr>
          <a:xfrm>
            <a:off x="595156" y="429476"/>
            <a:ext cx="2572284" cy="15510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7566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 지역과 유럽에서 성장한 각 제국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종교가 당시 사회에 미친 영향을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1CC1026-1DB0-4934-ACA0-DA240B4435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22" t="59240" r="12314" b="4376"/>
          <a:stretch/>
        </p:blipFill>
        <p:spPr>
          <a:xfrm>
            <a:off x="4086677" y="3334849"/>
            <a:ext cx="4268758" cy="30155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A74592-FCA8-4CAF-8BB4-E6CBA0A5AAE1}"/>
              </a:ext>
            </a:extLst>
          </p:cNvPr>
          <p:cNvSpPr txBox="1"/>
          <p:nvPr/>
        </p:nvSpPr>
        <p:spPr>
          <a:xfrm>
            <a:off x="7618147" y="3349195"/>
            <a:ext cx="855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16</a:t>
            </a:r>
            <a:endParaRPr lang="ko-KR" altLang="en-US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CB3AD-2551-4260-8CB8-71A8A6D3220A}"/>
              </a:ext>
            </a:extLst>
          </p:cNvPr>
          <p:cNvSpPr txBox="1"/>
          <p:nvPr/>
        </p:nvSpPr>
        <p:spPr>
          <a:xfrm>
            <a:off x="4095066" y="4218724"/>
            <a:ext cx="2009324" cy="2616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유럽에서의 이슬람교 번영 상징</a:t>
            </a:r>
          </a:p>
        </p:txBody>
      </p:sp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371688" y="1"/>
            <a:ext cx="9960803" cy="6851339"/>
            <a:chOff x="548639" y="-27120"/>
            <a:chExt cx="9730037" cy="669261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3" t="14182" r="50420" b="3100"/>
            <a:stretch/>
          </p:blipFill>
          <p:spPr>
            <a:xfrm>
              <a:off x="548639" y="992711"/>
              <a:ext cx="4876801" cy="5672780"/>
            </a:xfrm>
            <a:prstGeom prst="rect">
              <a:avLst/>
            </a:prstGeom>
          </p:spPr>
        </p:pic>
        <p:pic>
          <p:nvPicPr>
            <p:cNvPr id="54" name="그림 5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527" t="1634" r="975" b="4043"/>
            <a:stretch/>
          </p:blipFill>
          <p:spPr>
            <a:xfrm>
              <a:off x="5398930" y="-27120"/>
              <a:ext cx="4879746" cy="6682452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57749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17A070-6590-4C1A-9E52-969795E75F03}"/>
              </a:ext>
            </a:extLst>
          </p:cNvPr>
          <p:cNvSpPr txBox="1"/>
          <p:nvPr/>
        </p:nvSpPr>
        <p:spPr>
          <a:xfrm>
            <a:off x="-1178" y="3836592"/>
            <a:ext cx="1640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아시리아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EE099-27A8-4B79-B8D2-9726ED984930}"/>
              </a:ext>
            </a:extLst>
          </p:cNvPr>
          <p:cNvSpPr txBox="1"/>
          <p:nvPr/>
        </p:nvSpPr>
        <p:spPr>
          <a:xfrm>
            <a:off x="1546591" y="3527721"/>
            <a:ext cx="1689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이슬람제국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서아시아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1CAC95-0840-4CF3-A7E4-669B6B5D11C7}"/>
              </a:ext>
            </a:extLst>
          </p:cNvPr>
          <p:cNvSpPr txBox="1"/>
          <p:nvPr/>
        </p:nvSpPr>
        <p:spPr>
          <a:xfrm>
            <a:off x="1564153" y="1501019"/>
            <a:ext cx="1480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서유럽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16D62-697E-4A2E-BD85-DDFB457E05CB}"/>
              </a:ext>
            </a:extLst>
          </p:cNvPr>
          <p:cNvSpPr txBox="1"/>
          <p:nvPr/>
        </p:nvSpPr>
        <p:spPr>
          <a:xfrm>
            <a:off x="1538025" y="5323205"/>
            <a:ext cx="18239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r>
              <a:rPr lang="ko-KR" altLang="en-US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제국</a:t>
            </a:r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동로마</a:t>
            </a:r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2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ECEB96-E0F4-4F77-A680-EE1B0C5674F7}"/>
              </a:ext>
            </a:extLst>
          </p:cNvPr>
          <p:cNvSpPr txBox="1"/>
          <p:nvPr/>
        </p:nvSpPr>
        <p:spPr>
          <a:xfrm>
            <a:off x="4478544" y="4505841"/>
            <a:ext cx="806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바그다드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0FB93F0-6E57-4A52-9A1C-1988CA17FF84}"/>
              </a:ext>
            </a:extLst>
          </p:cNvPr>
          <p:cNvSpPr/>
          <p:nvPr/>
        </p:nvSpPr>
        <p:spPr>
          <a:xfrm>
            <a:off x="5369339" y="4376597"/>
            <a:ext cx="592118" cy="4249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23602D-86EE-4439-BB81-7A05BA260B03}"/>
              </a:ext>
            </a:extLst>
          </p:cNvPr>
          <p:cNvSpPr txBox="1"/>
          <p:nvPr/>
        </p:nvSpPr>
        <p:spPr>
          <a:xfrm>
            <a:off x="6500793" y="5959941"/>
            <a:ext cx="2669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셀주크튀르크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비잔티움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예루살렘</a:t>
            </a:r>
            <a:r>
              <a:rPr lang="en-US" altLang="ko-KR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성지 장악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33E336-29FE-4F88-A854-A011CDD25299}"/>
              </a:ext>
            </a:extLst>
          </p:cNvPr>
          <p:cNvSpPr txBox="1"/>
          <p:nvPr/>
        </p:nvSpPr>
        <p:spPr>
          <a:xfrm>
            <a:off x="6260325" y="5913697"/>
            <a:ext cx="45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582F4D7-E7CA-4087-A31F-5DEC49C28186}"/>
              </a:ext>
            </a:extLst>
          </p:cNvPr>
          <p:cNvCxnSpPr>
            <a:cxnSpLocks/>
          </p:cNvCxnSpPr>
          <p:nvPr/>
        </p:nvCxnSpPr>
        <p:spPr>
          <a:xfrm>
            <a:off x="1636795" y="2786298"/>
            <a:ext cx="603066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CCDB92F-FFC9-4802-BCD1-3F566764F394}"/>
              </a:ext>
            </a:extLst>
          </p:cNvPr>
          <p:cNvSpPr txBox="1"/>
          <p:nvPr/>
        </p:nvSpPr>
        <p:spPr>
          <a:xfrm>
            <a:off x="1584343" y="2825615"/>
            <a:ext cx="9812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4C,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시작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3EB4B3-0857-4AC4-93A5-A74DCCC0BB52}"/>
              </a:ext>
            </a:extLst>
          </p:cNvPr>
          <p:cNvSpPr txBox="1"/>
          <p:nvPr/>
        </p:nvSpPr>
        <p:spPr>
          <a:xfrm>
            <a:off x="15599" y="1655454"/>
            <a:ext cx="2232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에게 문명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알렉산드로스 제국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제국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FC9D67C-8770-43B4-9AD7-927EE628F131}"/>
              </a:ext>
            </a:extLst>
          </p:cNvPr>
          <p:cNvCxnSpPr>
            <a:cxnSpLocks/>
          </p:cNvCxnSpPr>
          <p:nvPr/>
        </p:nvCxnSpPr>
        <p:spPr>
          <a:xfrm>
            <a:off x="3024605" y="2443154"/>
            <a:ext cx="603066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F6ECD4C-5A63-4CE0-A88E-530459A01AD3}"/>
              </a:ext>
            </a:extLst>
          </p:cNvPr>
          <p:cNvCxnSpPr>
            <a:cxnSpLocks/>
          </p:cNvCxnSpPr>
          <p:nvPr/>
        </p:nvCxnSpPr>
        <p:spPr>
          <a:xfrm flipV="1">
            <a:off x="3993160" y="2142706"/>
            <a:ext cx="333282" cy="2978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BA2B3AE-3BC6-44CE-BB2A-A3EB70C4238C}"/>
              </a:ext>
            </a:extLst>
          </p:cNvPr>
          <p:cNvSpPr txBox="1"/>
          <p:nvPr/>
        </p:nvSpPr>
        <p:spPr>
          <a:xfrm>
            <a:off x="4288322" y="2014957"/>
            <a:ext cx="6752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전성기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C4F2B4-0A87-4082-AEFF-23920C36ED24}"/>
              </a:ext>
            </a:extLst>
          </p:cNvPr>
          <p:cNvSpPr txBox="1"/>
          <p:nvPr/>
        </p:nvSpPr>
        <p:spPr>
          <a:xfrm>
            <a:off x="5193433" y="1838731"/>
            <a:ext cx="12331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베르됭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메르센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조약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EC8AF4-D2D2-41B3-9250-3B609E12BB80}"/>
              </a:ext>
            </a:extLst>
          </p:cNvPr>
          <p:cNvSpPr/>
          <p:nvPr/>
        </p:nvSpPr>
        <p:spPr>
          <a:xfrm>
            <a:off x="5272851" y="2821747"/>
            <a:ext cx="591985" cy="2192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3BC0D64-40F1-455B-8AA2-9A1A1ECBED52}"/>
              </a:ext>
            </a:extLst>
          </p:cNvPr>
          <p:cNvSpPr/>
          <p:nvPr/>
        </p:nvSpPr>
        <p:spPr>
          <a:xfrm>
            <a:off x="3656625" y="2441794"/>
            <a:ext cx="603066" cy="225669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99B6AD3-C81C-4069-8102-B2356D7C4B50}"/>
              </a:ext>
            </a:extLst>
          </p:cNvPr>
          <p:cNvSpPr txBox="1"/>
          <p:nvPr/>
        </p:nvSpPr>
        <p:spPr>
          <a:xfrm>
            <a:off x="6308499" y="3170034"/>
            <a:ext cx="11849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신성로마제국 황제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</a:t>
            </a:r>
          </a:p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하인리히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5F2BA2-A80F-404E-957C-F76C26CE239D}"/>
              </a:ext>
            </a:extLst>
          </p:cNvPr>
          <p:cNvSpPr txBox="1"/>
          <p:nvPr/>
        </p:nvSpPr>
        <p:spPr>
          <a:xfrm>
            <a:off x="8186928" y="2808052"/>
            <a:ext cx="1358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★ 십자군 전쟁의 결과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1A4AD2-8FAB-40A6-9D3C-37947A4D45D8}"/>
              </a:ext>
            </a:extLst>
          </p:cNvPr>
          <p:cNvSpPr txBox="1"/>
          <p:nvPr/>
        </p:nvSpPr>
        <p:spPr>
          <a:xfrm>
            <a:off x="1416562" y="6142306"/>
            <a:ext cx="16406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교황주의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DC169E-F08E-485D-B681-D18BB4ADCE0E}"/>
              </a:ext>
            </a:extLst>
          </p:cNvPr>
          <p:cNvSpPr txBox="1"/>
          <p:nvPr/>
        </p:nvSpPr>
        <p:spPr>
          <a:xfrm>
            <a:off x="6529776" y="2634077"/>
            <a:ext cx="11849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교황권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197E583-0A0E-4345-886C-8CCE77C6C59A}"/>
              </a:ext>
            </a:extLst>
          </p:cNvPr>
          <p:cNvSpPr/>
          <p:nvPr/>
        </p:nvSpPr>
        <p:spPr>
          <a:xfrm>
            <a:off x="4186491" y="5846670"/>
            <a:ext cx="591985" cy="2192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CF84A22-BA5A-44F2-949A-1F6E719D31FC}"/>
              </a:ext>
            </a:extLst>
          </p:cNvPr>
          <p:cNvCxnSpPr>
            <a:cxnSpLocks/>
          </p:cNvCxnSpPr>
          <p:nvPr/>
        </p:nvCxnSpPr>
        <p:spPr>
          <a:xfrm>
            <a:off x="4770087" y="5970874"/>
            <a:ext cx="574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2B0B80E-CB3D-4072-A8CB-757B123A5286}"/>
              </a:ext>
            </a:extLst>
          </p:cNvPr>
          <p:cNvSpPr/>
          <p:nvPr/>
        </p:nvSpPr>
        <p:spPr>
          <a:xfrm>
            <a:off x="5369339" y="5846670"/>
            <a:ext cx="728901" cy="21923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F50ED6-8529-4560-9A51-78177696B31B}"/>
              </a:ext>
            </a:extLst>
          </p:cNvPr>
          <p:cNvSpPr txBox="1"/>
          <p:nvPr/>
        </p:nvSpPr>
        <p:spPr>
          <a:xfrm>
            <a:off x="7424354" y="5111718"/>
            <a:ext cx="45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E42CCB-0931-423B-B880-E094B037E446}"/>
              </a:ext>
            </a:extLst>
          </p:cNvPr>
          <p:cNvSpPr txBox="1"/>
          <p:nvPr/>
        </p:nvSpPr>
        <p:spPr>
          <a:xfrm>
            <a:off x="7693467" y="5168196"/>
            <a:ext cx="2090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황제 로마 교황 도움 요청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B2E9E1-915C-43C3-83B7-2D48A333A404}"/>
              </a:ext>
            </a:extLst>
          </p:cNvPr>
          <p:cNvSpPr txBox="1"/>
          <p:nvPr/>
        </p:nvSpPr>
        <p:spPr>
          <a:xfrm>
            <a:off x="6125598" y="3720256"/>
            <a:ext cx="454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EFEB0B-37B4-471B-8C37-EFE8B3C9AEB8}"/>
              </a:ext>
            </a:extLst>
          </p:cNvPr>
          <p:cNvSpPr txBox="1"/>
          <p:nvPr/>
        </p:nvSpPr>
        <p:spPr>
          <a:xfrm>
            <a:off x="6352766" y="3751567"/>
            <a:ext cx="1299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교황 </a:t>
            </a:r>
            <a:endParaRPr lang="en-US" altLang="ko-KR" sz="10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예루살렘으로 십자군</a:t>
            </a: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537BABF0-9123-4EBD-8A3C-9F122F336025}"/>
              </a:ext>
            </a:extLst>
          </p:cNvPr>
          <p:cNvCxnSpPr/>
          <p:nvPr/>
        </p:nvCxnSpPr>
        <p:spPr>
          <a:xfrm flipV="1">
            <a:off x="8107600" y="5422200"/>
            <a:ext cx="0" cy="394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7FC28CAE-A388-4B5E-9EEF-F8FD17B4945E}"/>
              </a:ext>
            </a:extLst>
          </p:cNvPr>
          <p:cNvCxnSpPr>
            <a:cxnSpLocks/>
          </p:cNvCxnSpPr>
          <p:nvPr/>
        </p:nvCxnSpPr>
        <p:spPr>
          <a:xfrm flipH="1" flipV="1">
            <a:off x="7040543" y="4151678"/>
            <a:ext cx="1053446" cy="960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9318187-E66D-4DBF-9A0E-657F8ADA6958}"/>
              </a:ext>
            </a:extLst>
          </p:cNvPr>
          <p:cNvCxnSpPr/>
          <p:nvPr/>
        </p:nvCxnSpPr>
        <p:spPr>
          <a:xfrm>
            <a:off x="7197754" y="3831851"/>
            <a:ext cx="604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D023356-904B-4754-BAED-88D446AB507F}"/>
              </a:ext>
            </a:extLst>
          </p:cNvPr>
          <p:cNvSpPr txBox="1"/>
          <p:nvPr/>
        </p:nvSpPr>
        <p:spPr>
          <a:xfrm>
            <a:off x="7993531" y="590052"/>
            <a:ext cx="8484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훈족의 침입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DB34267-BBA7-46A6-84BC-27DCEE6337CE}"/>
              </a:ext>
            </a:extLst>
          </p:cNvPr>
          <p:cNvSpPr txBox="1"/>
          <p:nvPr/>
        </p:nvSpPr>
        <p:spPr>
          <a:xfrm>
            <a:off x="6500793" y="609248"/>
            <a:ext cx="848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게르만족의 이동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3A490C2F-8BBE-4263-BA26-64D26B3BBAEC}"/>
              </a:ext>
            </a:extLst>
          </p:cNvPr>
          <p:cNvCxnSpPr/>
          <p:nvPr/>
        </p:nvCxnSpPr>
        <p:spPr>
          <a:xfrm flipH="1">
            <a:off x="7553449" y="705379"/>
            <a:ext cx="4400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BA08970-D497-4097-8E25-C4233FB7A29B}"/>
              </a:ext>
            </a:extLst>
          </p:cNvPr>
          <p:cNvSpPr txBox="1"/>
          <p:nvPr/>
        </p:nvSpPr>
        <p:spPr>
          <a:xfrm>
            <a:off x="8858394" y="182559"/>
            <a:ext cx="224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</a:t>
            </a:r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</a:t>
            </a:r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</a:t>
            </a:r>
            <a:r>
              <a:rPr lang="en-US" altLang="ko-KR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4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42D3CC-677B-4415-885C-7685B6D58D1D}"/>
              </a:ext>
            </a:extLst>
          </p:cNvPr>
          <p:cNvSpPr txBox="1"/>
          <p:nvPr/>
        </p:nvSpPr>
        <p:spPr>
          <a:xfrm>
            <a:off x="421748" y="5371777"/>
            <a:ext cx="108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*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서로마 멸망 후 </a:t>
            </a:r>
            <a:endParaRPr lang="en-US" altLang="ko-KR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1000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 년 유지</a:t>
            </a: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" t="13291" r="1172" b="4635"/>
          <a:stretch/>
        </p:blipFill>
        <p:spPr>
          <a:xfrm>
            <a:off x="956946" y="772176"/>
            <a:ext cx="10559032" cy="60368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0E597DE-D69C-43D8-9EBF-A0BDFDAE83F8}"/>
              </a:ext>
            </a:extLst>
          </p:cNvPr>
          <p:cNvSpPr txBox="1"/>
          <p:nvPr/>
        </p:nvSpPr>
        <p:spPr>
          <a:xfrm>
            <a:off x="1438423" y="3971266"/>
            <a:ext cx="4183337" cy="246221"/>
          </a:xfrm>
          <a:prstGeom prst="rect">
            <a:avLst/>
          </a:prstGeom>
          <a:noFill/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놀라운 확장 능력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제국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53868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이슬람교의 특징과 이슬람 제국의 확대 과정을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4A111-BEF9-451D-BC8C-9205727E98A6}"/>
              </a:ext>
            </a:extLst>
          </p:cNvPr>
          <p:cNvSpPr txBox="1"/>
          <p:nvPr/>
        </p:nvSpPr>
        <p:spPr>
          <a:xfrm>
            <a:off x="148043" y="1019960"/>
            <a:ext cx="855678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아시리아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D561A-9DF8-4F11-931A-295BC78A2259}"/>
              </a:ext>
            </a:extLst>
          </p:cNvPr>
          <p:cNvSpPr txBox="1"/>
          <p:nvPr/>
        </p:nvSpPr>
        <p:spPr>
          <a:xfrm>
            <a:off x="148043" y="1436292"/>
            <a:ext cx="855673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 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A54D7A2-4246-4D48-9F47-D10A5BCB8387}"/>
              </a:ext>
            </a:extLst>
          </p:cNvPr>
          <p:cNvCxnSpPr>
            <a:cxnSpLocks/>
          </p:cNvCxnSpPr>
          <p:nvPr/>
        </p:nvCxnSpPr>
        <p:spPr>
          <a:xfrm>
            <a:off x="511728" y="1716069"/>
            <a:ext cx="0" cy="149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616CF6-B45A-463D-A62A-64EB0E4DEFCF}"/>
              </a:ext>
            </a:extLst>
          </p:cNvPr>
          <p:cNvSpPr txBox="1"/>
          <p:nvPr/>
        </p:nvSpPr>
        <p:spPr>
          <a:xfrm>
            <a:off x="468595" y="1709043"/>
            <a:ext cx="1208959" cy="58477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아케메네스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페르시아</a:t>
            </a:r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다리우스 </a:t>
            </a:r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사산왕조 페르시아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A13EA5-17DB-4BAB-A26C-4948B29CBEC9}"/>
              </a:ext>
            </a:extLst>
          </p:cNvPr>
          <p:cNvSpPr txBox="1"/>
          <p:nvPr/>
        </p:nvSpPr>
        <p:spPr>
          <a:xfrm>
            <a:off x="2179378" y="2562443"/>
            <a:ext cx="3005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종교와 일상의 분리 없이 밀착되어 있으며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교리는 일상생활에서 지켜야 할 규율이다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18F475-E91B-40C1-BB81-BFE73CCF08C3}"/>
              </a:ext>
            </a:extLst>
          </p:cNvPr>
          <p:cNvSpPr txBox="1"/>
          <p:nvPr/>
        </p:nvSpPr>
        <p:spPr>
          <a:xfrm>
            <a:off x="148044" y="3274980"/>
            <a:ext cx="855672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제국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5B20E4-F185-4453-A2E4-04286E4D021A}"/>
              </a:ext>
            </a:extLst>
          </p:cNvPr>
          <p:cNvSpPr txBox="1"/>
          <p:nvPr/>
        </p:nvSpPr>
        <p:spPr>
          <a:xfrm>
            <a:off x="4318000" y="3219665"/>
            <a:ext cx="571390" cy="252934"/>
          </a:xfrm>
          <a:prstGeom prst="rect">
            <a:avLst/>
          </a:prstGeom>
          <a:noFill/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B3C3B36-BBE5-41D8-9581-7FD77ED6C97A}"/>
              </a:ext>
            </a:extLst>
          </p:cNvPr>
          <p:cNvCxnSpPr/>
          <p:nvPr/>
        </p:nvCxnSpPr>
        <p:spPr>
          <a:xfrm>
            <a:off x="2357306" y="4085438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FFC3077-AADD-47AF-A811-248CC5197AFF}"/>
              </a:ext>
            </a:extLst>
          </p:cNvPr>
          <p:cNvCxnSpPr/>
          <p:nvPr/>
        </p:nvCxnSpPr>
        <p:spPr>
          <a:xfrm>
            <a:off x="3439486" y="4085438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7EF0E85-72D4-4471-B4D6-8A4AE42F78C3}"/>
              </a:ext>
            </a:extLst>
          </p:cNvPr>
          <p:cNvCxnSpPr/>
          <p:nvPr/>
        </p:nvCxnSpPr>
        <p:spPr>
          <a:xfrm>
            <a:off x="4496499" y="4085438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E9F2955-5DCA-4326-8192-AED4E1042E24}"/>
              </a:ext>
            </a:extLst>
          </p:cNvPr>
          <p:cNvCxnSpPr>
            <a:cxnSpLocks/>
          </p:cNvCxnSpPr>
          <p:nvPr/>
        </p:nvCxnSpPr>
        <p:spPr>
          <a:xfrm>
            <a:off x="5679347" y="4085438"/>
            <a:ext cx="964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A621B21-F042-4A6A-A8DC-523D68C917A2}"/>
              </a:ext>
            </a:extLst>
          </p:cNvPr>
          <p:cNvSpPr txBox="1"/>
          <p:nvPr/>
        </p:nvSpPr>
        <p:spPr>
          <a:xfrm>
            <a:off x="9087377" y="4105489"/>
            <a:ext cx="442518" cy="246221"/>
          </a:xfrm>
          <a:prstGeom prst="rect">
            <a:avLst/>
          </a:prstGeom>
          <a:noFill/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C1E5552-1CAE-43E7-9928-576EC008FD15}"/>
              </a:ext>
            </a:extLst>
          </p:cNvPr>
          <p:cNvCxnSpPr>
            <a:cxnSpLocks/>
          </p:cNvCxnSpPr>
          <p:nvPr/>
        </p:nvCxnSpPr>
        <p:spPr>
          <a:xfrm>
            <a:off x="5991095" y="6203094"/>
            <a:ext cx="511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CB9F636-B1C0-4F7C-ABFC-2312A45228F5}"/>
              </a:ext>
            </a:extLst>
          </p:cNvPr>
          <p:cNvSpPr txBox="1"/>
          <p:nvPr/>
        </p:nvSpPr>
        <p:spPr>
          <a:xfrm>
            <a:off x="1518407" y="3707490"/>
            <a:ext cx="4019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관용 정책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          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아랍인 우월주의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    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민족 차별 폐지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94C0CE-FF0A-45C4-B152-B6593FA39EFE}"/>
              </a:ext>
            </a:extLst>
          </p:cNvPr>
          <p:cNvSpPr txBox="1"/>
          <p:nvPr/>
        </p:nvSpPr>
        <p:spPr>
          <a:xfrm>
            <a:off x="3630431" y="4892556"/>
            <a:ext cx="995233" cy="369332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동서무역 활발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비단길 장악 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3350D50-F710-4723-88F7-05036508B41C}"/>
              </a:ext>
            </a:extLst>
          </p:cNvPr>
          <p:cNvCxnSpPr>
            <a:cxnSpLocks/>
          </p:cNvCxnSpPr>
          <p:nvPr/>
        </p:nvCxnSpPr>
        <p:spPr>
          <a:xfrm flipH="1">
            <a:off x="6128158" y="5201647"/>
            <a:ext cx="541091" cy="839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578E6AE-7518-458A-983E-38406FFD4E0A}"/>
              </a:ext>
            </a:extLst>
          </p:cNvPr>
          <p:cNvCxnSpPr/>
          <p:nvPr/>
        </p:nvCxnSpPr>
        <p:spPr>
          <a:xfrm>
            <a:off x="1044140" y="4094376"/>
            <a:ext cx="369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8926D04-FBF3-4A5E-B7AC-52850E51C281}"/>
              </a:ext>
            </a:extLst>
          </p:cNvPr>
          <p:cNvSpPr txBox="1"/>
          <p:nvPr/>
        </p:nvSpPr>
        <p:spPr>
          <a:xfrm>
            <a:off x="577641" y="4000420"/>
            <a:ext cx="556668" cy="2154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무함마드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277BDED-6F54-4153-8999-CD6E34FD21ED}"/>
              </a:ext>
            </a:extLst>
          </p:cNvPr>
          <p:cNvSpPr/>
          <p:nvPr/>
        </p:nvSpPr>
        <p:spPr>
          <a:xfrm>
            <a:off x="6246959" y="574893"/>
            <a:ext cx="5890512" cy="253744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D43765-278C-4BD4-8B46-6E06C9C76C6C}"/>
              </a:ext>
            </a:extLst>
          </p:cNvPr>
          <p:cNvSpPr txBox="1"/>
          <p:nvPr/>
        </p:nvSpPr>
        <p:spPr>
          <a:xfrm>
            <a:off x="6398703" y="582176"/>
            <a:ext cx="2121352" cy="246221"/>
          </a:xfrm>
          <a:prstGeom prst="rect">
            <a:avLst/>
          </a:prstGeom>
          <a:solidFill>
            <a:srgbClr val="003300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대표 건축물 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사원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모스크</a:t>
            </a:r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048BA0-A25C-4B7F-A036-4957A74398FC}"/>
              </a:ext>
            </a:extLst>
          </p:cNvPr>
          <p:cNvSpPr txBox="1"/>
          <p:nvPr/>
        </p:nvSpPr>
        <p:spPr>
          <a:xfrm>
            <a:off x="6481097" y="2413695"/>
            <a:ext cx="14596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예배당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집회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교육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재판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" t="10074" r="502" b="1927"/>
          <a:stretch/>
        </p:blipFill>
        <p:spPr>
          <a:xfrm>
            <a:off x="1013423" y="567500"/>
            <a:ext cx="10172856" cy="626184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023295" y="851314"/>
            <a:ext cx="201659" cy="4318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중심 사회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서유럽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76176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중세 서유럽이 형성되는 과정과 종교와 통치 방식이 당시 사회에 끼친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F5FE19-A096-47A8-8FDE-1142C75659C4}"/>
              </a:ext>
            </a:extLst>
          </p:cNvPr>
          <p:cNvSpPr txBox="1"/>
          <p:nvPr/>
        </p:nvSpPr>
        <p:spPr>
          <a:xfrm>
            <a:off x="9399691" y="206239"/>
            <a:ext cx="2240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 </a:t>
            </a:r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</a:t>
            </a:r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</a:t>
            </a:r>
            <a:r>
              <a:rPr lang="en-US" altLang="ko-KR" sz="14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4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7A8FFB-765A-451E-A968-AC500316FC1B}"/>
              </a:ext>
            </a:extLst>
          </p:cNvPr>
          <p:cNvSpPr txBox="1"/>
          <p:nvPr/>
        </p:nvSpPr>
        <p:spPr>
          <a:xfrm>
            <a:off x="-69118" y="1861854"/>
            <a:ext cx="1789539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에게 문명</a:t>
            </a:r>
            <a:r>
              <a:rPr lang="en-US" altLang="ko-KR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endParaRPr lang="en-US" altLang="ko-KR" sz="8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그리스 문명</a:t>
            </a:r>
            <a:r>
              <a:rPr lang="en-US" altLang="ko-KR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  <a:endParaRPr lang="en-US" altLang="ko-KR" sz="8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5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알렉산드로스 </a:t>
            </a:r>
            <a:r>
              <a:rPr lang="ko-KR" altLang="en-US" sz="85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</a:t>
            </a:r>
            <a:r>
              <a:rPr lang="en-US" altLang="ko-KR" sz="85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85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5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5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제국</a:t>
            </a:r>
            <a:r>
              <a:rPr lang="en-US" altLang="ko-KR" sz="85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85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endParaRPr lang="ko-KR" altLang="en-US" sz="85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FAE822-6D91-4DAB-83C4-3D294CE2A38A}"/>
              </a:ext>
            </a:extLst>
          </p:cNvPr>
          <p:cNvSpPr/>
          <p:nvPr/>
        </p:nvSpPr>
        <p:spPr>
          <a:xfrm>
            <a:off x="4701248" y="1897683"/>
            <a:ext cx="624363" cy="197753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57BE58C-4425-4C6B-9FBB-6A0409ADE242}"/>
              </a:ext>
            </a:extLst>
          </p:cNvPr>
          <p:cNvSpPr/>
          <p:nvPr/>
        </p:nvSpPr>
        <p:spPr>
          <a:xfrm>
            <a:off x="4157346" y="2290194"/>
            <a:ext cx="1158106" cy="307777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50E81C-2E81-4FD1-856B-7AB2E5043336}"/>
              </a:ext>
            </a:extLst>
          </p:cNvPr>
          <p:cNvSpPr txBox="1"/>
          <p:nvPr/>
        </p:nvSpPr>
        <p:spPr>
          <a:xfrm>
            <a:off x="3805022" y="2577982"/>
            <a:ext cx="2218273" cy="73866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서유럽 대부분 장악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전파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카롤루스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대제 사후 프랑크 왕국 분열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A913494-79A6-489E-89D7-7018B9CEC659}"/>
              </a:ext>
            </a:extLst>
          </p:cNvPr>
          <p:cNvCxnSpPr>
            <a:cxnSpLocks/>
          </p:cNvCxnSpPr>
          <p:nvPr/>
        </p:nvCxnSpPr>
        <p:spPr>
          <a:xfrm>
            <a:off x="4924338" y="2919369"/>
            <a:ext cx="0" cy="154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F152AD7-AF8F-46DA-AEDB-3E443E1620C2}"/>
              </a:ext>
            </a:extLst>
          </p:cNvPr>
          <p:cNvSpPr/>
          <p:nvPr/>
        </p:nvSpPr>
        <p:spPr>
          <a:xfrm>
            <a:off x="3897303" y="3081190"/>
            <a:ext cx="2004405" cy="2042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1DFD762-3DA8-469C-8E84-7FB5546A372C}"/>
              </a:ext>
            </a:extLst>
          </p:cNvPr>
          <p:cNvCxnSpPr>
            <a:cxnSpLocks/>
          </p:cNvCxnSpPr>
          <p:nvPr/>
        </p:nvCxnSpPr>
        <p:spPr>
          <a:xfrm flipH="1">
            <a:off x="5486400" y="3296373"/>
            <a:ext cx="1" cy="276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8DC14B7-E671-4799-86E7-41EFF280F668}"/>
              </a:ext>
            </a:extLst>
          </p:cNvPr>
          <p:cNvSpPr txBox="1"/>
          <p:nvPr/>
        </p:nvSpPr>
        <p:spPr>
          <a:xfrm>
            <a:off x="4677424" y="3528495"/>
            <a:ext cx="19043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 그리스</a:t>
            </a:r>
            <a:r>
              <a:rPr lang="en-US" altLang="ko-KR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]:</a:t>
            </a:r>
            <a:r>
              <a:rPr lang="ko-KR" altLang="en-US" sz="10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자연과 인간 </a:t>
            </a:r>
            <a:r>
              <a:rPr lang="ko-KR" altLang="en-US" sz="1000" dirty="0" smtClean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고민</a:t>
            </a:r>
            <a:endParaRPr lang="en-US" altLang="ko-KR" sz="10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57E8D9-156C-4542-AFBE-9D6F98AA01B9}"/>
              </a:ext>
            </a:extLst>
          </p:cNvPr>
          <p:cNvSpPr txBox="1"/>
          <p:nvPr/>
        </p:nvSpPr>
        <p:spPr>
          <a:xfrm>
            <a:off x="67592" y="3203534"/>
            <a:ext cx="1016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교황의 권위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B027D7-C7D8-45ED-AE2C-1B32DE5130C8}"/>
              </a:ext>
            </a:extLst>
          </p:cNvPr>
          <p:cNvSpPr txBox="1"/>
          <p:nvPr/>
        </p:nvSpPr>
        <p:spPr>
          <a:xfrm>
            <a:off x="480" y="3399104"/>
            <a:ext cx="2826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그레고리우스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성직자 임명권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황제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하인리히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90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거부</a:t>
            </a:r>
            <a:endParaRPr lang="en-US" altLang="ko-KR" sz="900" dirty="0" smtClean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 smtClean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교황이 황제 파문→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41BDD5-1C9F-48B2-8890-51BC5D87059F}"/>
              </a:ext>
            </a:extLst>
          </p:cNvPr>
          <p:cNvSpPr txBox="1"/>
          <p:nvPr/>
        </p:nvSpPr>
        <p:spPr>
          <a:xfrm>
            <a:off x="52352" y="5369278"/>
            <a:ext cx="10169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건축의 특징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7F89E8AC-ACB2-41B4-BA06-B41749405F49}"/>
              </a:ext>
            </a:extLst>
          </p:cNvPr>
          <p:cNvGrpSpPr/>
          <p:nvPr/>
        </p:nvGrpSpPr>
        <p:grpSpPr>
          <a:xfrm>
            <a:off x="5952044" y="1058653"/>
            <a:ext cx="377502" cy="2122022"/>
            <a:chOff x="5901708" y="1136025"/>
            <a:chExt cx="469783" cy="2044649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E0E6DC5C-8F6A-4CCB-B569-149235D82C8A}"/>
                </a:ext>
              </a:extLst>
            </p:cNvPr>
            <p:cNvGrpSpPr/>
            <p:nvPr/>
          </p:nvGrpSpPr>
          <p:grpSpPr>
            <a:xfrm>
              <a:off x="6073630" y="1136025"/>
              <a:ext cx="297861" cy="2044649"/>
              <a:chOff x="6115575" y="1110858"/>
              <a:chExt cx="297861" cy="2418284"/>
            </a:xfrm>
          </p:grpSpPr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A265458C-135E-402F-8734-7C70D149D4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15575" y="1110858"/>
                <a:ext cx="29786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BFB2B91E-AD5F-4130-9390-7B34E3D2EE23}"/>
                  </a:ext>
                </a:extLst>
              </p:cNvPr>
              <p:cNvCxnSpPr/>
              <p:nvPr/>
            </p:nvCxnSpPr>
            <p:spPr>
              <a:xfrm>
                <a:off x="6115575" y="1110858"/>
                <a:ext cx="0" cy="2418284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15697F39-FA8F-48CF-8D61-83D0BC6D3312}"/>
                </a:ext>
              </a:extLst>
            </p:cNvPr>
            <p:cNvCxnSpPr/>
            <p:nvPr/>
          </p:nvCxnSpPr>
          <p:spPr>
            <a:xfrm flipH="1">
              <a:off x="5901708" y="3180674"/>
              <a:ext cx="17192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6608EF7C-C910-4CDA-881C-6F09E3F0ADEC}"/>
              </a:ext>
            </a:extLst>
          </p:cNvPr>
          <p:cNvSpPr txBox="1"/>
          <p:nvPr/>
        </p:nvSpPr>
        <p:spPr>
          <a:xfrm>
            <a:off x="7561813" y="882092"/>
            <a:ext cx="30851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배경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프랑크 왕국의 분열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이민족 침입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노르만족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037AFD-541B-445D-A96C-C878F7A4C70D}"/>
              </a:ext>
            </a:extLst>
          </p:cNvPr>
          <p:cNvSpPr txBox="1"/>
          <p:nvPr/>
        </p:nvSpPr>
        <p:spPr>
          <a:xfrm>
            <a:off x="10335509" y="851313"/>
            <a:ext cx="646083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0105958-FDB2-4D80-8C2C-4A138F60E553}"/>
              </a:ext>
            </a:extLst>
          </p:cNvPr>
          <p:cNvSpPr txBox="1"/>
          <p:nvPr/>
        </p:nvSpPr>
        <p:spPr>
          <a:xfrm>
            <a:off x="9894157" y="1431424"/>
            <a:ext cx="1252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주군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쌍무적 계약 관계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413E3D-683D-445B-81FD-5E198CD6C64C}"/>
              </a:ext>
            </a:extLst>
          </p:cNvPr>
          <p:cNvSpPr txBox="1"/>
          <p:nvPr/>
        </p:nvSpPr>
        <p:spPr>
          <a:xfrm>
            <a:off x="8196044" y="4619053"/>
            <a:ext cx="101695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 err="1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장원제</a:t>
            </a:r>
            <a:r>
              <a:rPr lang="ko-KR" altLang="en-US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성립</a:t>
            </a:r>
            <a:r>
              <a:rPr lang="en-US" altLang="ko-KR" sz="11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1" name="화살표: 아래쪽 70">
            <a:extLst>
              <a:ext uri="{FF2B5EF4-FFF2-40B4-BE49-F238E27FC236}">
                <a16:creationId xmlns:a16="http://schemas.microsoft.com/office/drawing/2014/main" id="{04862163-A5B9-46BF-8DBC-C70AC426087C}"/>
              </a:ext>
            </a:extLst>
          </p:cNvPr>
          <p:cNvSpPr/>
          <p:nvPr/>
        </p:nvSpPr>
        <p:spPr>
          <a:xfrm>
            <a:off x="8559887" y="4404220"/>
            <a:ext cx="189830" cy="246221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DC14B7-E671-4799-86E7-41EFF280F668}"/>
              </a:ext>
            </a:extLst>
          </p:cNvPr>
          <p:cNvSpPr txBox="1"/>
          <p:nvPr/>
        </p:nvSpPr>
        <p:spPr>
          <a:xfrm>
            <a:off x="4677424" y="3783368"/>
            <a:ext cx="1558822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중세</a:t>
            </a:r>
            <a:r>
              <a:rPr lang="en-US" altLang="ko-KR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]: </a:t>
            </a:r>
            <a:r>
              <a:rPr lang="ko-KR" altLang="en-US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크리스트교 신앙</a:t>
            </a: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18B2BF6-2636-4723-8885-496A8B775A8F}"/>
              </a:ext>
            </a:extLst>
          </p:cNvPr>
          <p:cNvGrpSpPr/>
          <p:nvPr/>
        </p:nvGrpSpPr>
        <p:grpSpPr>
          <a:xfrm>
            <a:off x="801196" y="1044011"/>
            <a:ext cx="4991596" cy="2920098"/>
            <a:chOff x="801196" y="1044011"/>
            <a:chExt cx="4991596" cy="292009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D4CC0E0-881C-4F0C-AA4B-9778A279B8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0" t="17963" r="50963" b="46350"/>
            <a:stretch/>
          </p:blipFill>
          <p:spPr>
            <a:xfrm>
              <a:off x="801196" y="1044011"/>
              <a:ext cx="4991596" cy="2849449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21AB725-0EE8-4DDD-90C2-D73944E41B78}"/>
                </a:ext>
              </a:extLst>
            </p:cNvPr>
            <p:cNvSpPr/>
            <p:nvPr/>
          </p:nvSpPr>
          <p:spPr>
            <a:xfrm>
              <a:off x="897622" y="3102734"/>
              <a:ext cx="2540007" cy="861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641BB1C3-3CEB-4494-A45D-16B863A4AE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" t="44423" r="72932" b="51779"/>
          <a:stretch/>
        </p:blipFill>
        <p:spPr>
          <a:xfrm>
            <a:off x="801196" y="4392588"/>
            <a:ext cx="2716301" cy="30327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5773A2E-83BD-47CE-874D-39049CD5BE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" t="53616" r="57484" b="41623"/>
          <a:stretch/>
        </p:blipFill>
        <p:spPr>
          <a:xfrm>
            <a:off x="801196" y="5233969"/>
            <a:ext cx="4316160" cy="3802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비잔티움 제국의 발전 과정과 문화적 특징을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로마의 계승자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제국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826289C6-B702-459A-8381-5E67E86E41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" t="58245" r="50963" b="6240"/>
          <a:stretch/>
        </p:blipFill>
        <p:spPr>
          <a:xfrm>
            <a:off x="6399210" y="1021871"/>
            <a:ext cx="5086717" cy="288972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47290ED-40AC-4174-883E-9F4EEC73AB5D}"/>
              </a:ext>
            </a:extLst>
          </p:cNvPr>
          <p:cNvSpPr txBox="1"/>
          <p:nvPr/>
        </p:nvSpPr>
        <p:spPr>
          <a:xfrm>
            <a:off x="3437629" y="4434435"/>
            <a:ext cx="22249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교황 </a:t>
            </a:r>
            <a:r>
              <a:rPr lang="en-US" altLang="ko-KR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비잔티움 황제 갈등</a:t>
            </a:r>
            <a:r>
              <a:rPr lang="en-US" altLang="ko-KR" sz="11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FF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1DBE489-F0B7-4432-B198-DEB77D8AD229}"/>
              </a:ext>
            </a:extLst>
          </p:cNvPr>
          <p:cNvSpPr/>
          <p:nvPr/>
        </p:nvSpPr>
        <p:spPr>
          <a:xfrm>
            <a:off x="2085280" y="1807860"/>
            <a:ext cx="1127703" cy="307777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5D9FCAA-A713-414C-9CE0-E8E8E26D9CB0}"/>
              </a:ext>
            </a:extLst>
          </p:cNvPr>
          <p:cNvSpPr/>
          <p:nvPr/>
        </p:nvSpPr>
        <p:spPr>
          <a:xfrm>
            <a:off x="1773098" y="1584168"/>
            <a:ext cx="978491" cy="168053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B750BF4-B168-45A7-95E6-D328166C9ABF}"/>
              </a:ext>
            </a:extLst>
          </p:cNvPr>
          <p:cNvSpPr/>
          <p:nvPr/>
        </p:nvSpPr>
        <p:spPr>
          <a:xfrm>
            <a:off x="1457402" y="1394633"/>
            <a:ext cx="627878" cy="1617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6A48F8-212D-4C23-B038-803C6AF99737}"/>
              </a:ext>
            </a:extLst>
          </p:cNvPr>
          <p:cNvSpPr txBox="1"/>
          <p:nvPr/>
        </p:nvSpPr>
        <p:spPr>
          <a:xfrm>
            <a:off x="3255549" y="1869416"/>
            <a:ext cx="11277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&lt;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 교황주의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&gt;</a:t>
            </a:r>
            <a:endParaRPr lang="ko-KR" altLang="en-US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9AC19C-56F0-4427-A5D5-C051929D1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975804"/>
              </p:ext>
            </p:extLst>
          </p:nvPr>
        </p:nvGraphicFramePr>
        <p:xfrm>
          <a:off x="6399210" y="5259561"/>
          <a:ext cx="2939880" cy="1118616"/>
        </p:xfrm>
        <a:graphic>
          <a:graphicData uri="http://schemas.openxmlformats.org/drawingml/2006/table">
            <a:tbl>
              <a:tblPr/>
              <a:tblGrid>
                <a:gridCol w="1469940">
                  <a:extLst>
                    <a:ext uri="{9D8B030D-6E8A-4147-A177-3AD203B41FA5}">
                      <a16:colId xmlns:a16="http://schemas.microsoft.com/office/drawing/2014/main" val="4094567481"/>
                    </a:ext>
                  </a:extLst>
                </a:gridCol>
                <a:gridCol w="1469940">
                  <a:extLst>
                    <a:ext uri="{9D8B030D-6E8A-4147-A177-3AD203B41FA5}">
                      <a16:colId xmlns:a16="http://schemas.microsoft.com/office/drawing/2014/main" val="2823656593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비잔티움 교회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서유럽 교회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152310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황제 교황주의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교황과 황제의 분리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870713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그리스 정교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로마 가톨릭교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56226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성상 숭배 금지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성상 숭배 인정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757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14" t="13836" r="1224" b="6155"/>
          <a:stretch/>
        </p:blipFill>
        <p:spPr>
          <a:xfrm>
            <a:off x="7006394" y="1156888"/>
            <a:ext cx="4745620" cy="548698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4445A94-5D26-41F4-BB5B-FC16866847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36" r="1861" b="1896"/>
          <a:stretch/>
        </p:blipFill>
        <p:spPr>
          <a:xfrm>
            <a:off x="11071" y="2033695"/>
            <a:ext cx="6830681" cy="454378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십자군 전쟁의 배경과 전개 과정을 이해해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 세력의 충돌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십자군 전쟁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98FCAB-8899-4B4A-9653-0A2E99572004}"/>
              </a:ext>
            </a:extLst>
          </p:cNvPr>
          <p:cNvSpPr txBox="1"/>
          <p:nvPr/>
        </p:nvSpPr>
        <p:spPr>
          <a:xfrm>
            <a:off x="6210733" y="4889007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52~53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2E346E-369A-499D-ACDC-247312BFCAED}"/>
              </a:ext>
            </a:extLst>
          </p:cNvPr>
          <p:cNvSpPr txBox="1"/>
          <p:nvPr/>
        </p:nvSpPr>
        <p:spPr>
          <a:xfrm>
            <a:off x="9648175" y="918029"/>
            <a:ext cx="1843781" cy="246221"/>
          </a:xfrm>
          <a:prstGeom prst="rect">
            <a:avLst/>
          </a:prstGeom>
          <a:solidFill>
            <a:srgbClr val="7030A0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#5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 </a:t>
            </a:r>
            <a:r>
              <a:rPr lang="ko-KR" altLang="en-US" sz="10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사탐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세계사 십자군 전쟁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8351D4-4CEC-4EEF-9862-F235B127C8CC}"/>
              </a:ext>
            </a:extLst>
          </p:cNvPr>
          <p:cNvSpPr txBox="1"/>
          <p:nvPr/>
        </p:nvSpPr>
        <p:spPr>
          <a:xfrm>
            <a:off x="6800656" y="4059280"/>
            <a:ext cx="1243425" cy="7540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처음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종교 전쟁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본질적 목적과 달리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세속적으로 변화</a:t>
            </a:r>
            <a:endParaRPr lang="en-US" altLang="ko-KR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2FA07FB-8CD0-4F99-998D-4B30F3053D35}"/>
              </a:ext>
            </a:extLst>
          </p:cNvPr>
          <p:cNvCxnSpPr>
            <a:cxnSpLocks/>
          </p:cNvCxnSpPr>
          <p:nvPr/>
        </p:nvCxnSpPr>
        <p:spPr>
          <a:xfrm>
            <a:off x="7448463" y="4269996"/>
            <a:ext cx="0" cy="154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0DA6483-7599-41D8-94EA-AA1183EEA133}"/>
              </a:ext>
            </a:extLst>
          </p:cNvPr>
          <p:cNvSpPr txBox="1"/>
          <p:nvPr/>
        </p:nvSpPr>
        <p:spPr>
          <a:xfrm>
            <a:off x="4175439" y="1225157"/>
            <a:ext cx="3179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 </a:t>
            </a:r>
            <a:r>
              <a:rPr lang="ko-KR" altLang="en-US" sz="12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셀주크튀르크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비잔티움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예루살렘</a:t>
            </a:r>
            <a:r>
              <a:rPr lang="en-US" altLang="ko-KR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2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성지 장악</a:t>
            </a:r>
            <a:endParaRPr lang="en-US" altLang="ko-KR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 비잔티움 황제 로마 교황 도움 요청</a:t>
            </a:r>
          </a:p>
          <a:p>
            <a:r>
              <a:rPr lang="ko-KR" altLang="en-US" sz="12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 로마 교황 예루살렘으로 십자군 보냄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8B9FCE5-B9A9-45AE-BF21-A34AFF4FE554}"/>
              </a:ext>
            </a:extLst>
          </p:cNvPr>
          <p:cNvCxnSpPr/>
          <p:nvPr/>
        </p:nvCxnSpPr>
        <p:spPr>
          <a:xfrm>
            <a:off x="9190814" y="2207720"/>
            <a:ext cx="2324649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8827BF6A-32FF-43D0-97F1-7FF3C38AFE04}"/>
              </a:ext>
            </a:extLst>
          </p:cNvPr>
          <p:cNvCxnSpPr>
            <a:cxnSpLocks/>
          </p:cNvCxnSpPr>
          <p:nvPr/>
        </p:nvCxnSpPr>
        <p:spPr>
          <a:xfrm>
            <a:off x="8044081" y="2383119"/>
            <a:ext cx="2114026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D62351C-D7E5-43DB-BBD8-2854F261DFB0}"/>
              </a:ext>
            </a:extLst>
          </p:cNvPr>
          <p:cNvCxnSpPr>
            <a:cxnSpLocks/>
          </p:cNvCxnSpPr>
          <p:nvPr/>
        </p:nvCxnSpPr>
        <p:spPr>
          <a:xfrm flipH="1">
            <a:off x="6905175" y="5004423"/>
            <a:ext cx="1029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38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l="24917" t="20815" r="25583" b="12815"/>
          <a:stretch/>
        </p:blipFill>
        <p:spPr>
          <a:xfrm>
            <a:off x="0" y="1302149"/>
            <a:ext cx="5947904" cy="44859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24750" t="33704" r="25917" b="8667"/>
          <a:stretch/>
        </p:blipFill>
        <p:spPr>
          <a:xfrm>
            <a:off x="5947904" y="1607169"/>
            <a:ext cx="6244096" cy="410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9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" t="13462" r="3200" b="1666"/>
          <a:stretch/>
        </p:blipFill>
        <p:spPr>
          <a:xfrm>
            <a:off x="518745" y="866658"/>
            <a:ext cx="4790927" cy="59504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" t="4743" r="1194" b="2051"/>
          <a:stretch/>
        </p:blipFill>
        <p:spPr>
          <a:xfrm>
            <a:off x="5884729" y="555778"/>
            <a:ext cx="4721710" cy="62526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논평 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특종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사건 속으로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</a:t>
            </a:r>
            <a:r>
              <a:rPr lang="ko-KR" altLang="en-US" sz="1400" dirty="0" smtClean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이번 시간에 알게 된 역사적 사건을 기사문으로 표현해 보자</a:t>
            </a:r>
            <a:r>
              <a:rPr lang="en-US" altLang="ko-KR" sz="1400" dirty="0" smtClean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59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556</Words>
  <Application>Microsoft Office PowerPoint</Application>
  <PresentationFormat>와이드스크린</PresentationFormat>
  <Paragraphs>113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LG</cp:lastModifiedBy>
  <cp:revision>94</cp:revision>
  <dcterms:created xsi:type="dcterms:W3CDTF">2021-05-21T01:10:02Z</dcterms:created>
  <dcterms:modified xsi:type="dcterms:W3CDTF">2023-11-14T01:56:12Z</dcterms:modified>
</cp:coreProperties>
</file>