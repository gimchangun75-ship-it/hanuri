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4" r:id="rId2"/>
    <p:sldId id="286" r:id="rId3"/>
    <p:sldId id="283" r:id="rId4"/>
    <p:sldId id="287" r:id="rId5"/>
    <p:sldId id="295" r:id="rId6"/>
    <p:sldId id="281" r:id="rId7"/>
    <p:sldId id="288" r:id="rId8"/>
    <p:sldId id="296" r:id="rId9"/>
    <p:sldId id="285" r:id="rId10"/>
    <p:sldId id="293" r:id="rId11"/>
  </p:sldIdLst>
  <p:sldSz cx="12192000" cy="6858000"/>
  <p:notesSz cx="6858000" cy="994568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00"/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DBF09E-2F48-4E2E-887D-C83A1703FA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B227155-6CC4-4A07-827B-08BD9D3C46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3FC9475-BBB8-4E7C-B71C-BA69F3EAE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A2E3-3A1D-4D3B-9152-FDAA0160F4E2}" type="datetimeFigureOut">
              <a:rPr lang="ko-KR" altLang="en-US" smtClean="0"/>
              <a:t>2024-10-10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C2115D5-E04F-46B4-9026-0897E209E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0D601A8-7A5F-4A85-98F0-640FE50AC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38025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6AA440-2DC7-49F8-ABF3-AC4215559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BA4BD65-C34B-4B31-861B-6B2FEA4386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79968D4-CEA1-4ED5-9831-87855B43E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A2E3-3A1D-4D3B-9152-FDAA0160F4E2}" type="datetimeFigureOut">
              <a:rPr lang="ko-KR" altLang="en-US" smtClean="0"/>
              <a:t>2024-10-10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3421234-7B8F-4404-9C12-CD50653AD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F11D50-9C5A-4226-8BDD-1FD3BB21D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73486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961B46-3C1C-4B65-83CE-29B306DB3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FA3F87C-106D-4D19-8DB6-18A042F69D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53C9D4D-0FED-4442-B439-26F9223BE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A2E3-3A1D-4D3B-9152-FDAA0160F4E2}" type="datetimeFigureOut">
              <a:rPr lang="ko-KR" altLang="en-US" smtClean="0"/>
              <a:t>2024-10-10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23A45C-DBC1-4D4A-88AA-5D80C54CF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CBA1CB-1588-4222-AB69-59FEDF91E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16015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BE135B-E430-499B-AD4A-44B43FD9A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B5863E5-1843-4A4C-9004-0E5780BF1A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9411DA0-B5AC-408A-9B24-910EC5B4F2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4E0DE3B-1C4C-42BE-8C7E-0A03B3BCC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A2E3-3A1D-4D3B-9152-FDAA0160F4E2}" type="datetimeFigureOut">
              <a:rPr lang="ko-KR" altLang="en-US" smtClean="0"/>
              <a:t>2024-10-10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E375DDF-57E6-42DE-B908-F3D9F2156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9E51BDF-7C0C-445E-BBE1-395731FAC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4948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3A237B-E50D-4CDA-B697-5F41D805A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3C193AE-DBA3-43D7-9C42-86D280EDC8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72BD590-9B7A-4B1E-8CD5-CBC55361F8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87791AA-4CA9-4EBD-ADCF-45995414FD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D837961-538C-401B-BA6C-81B6E345ED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72A739A-A9F7-41C3-8E73-C58B39662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A2E3-3A1D-4D3B-9152-FDAA0160F4E2}" type="datetimeFigureOut">
              <a:rPr lang="ko-KR" altLang="en-US" smtClean="0"/>
              <a:t>2024-10-10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2234EBC-BA27-4A3B-BBAD-2A84BE06F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BC7CE16-42DC-46A9-AD74-8AC77F170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96504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A66BFB-6767-4325-90A4-D87B215AE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8661116-7BFA-4449-AA52-93E6DD062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A2E3-3A1D-4D3B-9152-FDAA0160F4E2}" type="datetimeFigureOut">
              <a:rPr lang="ko-KR" altLang="en-US" smtClean="0"/>
              <a:t>2024-10-10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C57FBD7-122F-48CE-82E5-C3CFE3AFF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CCB7F33-CE8D-4098-8F32-5315E3652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60660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AA2BD6F-CF9D-499D-ABDD-DF4A5EB7F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A2E3-3A1D-4D3B-9152-FDAA0160F4E2}" type="datetimeFigureOut">
              <a:rPr lang="ko-KR" altLang="en-US" smtClean="0"/>
              <a:t>2024-10-10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D8FC5D9-2E9D-42A8-B651-C4A2CC6DE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6570DE-7E0C-485D-8328-72AC5FB74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73865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F8748D-3391-40D5-992B-48BCB17B9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097AF4B-B7D5-49D9-8969-0CD238F5E3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BFB7B14-BF99-4106-AE0C-F05D09AE6D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A33C3F4-1B10-4CD7-BD18-68EB58606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A2E3-3A1D-4D3B-9152-FDAA0160F4E2}" type="datetimeFigureOut">
              <a:rPr lang="ko-KR" altLang="en-US" smtClean="0"/>
              <a:t>2024-10-10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4E03EB7-E983-4545-8671-7BE21E20F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F5A0FE2-ED3E-4581-B0D5-88909DA40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4236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462667-DBBB-4A4D-BAE9-F2D59A9E8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15DBF80-FFFA-4CD8-9BDA-A39A273A6D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6F5535C-32B6-41A8-8D53-B84ECB908C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E587FB1-1472-4E7B-94B6-659863E3E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A2E3-3A1D-4D3B-9152-FDAA0160F4E2}" type="datetimeFigureOut">
              <a:rPr lang="ko-KR" altLang="en-US" smtClean="0"/>
              <a:t>2024-10-10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36294D4-590D-493F-8138-53F7CA5A3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347E70A-B0FA-4C12-ADF7-DC10C86C9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69073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3077AA-FE8C-41FE-927E-C363475A8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973F264-7FEE-477D-B6AD-17E4A3B9D3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1F3B7DD-6D54-4392-8080-BC88ECF741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A2E3-3A1D-4D3B-9152-FDAA0160F4E2}" type="datetimeFigureOut">
              <a:rPr lang="ko-KR" altLang="en-US" smtClean="0"/>
              <a:t>2024-10-10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8A3D4E4-9827-46BB-860A-BB275868C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9A6D0B1-EAAE-4ABE-A3A4-65BF6FB02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68913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2D3092B-8A1F-492F-932D-F9A5CE830F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F1AA047-6D64-43A4-AFE0-246807DF9E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17278F-7610-4CDD-B60D-2518C3E27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16A2E3-3A1D-4D3B-9152-FDAA0160F4E2}" type="datetimeFigureOut">
              <a:rPr lang="ko-KR" altLang="en-US" smtClean="0"/>
              <a:t>2024-10-10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585B3C1-A624-4119-9C3A-C5C227D70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86C8147-0120-40A8-806B-9CC651F7D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4435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E46CEAD-EDE2-479A-9F7E-BD61BDB039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8AE9DE0-42FC-4E12-A53D-088334F57A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3AFD70-A355-4236-8E75-E3F63258A9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16A2E3-3A1D-4D3B-9152-FDAA0160F4E2}" type="datetimeFigureOut">
              <a:rPr lang="ko-KR" altLang="en-US" smtClean="0"/>
              <a:t>2024-10-10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F69C325-16F0-4E5B-9146-ADEC5507B9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41DE10C-87C5-42DE-9363-2810FD5360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280DCB-1FFC-42AB-B77C-3C8BC03979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8826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>
            <a:extLst>
              <a:ext uri="{FF2B5EF4-FFF2-40B4-BE49-F238E27FC236}">
                <a16:creationId xmlns:a16="http://schemas.microsoft.com/office/drawing/2014/main" id="{E96E0FD2-90B3-43AB-94EE-DFD43D1806D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70" t="57399" r="10283" b="4988"/>
          <a:stretch/>
        </p:blipFill>
        <p:spPr>
          <a:xfrm>
            <a:off x="3838574" y="3588271"/>
            <a:ext cx="4505325" cy="3231216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3FB414AB-7D20-4C1B-8DA1-2BB34161EBA4}"/>
              </a:ext>
            </a:extLst>
          </p:cNvPr>
          <p:cNvSpPr txBox="1"/>
          <p:nvPr/>
        </p:nvSpPr>
        <p:spPr>
          <a:xfrm>
            <a:off x="9331" y="6528945"/>
            <a:ext cx="12192000" cy="280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dirty="0" err="1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rPr>
              <a:t>한우리</a:t>
            </a:r>
            <a:r>
              <a:rPr lang="ko-KR" altLang="en-US" sz="900" dirty="0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rPr>
              <a:t> 독서토론논술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안락 </a:t>
            </a:r>
            <a:r>
              <a:rPr lang="en-US" altLang="ko-KR" sz="900" dirty="0" err="1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rPr>
              <a:t>sk</a:t>
            </a:r>
            <a:r>
              <a:rPr lang="en-US" altLang="ko-KR" sz="900" dirty="0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rPr>
              <a:t> </a:t>
            </a:r>
            <a:r>
              <a:rPr lang="ko-KR" altLang="en-US" sz="900" dirty="0" err="1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rPr>
              <a:t>논술교습소</a:t>
            </a:r>
            <a:endParaRPr lang="ko-KR" altLang="en-US" sz="900" dirty="0">
              <a:solidFill>
                <a:srgbClr val="003300"/>
              </a:solidFill>
              <a:latin typeface="THE봉숭아틴트" panose="02020603020101020101" pitchFamily="18" charset="-127"/>
              <a:ea typeface="THE봉숭아틴트" panose="02020603020101020101" pitchFamily="18" charset="-127"/>
            </a:endParaRPr>
          </a:p>
        </p:txBody>
      </p: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20186495-8991-42AD-B58A-9CBF1D38BA33}"/>
              </a:ext>
            </a:extLst>
          </p:cNvPr>
          <p:cNvCxnSpPr>
            <a:cxnSpLocks/>
          </p:cNvCxnSpPr>
          <p:nvPr/>
        </p:nvCxnSpPr>
        <p:spPr>
          <a:xfrm>
            <a:off x="0" y="6851340"/>
            <a:ext cx="12192000" cy="0"/>
          </a:xfrm>
          <a:prstGeom prst="line">
            <a:avLst/>
          </a:prstGeom>
          <a:ln w="762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1DA6985-C3BD-4D21-B216-0AD1DA5A3AEB}"/>
              </a:ext>
            </a:extLst>
          </p:cNvPr>
          <p:cNvSpPr txBox="1"/>
          <p:nvPr/>
        </p:nvSpPr>
        <p:spPr>
          <a:xfrm>
            <a:off x="3663101" y="2514302"/>
            <a:ext cx="83235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sz="16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18~19</a:t>
            </a:r>
            <a:r>
              <a:rPr lang="ko-KR" altLang="en-US" sz="16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세기 유럽과 아메리카에서 일어난 혁명의 역사를 파악할 수 있다</a:t>
            </a:r>
            <a:r>
              <a:rPr lang="en-US" altLang="ko-KR" sz="16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  <a:p>
            <a:pPr marL="342900" indent="-342900">
              <a:buAutoNum type="arabicPeriod"/>
            </a:pPr>
            <a:r>
              <a:rPr lang="ko-KR" altLang="en-US" sz="16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나폴레옹이 유럽에 미친 영향을 이해하고 그의 행동을 평가할 수 있다</a:t>
            </a:r>
            <a:r>
              <a:rPr lang="en-US" altLang="ko-KR" sz="16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endParaRPr lang="ko-KR" altLang="en-US" sz="16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6C90F0-D105-427E-8B20-6195FD183CE2}"/>
              </a:ext>
            </a:extLst>
          </p:cNvPr>
          <p:cNvSpPr txBox="1"/>
          <p:nvPr/>
        </p:nvSpPr>
        <p:spPr>
          <a:xfrm>
            <a:off x="11397622" y="263760"/>
            <a:ext cx="58900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000" dirty="0">
                <a:solidFill>
                  <a:srgbClr val="003300"/>
                </a:solidFill>
                <a:latin typeface="나눔스퀘어_ac Bold" panose="020B0600000101010101" pitchFamily="50" charset="-127"/>
                <a:ea typeface="나눔스퀘어_ac Bold" panose="020B0600000101010101" pitchFamily="50" charset="-127"/>
              </a:rPr>
              <a:t>⑨</a:t>
            </a:r>
            <a:endParaRPr lang="en-US" altLang="ko-KR" sz="3000" dirty="0">
              <a:solidFill>
                <a:srgbClr val="003300"/>
              </a:solidFill>
              <a:latin typeface="나눔스퀘어_ac Bold" panose="020B0600000101010101" pitchFamily="50" charset="-127"/>
              <a:ea typeface="나눔스퀘어_ac Bold" panose="020B0600000101010101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D750985-C6A6-487E-A622-5A5C07F7BE52}"/>
              </a:ext>
            </a:extLst>
          </p:cNvPr>
          <p:cNvSpPr/>
          <p:nvPr/>
        </p:nvSpPr>
        <p:spPr>
          <a:xfrm>
            <a:off x="1923243" y="2580038"/>
            <a:ext cx="107604" cy="50917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7030A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7BF407F-2D88-4762-80A7-3DA7561A0052}"/>
              </a:ext>
            </a:extLst>
          </p:cNvPr>
          <p:cNvSpPr txBox="1"/>
          <p:nvPr/>
        </p:nvSpPr>
        <p:spPr>
          <a:xfrm>
            <a:off x="2054932" y="2433586"/>
            <a:ext cx="1783643" cy="467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학습 목표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13B10EE-B068-4F4E-BEF8-717601AE561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683" t="20413" r="25738" b="63074"/>
          <a:stretch/>
        </p:blipFill>
        <p:spPr>
          <a:xfrm>
            <a:off x="1007808" y="860107"/>
            <a:ext cx="2046078" cy="1132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505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6E00938F-2FF2-4468-A6AE-871128E33ED8}"/>
              </a:ext>
            </a:extLst>
          </p:cNvPr>
          <p:cNvSpPr txBox="1"/>
          <p:nvPr/>
        </p:nvSpPr>
        <p:spPr>
          <a:xfrm>
            <a:off x="109057" y="3641"/>
            <a:ext cx="7998543" cy="467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지난주 복습 정리해요 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중국 명</a:t>
            </a:r>
            <a:r>
              <a:rPr lang="en-US" altLang="ko-KR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청 시대의 발전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63EA575-62A7-4F50-8560-66486DD36F2E}"/>
              </a:ext>
            </a:extLst>
          </p:cNvPr>
          <p:cNvGrpSpPr/>
          <p:nvPr/>
        </p:nvGrpSpPr>
        <p:grpSpPr>
          <a:xfrm>
            <a:off x="0" y="1"/>
            <a:ext cx="12201331" cy="6851339"/>
            <a:chOff x="0" y="1"/>
            <a:chExt cx="12201331" cy="6851339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01313867-FA00-4F30-8C60-5E9F0D8D6998}"/>
                </a:ext>
              </a:extLst>
            </p:cNvPr>
            <p:cNvSpPr/>
            <p:nvPr/>
          </p:nvSpPr>
          <p:spPr>
            <a:xfrm>
              <a:off x="0" y="1"/>
              <a:ext cx="109057" cy="509173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7030A0"/>
                </a:solidFill>
              </a:endParaRPr>
            </a:p>
          </p:txBody>
        </p: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C72691C7-BB97-4D31-940D-448688A6C154}"/>
                </a:ext>
              </a:extLst>
            </p:cNvPr>
            <p:cNvCxnSpPr>
              <a:cxnSpLocks/>
            </p:cNvCxnSpPr>
            <p:nvPr/>
          </p:nvCxnSpPr>
          <p:spPr>
            <a:xfrm>
              <a:off x="2279" y="513458"/>
              <a:ext cx="12192000" cy="0"/>
            </a:xfrm>
            <a:prstGeom prst="line">
              <a:avLst/>
            </a:prstGeom>
            <a:ln w="9525" cmpd="sng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C593A63-C37D-40EB-BA52-94A232F1D9B8}"/>
                </a:ext>
              </a:extLst>
            </p:cNvPr>
            <p:cNvSpPr txBox="1"/>
            <p:nvPr/>
          </p:nvSpPr>
          <p:spPr>
            <a:xfrm>
              <a:off x="9331" y="6528945"/>
              <a:ext cx="12192000" cy="280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한우리</a:t>
              </a:r>
              <a:r>
                <a:rPr lang="ko-KR" altLang="en-US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독서토론논술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안락 </a:t>
              </a:r>
              <a:r>
                <a:rPr lang="en-US" altLang="ko-KR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sk</a:t>
              </a:r>
              <a:r>
                <a:rPr lang="en-US" altLang="ko-KR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</a:t>
              </a: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논술교습소</a:t>
              </a:r>
              <a:endParaRPr lang="ko-KR" altLang="en-US" sz="900" dirty="0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endParaRP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8A3A3578-3881-4BBB-A1F1-417F84AFCEA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1340"/>
              <a:ext cx="12192000" cy="0"/>
            </a:xfrm>
            <a:prstGeom prst="line">
              <a:avLst/>
            </a:prstGeom>
            <a:ln w="762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pic>
        <p:nvPicPr>
          <p:cNvPr id="10" name="그림 9">
            <a:extLst>
              <a:ext uri="{FF2B5EF4-FFF2-40B4-BE49-F238E27FC236}">
                <a16:creationId xmlns:a16="http://schemas.microsoft.com/office/drawing/2014/main" id="{C6FB9E44-8E5D-44CF-9622-8978D8CF962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656" t="17265" r="31055" b="30765"/>
          <a:stretch/>
        </p:blipFill>
        <p:spPr>
          <a:xfrm>
            <a:off x="0" y="1299383"/>
            <a:ext cx="5960676" cy="4435067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B3ACBFF3-2242-47D5-9B3B-68EACF1BD26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0069" t="42096" r="30573" b="15963"/>
          <a:stretch/>
        </p:blipFill>
        <p:spPr>
          <a:xfrm>
            <a:off x="6095999" y="2085240"/>
            <a:ext cx="6087967" cy="3649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0734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2" t="10898" r="1034" b="2179"/>
          <a:stretch/>
        </p:blipFill>
        <p:spPr>
          <a:xfrm>
            <a:off x="1134207" y="615465"/>
            <a:ext cx="10286054" cy="619355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E00938F-2FF2-4468-A6AE-871128E33ED8}"/>
              </a:ext>
            </a:extLst>
          </p:cNvPr>
          <p:cNvSpPr txBox="1"/>
          <p:nvPr/>
        </p:nvSpPr>
        <p:spPr>
          <a:xfrm>
            <a:off x="109057" y="3641"/>
            <a:ext cx="7998543" cy="467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세계사 브리핑 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 시간 타임라인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63EA575-62A7-4F50-8560-66486DD36F2E}"/>
              </a:ext>
            </a:extLst>
          </p:cNvPr>
          <p:cNvGrpSpPr/>
          <p:nvPr/>
        </p:nvGrpSpPr>
        <p:grpSpPr>
          <a:xfrm>
            <a:off x="0" y="1"/>
            <a:ext cx="12201331" cy="6851339"/>
            <a:chOff x="0" y="1"/>
            <a:chExt cx="12201331" cy="6851339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01313867-FA00-4F30-8C60-5E9F0D8D6998}"/>
                </a:ext>
              </a:extLst>
            </p:cNvPr>
            <p:cNvSpPr/>
            <p:nvPr/>
          </p:nvSpPr>
          <p:spPr>
            <a:xfrm>
              <a:off x="0" y="1"/>
              <a:ext cx="109057" cy="509173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7030A0"/>
                </a:solidFill>
              </a:endParaRPr>
            </a:p>
          </p:txBody>
        </p: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C72691C7-BB97-4D31-940D-448688A6C154}"/>
                </a:ext>
              </a:extLst>
            </p:cNvPr>
            <p:cNvCxnSpPr>
              <a:cxnSpLocks/>
            </p:cNvCxnSpPr>
            <p:nvPr/>
          </p:nvCxnSpPr>
          <p:spPr>
            <a:xfrm>
              <a:off x="2279" y="513458"/>
              <a:ext cx="12192000" cy="0"/>
            </a:xfrm>
            <a:prstGeom prst="line">
              <a:avLst/>
            </a:prstGeom>
            <a:ln w="9525" cmpd="sng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C593A63-C37D-40EB-BA52-94A232F1D9B8}"/>
                </a:ext>
              </a:extLst>
            </p:cNvPr>
            <p:cNvSpPr txBox="1"/>
            <p:nvPr/>
          </p:nvSpPr>
          <p:spPr>
            <a:xfrm>
              <a:off x="9331" y="6528945"/>
              <a:ext cx="12192000" cy="280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한우리</a:t>
              </a:r>
              <a:r>
                <a:rPr lang="ko-KR" altLang="en-US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독서토론논술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안락 </a:t>
              </a:r>
              <a:r>
                <a:rPr lang="en-US" altLang="ko-KR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sk</a:t>
              </a:r>
              <a:r>
                <a:rPr lang="en-US" altLang="ko-KR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</a:t>
              </a: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논술교습소</a:t>
              </a:r>
              <a:endParaRPr lang="ko-KR" altLang="en-US" sz="900" dirty="0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endParaRP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8A3A3578-3881-4BBB-A1F1-417F84AFCEA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1340"/>
              <a:ext cx="12192000" cy="0"/>
            </a:xfrm>
            <a:prstGeom prst="line">
              <a:avLst/>
            </a:prstGeom>
            <a:ln w="762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3C753B8C-131E-484F-848D-E0DDAE73C70D}"/>
              </a:ext>
            </a:extLst>
          </p:cNvPr>
          <p:cNvSpPr txBox="1"/>
          <p:nvPr/>
        </p:nvSpPr>
        <p:spPr>
          <a:xfrm>
            <a:off x="109056" y="551491"/>
            <a:ext cx="6354806" cy="53860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▶ 연표와 지도를 보며 이번 시간에 학습할 세계사의 주요 사건 및 용어를 살펴보자</a:t>
            </a:r>
            <a:r>
              <a:rPr lang="en-US" altLang="ko-KR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  <a:p>
            <a:endParaRPr lang="en-US" altLang="ko-KR" sz="15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67CE4BC-B44C-43C5-98B1-4313A5CDF318}"/>
              </a:ext>
            </a:extLst>
          </p:cNvPr>
          <p:cNvSpPr txBox="1"/>
          <p:nvPr/>
        </p:nvSpPr>
        <p:spPr>
          <a:xfrm>
            <a:off x="6177205" y="1193851"/>
            <a:ext cx="3925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①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6DAEAB6-C689-4A65-80A6-923FF10EF43F}"/>
              </a:ext>
            </a:extLst>
          </p:cNvPr>
          <p:cNvSpPr txBox="1"/>
          <p:nvPr/>
        </p:nvSpPr>
        <p:spPr>
          <a:xfrm>
            <a:off x="1134207" y="942862"/>
            <a:ext cx="3925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②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1E351E3-9A3C-4BF2-951F-06B60BA973ED}"/>
              </a:ext>
            </a:extLst>
          </p:cNvPr>
          <p:cNvSpPr txBox="1"/>
          <p:nvPr/>
        </p:nvSpPr>
        <p:spPr>
          <a:xfrm>
            <a:off x="8745798" y="682295"/>
            <a:ext cx="3925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③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F073C81-5DAB-4A8C-8503-681D877CB1F0}"/>
              </a:ext>
            </a:extLst>
          </p:cNvPr>
          <p:cNvSpPr txBox="1"/>
          <p:nvPr/>
        </p:nvSpPr>
        <p:spPr>
          <a:xfrm>
            <a:off x="7254891" y="1912326"/>
            <a:ext cx="85270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8</a:t>
            </a:r>
            <a:endParaRPr lang="ko-KR" altLang="en-US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15EC26C-6E41-41D6-BC3E-6754EA3DEEF4}"/>
              </a:ext>
            </a:extLst>
          </p:cNvPr>
          <p:cNvSpPr txBox="1"/>
          <p:nvPr/>
        </p:nvSpPr>
        <p:spPr>
          <a:xfrm>
            <a:off x="7254891" y="2549889"/>
            <a:ext cx="85270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21</a:t>
            </a:r>
            <a:endParaRPr lang="ko-KR" altLang="en-US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2E638D9-B2EB-42DA-9016-1F5B82F4AC38}"/>
              </a:ext>
            </a:extLst>
          </p:cNvPr>
          <p:cNvSpPr txBox="1"/>
          <p:nvPr/>
        </p:nvSpPr>
        <p:spPr>
          <a:xfrm>
            <a:off x="10324114" y="6225017"/>
            <a:ext cx="85270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77~78</a:t>
            </a:r>
            <a:endParaRPr lang="ko-KR" altLang="en-US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38" name="연결선: 꺾임 37">
            <a:extLst>
              <a:ext uri="{FF2B5EF4-FFF2-40B4-BE49-F238E27FC236}">
                <a16:creationId xmlns:a16="http://schemas.microsoft.com/office/drawing/2014/main" id="{8BE11BF3-D096-4B4E-9AFC-81F5B7C32E07}"/>
              </a:ext>
            </a:extLst>
          </p:cNvPr>
          <p:cNvCxnSpPr>
            <a:cxnSpLocks/>
          </p:cNvCxnSpPr>
          <p:nvPr/>
        </p:nvCxnSpPr>
        <p:spPr>
          <a:xfrm rot="10800000" flipV="1">
            <a:off x="3490547" y="1780428"/>
            <a:ext cx="3911045" cy="9233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BECB56F2-91CD-4C53-AF41-B3BF7B3A6413}"/>
              </a:ext>
            </a:extLst>
          </p:cNvPr>
          <p:cNvSpPr txBox="1"/>
          <p:nvPr/>
        </p:nvSpPr>
        <p:spPr>
          <a:xfrm>
            <a:off x="10641074" y="4938806"/>
            <a:ext cx="107149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FF505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sz="900" dirty="0">
                <a:solidFill>
                  <a:srgbClr val="FF505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사회적 혼란</a:t>
            </a:r>
            <a:endParaRPr lang="en-US" altLang="ko-KR" sz="900" dirty="0">
              <a:solidFill>
                <a:srgbClr val="FF505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614830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4" t="12692" r="48623" b="5128"/>
          <a:stretch/>
        </p:blipFill>
        <p:spPr>
          <a:xfrm>
            <a:off x="1329412" y="877769"/>
            <a:ext cx="5210007" cy="584871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E00938F-2FF2-4468-A6AE-871128E33ED8}"/>
              </a:ext>
            </a:extLst>
          </p:cNvPr>
          <p:cNvSpPr txBox="1"/>
          <p:nvPr/>
        </p:nvSpPr>
        <p:spPr>
          <a:xfrm>
            <a:off x="109057" y="3641"/>
            <a:ext cx="7998543" cy="467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세계사 이슈 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미국이 탄생하다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63EA575-62A7-4F50-8560-66486DD36F2E}"/>
              </a:ext>
            </a:extLst>
          </p:cNvPr>
          <p:cNvGrpSpPr/>
          <p:nvPr/>
        </p:nvGrpSpPr>
        <p:grpSpPr>
          <a:xfrm>
            <a:off x="0" y="1"/>
            <a:ext cx="12201331" cy="6851339"/>
            <a:chOff x="0" y="1"/>
            <a:chExt cx="12201331" cy="6851339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01313867-FA00-4F30-8C60-5E9F0D8D6998}"/>
                </a:ext>
              </a:extLst>
            </p:cNvPr>
            <p:cNvSpPr/>
            <p:nvPr/>
          </p:nvSpPr>
          <p:spPr>
            <a:xfrm>
              <a:off x="0" y="1"/>
              <a:ext cx="109057" cy="509173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7030A0"/>
                </a:solidFill>
              </a:endParaRPr>
            </a:p>
          </p:txBody>
        </p: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C72691C7-BB97-4D31-940D-448688A6C154}"/>
                </a:ext>
              </a:extLst>
            </p:cNvPr>
            <p:cNvCxnSpPr>
              <a:cxnSpLocks/>
            </p:cNvCxnSpPr>
            <p:nvPr/>
          </p:nvCxnSpPr>
          <p:spPr>
            <a:xfrm>
              <a:off x="2279" y="513458"/>
              <a:ext cx="12192000" cy="0"/>
            </a:xfrm>
            <a:prstGeom prst="line">
              <a:avLst/>
            </a:prstGeom>
            <a:ln w="9525" cmpd="sng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C593A63-C37D-40EB-BA52-94A232F1D9B8}"/>
                </a:ext>
              </a:extLst>
            </p:cNvPr>
            <p:cNvSpPr txBox="1"/>
            <p:nvPr/>
          </p:nvSpPr>
          <p:spPr>
            <a:xfrm>
              <a:off x="9331" y="6528945"/>
              <a:ext cx="12192000" cy="280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한우리</a:t>
              </a:r>
              <a:r>
                <a:rPr lang="ko-KR" altLang="en-US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독서토론논술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안락 </a:t>
              </a:r>
              <a:r>
                <a:rPr lang="en-US" altLang="ko-KR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sk</a:t>
              </a:r>
              <a:r>
                <a:rPr lang="en-US" altLang="ko-KR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</a:t>
              </a: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논술교습소</a:t>
              </a:r>
              <a:endParaRPr lang="ko-KR" altLang="en-US" sz="900" dirty="0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endParaRP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8A3A3578-3881-4BBB-A1F1-417F84AFCEA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1340"/>
              <a:ext cx="12192000" cy="0"/>
            </a:xfrm>
            <a:prstGeom prst="line">
              <a:avLst/>
            </a:prstGeom>
            <a:ln w="762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11FB145E-846A-454E-B89C-84C53F27A57D}"/>
              </a:ext>
            </a:extLst>
          </p:cNvPr>
          <p:cNvSpPr txBox="1"/>
          <p:nvPr/>
        </p:nvSpPr>
        <p:spPr>
          <a:xfrm>
            <a:off x="109056" y="551491"/>
            <a:ext cx="6289647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▶ 미국 혁명의 배경과 전개 과정</a:t>
            </a:r>
            <a:r>
              <a:rPr lang="en-US" altLang="ko-KR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결과를 알아보자</a:t>
            </a:r>
            <a:r>
              <a:rPr lang="en-US" altLang="ko-KR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8A0C736-CBE9-4D32-AFCA-9B9BDE7147B9}"/>
              </a:ext>
            </a:extLst>
          </p:cNvPr>
          <p:cNvSpPr txBox="1"/>
          <p:nvPr/>
        </p:nvSpPr>
        <p:spPr>
          <a:xfrm>
            <a:off x="3879332" y="2601940"/>
            <a:ext cx="85270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30~31</a:t>
            </a:r>
            <a:endParaRPr lang="ko-KR" altLang="en-US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4C5AA1D-7801-4245-9CB9-DC0DA27E307D}"/>
              </a:ext>
            </a:extLst>
          </p:cNvPr>
          <p:cNvSpPr txBox="1"/>
          <p:nvPr/>
        </p:nvSpPr>
        <p:spPr>
          <a:xfrm>
            <a:off x="474305" y="3967806"/>
            <a:ext cx="936669" cy="461665"/>
          </a:xfrm>
          <a:prstGeom prst="rect">
            <a:avLst/>
          </a:prstGeom>
          <a:noFill/>
          <a:ln>
            <a:solidFill>
              <a:srgbClr val="0033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토마스 제퍼슨</a:t>
            </a:r>
            <a:endParaRPr lang="en-US" altLang="ko-KR" sz="8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en-US" altLang="ko-KR" sz="8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+</a:t>
            </a:r>
          </a:p>
          <a:p>
            <a:pPr algn="ctr"/>
            <a:r>
              <a:rPr lang="ko-KR" altLang="en-US" sz="8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벤자민 프랭클린</a:t>
            </a:r>
            <a:endParaRPr lang="en-US" altLang="ko-KR" sz="8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960D74D-B3D1-4186-B0A2-7CCF774ACA3C}"/>
              </a:ext>
            </a:extLst>
          </p:cNvPr>
          <p:cNvSpPr txBox="1"/>
          <p:nvPr/>
        </p:nvSpPr>
        <p:spPr>
          <a:xfrm>
            <a:off x="6249670" y="2740003"/>
            <a:ext cx="5250683" cy="101566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1)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영국이 식민지에 과도한 세금을 부과하기 시작했다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  <a:p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그리고 재정 악화를 벗어나기 위해 영국 정부는 동인도 회사에 차 판매 독점권을 인정해 주었는데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</a:p>
          <a:p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+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 때문에 식민지의 차 수입상은 일자리를 잃게 되었다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  <a:p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+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게다가 보스턴 차 사건 이후 영국 정부는 더 강압적인 태도를 취했다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  <a:p>
            <a:endParaRPr lang="en-US" altLang="ko-KR" sz="10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→ 이러한 이유들로 식민지 주민들은 영국에 분노했고 독립을 염원하게 되었다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9FEA1E31-0E3F-497B-BD21-C35ED7B7E5F9}"/>
              </a:ext>
            </a:extLst>
          </p:cNvPr>
          <p:cNvCxnSpPr>
            <a:cxnSpLocks/>
          </p:cNvCxnSpPr>
          <p:nvPr/>
        </p:nvCxnSpPr>
        <p:spPr>
          <a:xfrm>
            <a:off x="1410974" y="4198639"/>
            <a:ext cx="101344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12A23CC9-8931-479F-86B9-F259E2399F86}"/>
              </a:ext>
            </a:extLst>
          </p:cNvPr>
          <p:cNvSpPr txBox="1"/>
          <p:nvPr/>
        </p:nvSpPr>
        <p:spPr>
          <a:xfrm>
            <a:off x="4508740" y="4286646"/>
            <a:ext cx="85270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35</a:t>
            </a:r>
            <a:endParaRPr lang="ko-KR" altLang="en-US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8826490-52A9-41EB-B91C-590AF7A0AA75}"/>
              </a:ext>
            </a:extLst>
          </p:cNvPr>
          <p:cNvSpPr txBox="1"/>
          <p:nvPr/>
        </p:nvSpPr>
        <p:spPr>
          <a:xfrm>
            <a:off x="3849772" y="5529756"/>
            <a:ext cx="85270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43</a:t>
            </a:r>
            <a:endParaRPr lang="ko-KR" altLang="en-US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889BF65-3C7B-44A1-8E24-C223E4FFC64F}"/>
              </a:ext>
            </a:extLst>
          </p:cNvPr>
          <p:cNvSpPr txBox="1"/>
          <p:nvPr/>
        </p:nvSpPr>
        <p:spPr>
          <a:xfrm>
            <a:off x="6236467" y="3972754"/>
            <a:ext cx="5263886" cy="116955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2) </a:t>
            </a:r>
          </a:p>
          <a:p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독립 선언서는 인간은 평등하게 태어났고 생명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자유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행복의 추구라는 양도할 수 없는 권리를 갖는다고 보았다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자유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평등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기본 인권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</a:p>
          <a:p>
            <a:endParaRPr lang="en-US" altLang="ko-KR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독립 선언서에 나오는 정부는 </a:t>
            </a:r>
            <a:endParaRPr lang="en-US" altLang="ko-KR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생명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자유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행복의 추구라는 인간의 권리를 확보해 주어야 하며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이러한 권리를 정부가 침해하거나 빼앗으면 그 정부는 언제든지 국민의 힘에 의해서 바뀌거나 없어질 수 있다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endParaRPr lang="en-US" altLang="ko-KR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805333E-D57F-4B94-A9AC-2BE276E110A7}"/>
              </a:ext>
            </a:extLst>
          </p:cNvPr>
          <p:cNvSpPr txBox="1"/>
          <p:nvPr/>
        </p:nvSpPr>
        <p:spPr>
          <a:xfrm>
            <a:off x="6341242" y="5635570"/>
            <a:ext cx="5159111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3) </a:t>
            </a:r>
          </a:p>
          <a:p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국민이 나라의 주인이 되는 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‘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민주 공화국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＇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을 수립하였다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세계 최초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입법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/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행정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/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사법 권력 균형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7CA7279-5E71-4814-A88C-D3EB694C39FA}"/>
              </a:ext>
            </a:extLst>
          </p:cNvPr>
          <p:cNvSpPr txBox="1"/>
          <p:nvPr/>
        </p:nvSpPr>
        <p:spPr>
          <a:xfrm>
            <a:off x="657501" y="5352449"/>
            <a:ext cx="555296" cy="461665"/>
          </a:xfrm>
          <a:prstGeom prst="rect">
            <a:avLst/>
          </a:prstGeom>
          <a:noFill/>
          <a:ln>
            <a:solidFill>
              <a:srgbClr val="0033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영국군</a:t>
            </a:r>
            <a:endParaRPr lang="en-US" altLang="ko-KR" sz="8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en-US" altLang="ko-KR" sz="8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vs</a:t>
            </a:r>
          </a:p>
          <a:p>
            <a:pPr algn="ctr"/>
            <a:r>
              <a:rPr lang="ko-KR" altLang="en-US" sz="800" dirty="0" err="1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대륙군</a:t>
            </a:r>
            <a:endParaRPr lang="en-US" altLang="ko-KR" sz="8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11" name="연결선: 꺾임 10">
            <a:extLst>
              <a:ext uri="{FF2B5EF4-FFF2-40B4-BE49-F238E27FC236}">
                <a16:creationId xmlns:a16="http://schemas.microsoft.com/office/drawing/2014/main" id="{A2378C4C-AA5D-4BEE-8627-604A8377FCA3}"/>
              </a:ext>
            </a:extLst>
          </p:cNvPr>
          <p:cNvCxnSpPr>
            <a:cxnSpLocks/>
            <a:stCxn id="44" idx="3"/>
          </p:cNvCxnSpPr>
          <p:nvPr/>
        </p:nvCxnSpPr>
        <p:spPr>
          <a:xfrm flipV="1">
            <a:off x="1212797" y="5193674"/>
            <a:ext cx="1270344" cy="389608"/>
          </a:xfrm>
          <a:prstGeom prst="bentConnector3">
            <a:avLst>
              <a:gd name="adj1" fmla="val 86009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B4D17ED0-7FD3-4A35-9AAA-0CBBF4594308}"/>
              </a:ext>
            </a:extLst>
          </p:cNvPr>
          <p:cNvSpPr txBox="1"/>
          <p:nvPr/>
        </p:nvSpPr>
        <p:spPr>
          <a:xfrm>
            <a:off x="2936357" y="1857781"/>
            <a:ext cx="1885950" cy="2308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홍차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→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차 안마시기 운동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→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커피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  <a:endParaRPr lang="ko-KR" altLang="en-US" sz="9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98CE5A6-B661-404C-BE2C-5B2C75BFA783}"/>
              </a:ext>
            </a:extLst>
          </p:cNvPr>
          <p:cNvSpPr txBox="1"/>
          <p:nvPr/>
        </p:nvSpPr>
        <p:spPr>
          <a:xfrm>
            <a:off x="4179529" y="6168081"/>
            <a:ext cx="3602396" cy="584775"/>
          </a:xfrm>
          <a:prstGeom prst="rect">
            <a:avLst/>
          </a:prstGeom>
          <a:noFill/>
          <a:ln>
            <a:solidFill>
              <a:srgbClr val="FF5050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   제</a:t>
            </a:r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</a:t>
            </a:r>
            <a:r>
              <a:rPr lang="ko-KR" altLang="en-US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차 대륙 회의</a:t>
            </a:r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식민지 협의회 구성</a:t>
            </a:r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</a:p>
          <a:p>
            <a:r>
              <a:rPr lang="ko-KR" altLang="en-US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→ 제</a:t>
            </a:r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2</a:t>
            </a:r>
            <a:r>
              <a:rPr lang="ko-KR" altLang="en-US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차 대륙 회의</a:t>
            </a:r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식민지 연합군 창설</a:t>
            </a:r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독립 선언 발표</a:t>
            </a:r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</a:p>
          <a:p>
            <a:r>
              <a:rPr lang="ko-KR" altLang="en-US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→</a:t>
            </a:r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13</a:t>
            </a:r>
            <a:r>
              <a:rPr lang="ko-KR" altLang="en-US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개 주 연합 국가</a:t>
            </a:r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연합 헌장 채택</a:t>
            </a:r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‘</a:t>
            </a:r>
            <a:r>
              <a:rPr lang="ko-KR" altLang="en-US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미국</a:t>
            </a:r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＇</a:t>
            </a:r>
            <a:r>
              <a:rPr lang="ko-KR" altLang="en-US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이라는 명칭 결정</a:t>
            </a:r>
            <a:endParaRPr lang="en-US" altLang="ko-KR" sz="8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→</a:t>
            </a:r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헌법  제정 회의 → 연방 의회</a:t>
            </a:r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조지 워싱턴 대통령 당선</a:t>
            </a:r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미국 정부의 공식 출범</a:t>
            </a:r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9756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36" grpId="0" animBg="1"/>
      <p:bldP spid="4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497" t="12179" r="1028" b="5610"/>
          <a:stretch/>
        </p:blipFill>
        <p:spPr>
          <a:xfrm>
            <a:off x="4633640" y="606220"/>
            <a:ext cx="5236035" cy="6093518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E63EA575-62A7-4F50-8560-66486DD36F2E}"/>
              </a:ext>
            </a:extLst>
          </p:cNvPr>
          <p:cNvGrpSpPr/>
          <p:nvPr/>
        </p:nvGrpSpPr>
        <p:grpSpPr>
          <a:xfrm>
            <a:off x="0" y="1"/>
            <a:ext cx="12201331" cy="6851339"/>
            <a:chOff x="0" y="1"/>
            <a:chExt cx="12201331" cy="6851339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01313867-FA00-4F30-8C60-5E9F0D8D6998}"/>
                </a:ext>
              </a:extLst>
            </p:cNvPr>
            <p:cNvSpPr/>
            <p:nvPr/>
          </p:nvSpPr>
          <p:spPr>
            <a:xfrm>
              <a:off x="0" y="1"/>
              <a:ext cx="109057" cy="509173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7030A0"/>
                </a:solidFill>
              </a:endParaRPr>
            </a:p>
          </p:txBody>
        </p: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C72691C7-BB97-4D31-940D-448688A6C154}"/>
                </a:ext>
              </a:extLst>
            </p:cNvPr>
            <p:cNvCxnSpPr>
              <a:cxnSpLocks/>
            </p:cNvCxnSpPr>
            <p:nvPr/>
          </p:nvCxnSpPr>
          <p:spPr>
            <a:xfrm>
              <a:off x="2279" y="513458"/>
              <a:ext cx="12192000" cy="0"/>
            </a:xfrm>
            <a:prstGeom prst="line">
              <a:avLst/>
            </a:prstGeom>
            <a:ln w="9525" cmpd="sng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C593A63-C37D-40EB-BA52-94A232F1D9B8}"/>
                </a:ext>
              </a:extLst>
            </p:cNvPr>
            <p:cNvSpPr txBox="1"/>
            <p:nvPr/>
          </p:nvSpPr>
          <p:spPr>
            <a:xfrm>
              <a:off x="9331" y="6528945"/>
              <a:ext cx="12192000" cy="280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한우리</a:t>
              </a:r>
              <a:r>
                <a:rPr lang="ko-KR" altLang="en-US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독서토론논술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안락 </a:t>
              </a:r>
              <a:r>
                <a:rPr lang="en-US" altLang="ko-KR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sk</a:t>
              </a:r>
              <a:r>
                <a:rPr lang="en-US" altLang="ko-KR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</a:t>
              </a: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논술교습소</a:t>
              </a:r>
              <a:endParaRPr lang="ko-KR" altLang="en-US" sz="900" dirty="0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endParaRP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8A3A3578-3881-4BBB-A1F1-417F84AFCEA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1340"/>
              <a:ext cx="12192000" cy="0"/>
            </a:xfrm>
            <a:prstGeom prst="line">
              <a:avLst/>
            </a:prstGeom>
            <a:ln w="762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66DED989-BED9-4A63-9692-961BC95A8561}"/>
              </a:ext>
            </a:extLst>
          </p:cNvPr>
          <p:cNvSpPr txBox="1"/>
          <p:nvPr/>
        </p:nvSpPr>
        <p:spPr>
          <a:xfrm>
            <a:off x="9643559" y="3491753"/>
            <a:ext cx="2548441" cy="86177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Q1)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자본가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노동자</a:t>
            </a:r>
            <a:endParaRPr lang="en-US" altLang="ko-KR" sz="10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산업 혁명으로 인해  경제 규모가 커지고 더 풍요로운 삶을 누릴 기회가 늘었지만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그 혜택이 모두에게 골고루 돌아가지 못하여 두 계층 사이에 빈부 격차가 생겼다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endParaRPr lang="en-US" altLang="ko-KR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758FD5E-6277-4416-AAE3-633B3136AA2C}"/>
              </a:ext>
            </a:extLst>
          </p:cNvPr>
          <p:cNvSpPr txBox="1"/>
          <p:nvPr/>
        </p:nvSpPr>
        <p:spPr>
          <a:xfrm>
            <a:off x="109057" y="3641"/>
            <a:ext cx="7998543" cy="467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세계사 이슈 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산업 혁명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세상을 바꾸다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DF92F64-977E-49D2-8A17-9A72F7C0ECA8}"/>
              </a:ext>
            </a:extLst>
          </p:cNvPr>
          <p:cNvSpPr txBox="1"/>
          <p:nvPr/>
        </p:nvSpPr>
        <p:spPr>
          <a:xfrm>
            <a:off x="109057" y="551491"/>
            <a:ext cx="4812567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▶ 산업 혁명의 배경과 산업 혁명이 사회에 미친 영향을 알아보자</a:t>
            </a:r>
            <a:r>
              <a:rPr lang="en-US" altLang="ko-KR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FA03F3-553B-4406-98F7-EE4C0A5D5977}"/>
              </a:ext>
            </a:extLst>
          </p:cNvPr>
          <p:cNvSpPr txBox="1"/>
          <p:nvPr/>
        </p:nvSpPr>
        <p:spPr>
          <a:xfrm>
            <a:off x="5907370" y="5557466"/>
            <a:ext cx="57508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20</a:t>
            </a:r>
            <a:endParaRPr lang="ko-KR" altLang="en-US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23CA5C9-059C-41E2-942B-4EEFBEF29223}"/>
              </a:ext>
            </a:extLst>
          </p:cNvPr>
          <p:cNvSpPr txBox="1"/>
          <p:nvPr/>
        </p:nvSpPr>
        <p:spPr>
          <a:xfrm>
            <a:off x="9643560" y="4359383"/>
            <a:ext cx="2548440" cy="132343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Q2)</a:t>
            </a:r>
          </a:p>
          <a:p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이윤을 많이 남기려는 자본가들은 노동자들에게 적은 임금을 주고 매우 위험하고 나쁜 환경에서 장시간 동안 일하게 하였다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1000" dirty="0" err="1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그중에서도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아동 노동 문제는 매우 심각했다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자본가들은 매우 적은 음식을 주며 일을 시켰고 때로는 채찍질을 하기도 했다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위험한 일을 하다가 사고를 당하는 어린이 노동자들도 생겼다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endParaRPr lang="en-US" altLang="ko-KR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BADAD5E-BFD9-4B11-B1FC-0EFC8B62E56F}"/>
              </a:ext>
            </a:extLst>
          </p:cNvPr>
          <p:cNvSpPr txBox="1"/>
          <p:nvPr/>
        </p:nvSpPr>
        <p:spPr>
          <a:xfrm>
            <a:off x="9643560" y="5694839"/>
            <a:ext cx="2548440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Q3)</a:t>
            </a:r>
          </a:p>
          <a:p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콜레라나 이질 같은 전염병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 돌아 많은 사람들이 죽었다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endParaRPr lang="en-US" altLang="ko-KR" sz="10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920EE5B-0B68-4E7A-AB35-837E9CA59C83}"/>
              </a:ext>
            </a:extLst>
          </p:cNvPr>
          <p:cNvSpPr txBox="1"/>
          <p:nvPr/>
        </p:nvSpPr>
        <p:spPr>
          <a:xfrm>
            <a:off x="8200652" y="1576298"/>
            <a:ext cx="145999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기계를 이용하여 공장에서 대량 생산하는 방식으로 바뀌었다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endParaRPr lang="en-US" altLang="ko-KR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8DF8C28-C175-45D0-87A1-62CFF7BB97FC}"/>
              </a:ext>
            </a:extLst>
          </p:cNvPr>
          <p:cNvSpPr txBox="1"/>
          <p:nvPr/>
        </p:nvSpPr>
        <p:spPr>
          <a:xfrm>
            <a:off x="7476111" y="5557466"/>
            <a:ext cx="55676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20</a:t>
            </a:r>
            <a:endParaRPr lang="ko-KR" altLang="en-US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DE5743D-6F6A-4441-B7A9-90A58F58B633}"/>
              </a:ext>
            </a:extLst>
          </p:cNvPr>
          <p:cNvSpPr txBox="1"/>
          <p:nvPr/>
        </p:nvSpPr>
        <p:spPr>
          <a:xfrm>
            <a:off x="9086797" y="5557466"/>
            <a:ext cx="55676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22</a:t>
            </a:r>
            <a:endParaRPr lang="ko-KR" altLang="en-US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A0419F9-B775-4083-8FDE-5F860CC90E6C}"/>
              </a:ext>
            </a:extLst>
          </p:cNvPr>
          <p:cNvSpPr txBox="1"/>
          <p:nvPr/>
        </p:nvSpPr>
        <p:spPr>
          <a:xfrm>
            <a:off x="9286602" y="6320768"/>
            <a:ext cx="797858" cy="2308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16~17</a:t>
            </a:r>
            <a:endParaRPr lang="ko-KR" altLang="en-US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5CCA018C-11EF-4396-BE21-9FC5E7A3965F}"/>
              </a:ext>
            </a:extLst>
          </p:cNvPr>
          <p:cNvSpPr/>
          <p:nvPr/>
        </p:nvSpPr>
        <p:spPr>
          <a:xfrm>
            <a:off x="7485076" y="3491753"/>
            <a:ext cx="643448" cy="174812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003300"/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46076D55-79BF-4725-A1DA-233A70A97766}"/>
              </a:ext>
            </a:extLst>
          </p:cNvPr>
          <p:cNvSpPr/>
          <p:nvPr/>
        </p:nvSpPr>
        <p:spPr>
          <a:xfrm>
            <a:off x="8218501" y="3491753"/>
            <a:ext cx="643448" cy="174812"/>
          </a:xfrm>
          <a:prstGeom prst="rect">
            <a:avLst/>
          </a:prstGeom>
          <a:noFill/>
          <a:ln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CE3E260-02C2-4B5E-ABC5-FB49604A8D95}"/>
              </a:ext>
            </a:extLst>
          </p:cNvPr>
          <p:cNvSpPr txBox="1"/>
          <p:nvPr/>
        </p:nvSpPr>
        <p:spPr>
          <a:xfrm>
            <a:off x="331381" y="896603"/>
            <a:ext cx="801134" cy="246221"/>
          </a:xfrm>
          <a:prstGeom prst="rect">
            <a:avLst/>
          </a:prstGeom>
          <a:solidFill>
            <a:srgbClr val="003300"/>
          </a:solidFill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청교도 혁명</a:t>
            </a:r>
            <a:endParaRPr lang="en-US" altLang="ko-KR" sz="10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4890871-51DA-46C7-8B8A-0C60765C4806}"/>
              </a:ext>
            </a:extLst>
          </p:cNvPr>
          <p:cNvSpPr txBox="1"/>
          <p:nvPr/>
        </p:nvSpPr>
        <p:spPr>
          <a:xfrm>
            <a:off x="2337687" y="893120"/>
            <a:ext cx="910403" cy="246221"/>
          </a:xfrm>
          <a:prstGeom prst="rect">
            <a:avLst/>
          </a:prstGeom>
          <a:solidFill>
            <a:srgbClr val="003300"/>
          </a:solidFill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명예 혁명</a:t>
            </a:r>
            <a:endParaRPr lang="en-US" altLang="ko-KR" sz="10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CA902D1C-78DE-4443-9468-D7AE790173A4}"/>
              </a:ext>
            </a:extLst>
          </p:cNvPr>
          <p:cNvGrpSpPr/>
          <p:nvPr/>
        </p:nvGrpSpPr>
        <p:grpSpPr>
          <a:xfrm>
            <a:off x="241733" y="3663997"/>
            <a:ext cx="4557251" cy="1505197"/>
            <a:chOff x="241733" y="3885736"/>
            <a:chExt cx="4557251" cy="1505197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B22BA9FF-9596-4587-852A-9A7600B482D7}"/>
                </a:ext>
              </a:extLst>
            </p:cNvPr>
            <p:cNvSpPr txBox="1"/>
            <p:nvPr/>
          </p:nvSpPr>
          <p:spPr>
            <a:xfrm>
              <a:off x="241733" y="3885736"/>
              <a:ext cx="2018236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공장에서는 제품들이 쏟아져 나오고</a:t>
              </a:r>
              <a:endPara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  <a:p>
              <a:r>
                <a:rPr lang="ko-KR" altLang="en-US" sz="10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기차</a:t>
              </a:r>
              <a:r>
                <a:rPr lang="en-US" altLang="ko-KR" sz="10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, </a:t>
              </a:r>
              <a:r>
                <a:rPr lang="ko-KR" altLang="en-US" sz="10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증기선 등의 교통수단은 공장에서 생산한 상품들을 전 세계로 실어 날랐다</a:t>
              </a:r>
              <a:r>
                <a:rPr lang="en-US" altLang="ko-KR" sz="10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. </a:t>
              </a:r>
              <a:r>
                <a:rPr lang="ko-KR" altLang="en-US" sz="10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이로 인해 사람들은 물질적 풍요와 여가를 누리게 되었다</a:t>
              </a:r>
              <a:r>
                <a:rPr lang="en-US" altLang="ko-KR" sz="10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.</a:t>
              </a:r>
            </a:p>
            <a:p>
              <a:r>
                <a:rPr lang="ko-KR" altLang="en-US" sz="10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또한 자국의 산업 발달과 국력을 자랑하기 위해 여러 나라들이 박람회를 개최하였다</a:t>
              </a:r>
              <a:r>
                <a:rPr lang="en-US" altLang="ko-KR" sz="10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.(p.17)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32B2F32C-969F-4162-9FC8-836449265044}"/>
                </a:ext>
              </a:extLst>
            </p:cNvPr>
            <p:cNvSpPr txBox="1"/>
            <p:nvPr/>
          </p:nvSpPr>
          <p:spPr>
            <a:xfrm>
              <a:off x="2248040" y="3913605"/>
              <a:ext cx="2550944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하지만 많은 인구가 도시로 몰리면서 주택이 부족해지고 위생 상태는 매우 나빠졌다</a:t>
              </a:r>
              <a:r>
                <a:rPr lang="en-US" altLang="ko-KR" sz="10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.</a:t>
              </a:r>
            </a:p>
            <a:p>
              <a:r>
                <a:rPr lang="ko-KR" altLang="en-US" sz="10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쓰레기와 오물이 길 위에 그대로 방치되어 있었고</a:t>
              </a:r>
              <a:r>
                <a:rPr lang="en-US" altLang="ko-KR" sz="10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, </a:t>
              </a:r>
              <a:r>
                <a:rPr lang="ko-KR" altLang="en-US" sz="10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화석 연료의 사용으로 영국의 대기는 크게 오염되었다</a:t>
              </a:r>
              <a:r>
                <a:rPr lang="en-US" altLang="ko-KR" sz="10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. </a:t>
              </a:r>
            </a:p>
            <a:p>
              <a:r>
                <a:rPr lang="ko-KR" altLang="en-US" sz="10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노동자들은 안전을 보장받지 못한 채 </a:t>
              </a:r>
              <a:r>
                <a:rPr lang="en-US" altLang="ko-KR" sz="10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16</a:t>
              </a:r>
              <a:r>
                <a:rPr lang="ko-KR" altLang="en-US" sz="10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시간씩 일하는 비참한 생활을 하였다</a:t>
              </a:r>
              <a:r>
                <a:rPr lang="en-US" altLang="ko-KR" sz="10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. </a:t>
              </a:r>
              <a:r>
                <a:rPr lang="ko-KR" altLang="en-US" sz="10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게다가 임금이 너무 적어 어린이까지도 생계를 위해 공장이나 탄광에서 장시간 일해야 했다</a:t>
              </a:r>
              <a:r>
                <a:rPr lang="en-US" altLang="ko-KR" sz="10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.(</a:t>
              </a:r>
              <a:r>
                <a:rPr lang="ko-KR" altLang="en-US" sz="10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비상교육</a:t>
              </a:r>
              <a:r>
                <a:rPr lang="en-US" altLang="ko-KR" sz="10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)</a:t>
              </a:r>
              <a:endPara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7BCA4FF3-AFC9-46C1-9184-236215ED1943}"/>
              </a:ext>
            </a:extLst>
          </p:cNvPr>
          <p:cNvSpPr txBox="1"/>
          <p:nvPr/>
        </p:nvSpPr>
        <p:spPr>
          <a:xfrm>
            <a:off x="1436592" y="2011289"/>
            <a:ext cx="1582424" cy="246221"/>
          </a:xfrm>
          <a:prstGeom prst="rect">
            <a:avLst/>
          </a:prstGeom>
          <a:noFill/>
          <a:ln>
            <a:solidFill>
              <a:srgbClr val="0033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면직물 대량 생산</a:t>
            </a:r>
            <a:endParaRPr lang="en-US" altLang="ko-KR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F6FF3C14-1D0E-4B6E-B804-F57707797542}"/>
              </a:ext>
            </a:extLst>
          </p:cNvPr>
          <p:cNvCxnSpPr>
            <a:cxnSpLocks/>
          </p:cNvCxnSpPr>
          <p:nvPr/>
        </p:nvCxnSpPr>
        <p:spPr>
          <a:xfrm>
            <a:off x="2218916" y="2257510"/>
            <a:ext cx="0" cy="4609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B944924A-DC14-4199-B333-7E7C5F95601A}"/>
              </a:ext>
            </a:extLst>
          </p:cNvPr>
          <p:cNvSpPr txBox="1"/>
          <p:nvPr/>
        </p:nvSpPr>
        <p:spPr>
          <a:xfrm>
            <a:off x="1436592" y="2724444"/>
            <a:ext cx="1582424" cy="246221"/>
          </a:xfrm>
          <a:prstGeom prst="rect">
            <a:avLst/>
          </a:prstGeom>
          <a:noFill/>
          <a:ln>
            <a:solidFill>
              <a:srgbClr val="0033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자본주의 체제 형성</a:t>
            </a:r>
            <a:endParaRPr lang="en-US" altLang="ko-KR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15879ACB-1E29-4A0E-AC88-72BEABA3EFEE}"/>
              </a:ext>
            </a:extLst>
          </p:cNvPr>
          <p:cNvCxnSpPr>
            <a:cxnSpLocks/>
          </p:cNvCxnSpPr>
          <p:nvPr/>
        </p:nvCxnSpPr>
        <p:spPr>
          <a:xfrm>
            <a:off x="2218916" y="2984170"/>
            <a:ext cx="0" cy="3681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60E321A2-C1D9-4185-BE64-9DBDE1252346}"/>
              </a:ext>
            </a:extLst>
          </p:cNvPr>
          <p:cNvSpPr/>
          <p:nvPr/>
        </p:nvSpPr>
        <p:spPr>
          <a:xfrm>
            <a:off x="241733" y="3357420"/>
            <a:ext cx="4557251" cy="1811774"/>
          </a:xfrm>
          <a:prstGeom prst="rect">
            <a:avLst/>
          </a:prstGeom>
          <a:noFill/>
          <a:ln w="9525">
            <a:solidFill>
              <a:srgbClr val="00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F2B0AD1-6913-4286-A5B6-BAAE7CB4E7D0}"/>
              </a:ext>
            </a:extLst>
          </p:cNvPr>
          <p:cNvSpPr txBox="1"/>
          <p:nvPr/>
        </p:nvSpPr>
        <p:spPr>
          <a:xfrm>
            <a:off x="1436592" y="5650336"/>
            <a:ext cx="1582424" cy="400110"/>
          </a:xfrm>
          <a:prstGeom prst="rect">
            <a:avLst/>
          </a:prstGeom>
          <a:noFill/>
          <a:ln>
            <a:solidFill>
              <a:srgbClr val="0033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자본주의 체제 비판 </a:t>
            </a:r>
            <a:endParaRPr lang="en-US" altLang="ko-KR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마르크스 사회주의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</a:p>
        </p:txBody>
      </p: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28CB32ED-C7FA-4728-B340-FE3A543A8522}"/>
              </a:ext>
            </a:extLst>
          </p:cNvPr>
          <p:cNvCxnSpPr>
            <a:cxnSpLocks/>
          </p:cNvCxnSpPr>
          <p:nvPr/>
        </p:nvCxnSpPr>
        <p:spPr>
          <a:xfrm>
            <a:off x="2218916" y="5206255"/>
            <a:ext cx="0" cy="3893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AAF9712E-B815-46DC-BCD7-48D1605A508F}"/>
              </a:ext>
            </a:extLst>
          </p:cNvPr>
          <p:cNvSpPr txBox="1"/>
          <p:nvPr/>
        </p:nvSpPr>
        <p:spPr>
          <a:xfrm>
            <a:off x="153" y="6166958"/>
            <a:ext cx="7032564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영국은 유럽의 다른 나라들보다 거의 한 세기 앞서서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시민 혁명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을 겪었다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18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세기 초에는 의원 내각제가 자리 잡아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의회 민주주의의 발전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을 이루었다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이러한 정치적 안정을 바탕으로 영국은 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18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세기 후반 유럽에서 가장 먼저 산업 혁명을 시작할 수 있었다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그 밖에도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풍부한 자원과 자본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 있었고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공장에서 일할 노동자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가 많았으며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물건을 팔 수 있는 시장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마련되어 있었기 때문이다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422BFFF2-2FCA-4461-BFCA-4ECF31F6802C}"/>
              </a:ext>
            </a:extLst>
          </p:cNvPr>
          <p:cNvSpPr/>
          <p:nvPr/>
        </p:nvSpPr>
        <p:spPr>
          <a:xfrm>
            <a:off x="331380" y="889850"/>
            <a:ext cx="4467604" cy="1022850"/>
          </a:xfrm>
          <a:prstGeom prst="rect">
            <a:avLst/>
          </a:prstGeom>
          <a:noFill/>
          <a:ln w="9525">
            <a:solidFill>
              <a:srgbClr val="00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57F49E3-FB28-411A-A514-16ECF0F40964}"/>
              </a:ext>
            </a:extLst>
          </p:cNvPr>
          <p:cNvSpPr txBox="1"/>
          <p:nvPr/>
        </p:nvSpPr>
        <p:spPr>
          <a:xfrm>
            <a:off x="331381" y="3354577"/>
            <a:ext cx="801134" cy="246221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긍정적 변화</a:t>
            </a:r>
            <a:endParaRPr lang="en-US" altLang="ko-KR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799ABA9-4D9A-4EA6-8383-BE032572B30B}"/>
              </a:ext>
            </a:extLst>
          </p:cNvPr>
          <p:cNvSpPr txBox="1"/>
          <p:nvPr/>
        </p:nvSpPr>
        <p:spPr>
          <a:xfrm>
            <a:off x="2337687" y="3359483"/>
            <a:ext cx="910403" cy="246221"/>
          </a:xfrm>
          <a:prstGeom prst="rect">
            <a:avLst/>
          </a:prstGeom>
          <a:solidFill>
            <a:srgbClr val="FF5050"/>
          </a:solidFill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부정적 변화</a:t>
            </a:r>
            <a:endParaRPr lang="en-US" altLang="ko-KR" sz="10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984222E-B224-4193-B91A-0C4ED6AB6CBD}"/>
              </a:ext>
            </a:extLst>
          </p:cNvPr>
          <p:cNvSpPr txBox="1"/>
          <p:nvPr/>
        </p:nvSpPr>
        <p:spPr>
          <a:xfrm>
            <a:off x="331380" y="1175636"/>
            <a:ext cx="200012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제임스 </a:t>
            </a:r>
            <a:r>
              <a:rPr lang="en-US" altLang="ko-KR" sz="8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</a:t>
            </a:r>
            <a:r>
              <a:rPr lang="ko-KR" altLang="en-US" sz="8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세</a:t>
            </a:r>
            <a:endParaRPr lang="en-US" altLang="ko-KR" sz="8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</a:t>
            </a:r>
            <a:r>
              <a:rPr lang="ko-KR" altLang="en-US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절대권력</a:t>
            </a:r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의회 존중 </a:t>
            </a:r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x</a:t>
            </a:r>
          </a:p>
          <a:p>
            <a:r>
              <a:rPr lang="ko-KR" altLang="en-US" sz="8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찰스 </a:t>
            </a:r>
            <a:r>
              <a:rPr lang="en-US" altLang="ko-KR" sz="8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</a:t>
            </a:r>
            <a:r>
              <a:rPr lang="ko-KR" altLang="en-US" sz="8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세</a:t>
            </a:r>
            <a:endParaRPr lang="en-US" altLang="ko-KR" sz="8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의회 </a:t>
            </a:r>
            <a:r>
              <a:rPr lang="ko-KR" altLang="en-US" sz="800" u="sng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권리</a:t>
            </a:r>
            <a:r>
              <a:rPr lang="ko-KR" altLang="en-US" sz="800" u="sng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800" u="sng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청원</a:t>
            </a:r>
            <a:r>
              <a:rPr lang="ko-KR" altLang="en-US" sz="800" u="sng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무시</a:t>
            </a:r>
            <a:endParaRPr lang="en-US" altLang="ko-KR" sz="800" u="sng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→ 크롬웰 </a:t>
            </a:r>
            <a:r>
              <a:rPr lang="ko-KR" altLang="en-US" sz="800" dirty="0" err="1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승리→국왕</a:t>
            </a:r>
            <a:r>
              <a:rPr lang="ko-KR" altLang="en-US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처형 →</a:t>
            </a:r>
            <a:r>
              <a:rPr lang="ko-KR" altLang="en-US" sz="800" b="1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공화정</a:t>
            </a:r>
            <a:r>
              <a:rPr lang="ko-KR" altLang="en-US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들어 섬</a:t>
            </a:r>
            <a:endParaRPr lang="en-US" altLang="ko-KR" sz="8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E7329D7-78C9-47FD-ACBE-C19D3D52699A}"/>
              </a:ext>
            </a:extLst>
          </p:cNvPr>
          <p:cNvSpPr txBox="1"/>
          <p:nvPr/>
        </p:nvSpPr>
        <p:spPr>
          <a:xfrm>
            <a:off x="2286149" y="1175636"/>
            <a:ext cx="24271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크롬웰 사후 왕정 복고</a:t>
            </a:r>
            <a:endParaRPr lang="en-US" altLang="ko-KR" sz="8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8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찰스 </a:t>
            </a:r>
            <a:r>
              <a:rPr lang="en-US" altLang="ko-KR" sz="8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2</a:t>
            </a:r>
            <a:r>
              <a:rPr lang="ko-KR" altLang="en-US" sz="8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세</a:t>
            </a:r>
            <a:r>
              <a:rPr lang="en-US" altLang="ko-KR" sz="8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/ </a:t>
            </a:r>
            <a:r>
              <a:rPr lang="ko-KR" altLang="en-US" sz="8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제임스 </a:t>
            </a:r>
            <a:r>
              <a:rPr lang="en-US" altLang="ko-KR" sz="8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2</a:t>
            </a:r>
            <a:r>
              <a:rPr lang="ko-KR" altLang="en-US" sz="8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세</a:t>
            </a:r>
            <a:endParaRPr lang="en-US" altLang="ko-KR" sz="8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전제 정치</a:t>
            </a:r>
            <a:endParaRPr lang="en-US" altLang="ko-KR" sz="8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→ 메리</a:t>
            </a:r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+</a:t>
            </a:r>
            <a:r>
              <a:rPr lang="ko-KR" altLang="en-US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윌리엄 </a:t>
            </a:r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3</a:t>
            </a:r>
            <a:r>
              <a:rPr lang="ko-KR" altLang="en-US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세 공동 왕 추대</a:t>
            </a:r>
            <a:endParaRPr lang="en-US" altLang="ko-KR" sz="8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→</a:t>
            </a:r>
            <a:r>
              <a:rPr lang="ko-KR" altLang="en-US" sz="8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권리 장전</a:t>
            </a:r>
            <a:r>
              <a:rPr lang="en-US" altLang="ko-KR" sz="8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→</a:t>
            </a:r>
            <a:r>
              <a:rPr lang="ko-KR" altLang="en-US" sz="800" b="1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입헌 군주제 </a:t>
            </a:r>
            <a:r>
              <a:rPr lang="ko-KR" altLang="en-US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들어 섬</a:t>
            </a:r>
            <a:endParaRPr lang="en-US" altLang="ko-KR" sz="8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20F4181-F832-43A8-AD7E-622DC4C990B6}"/>
              </a:ext>
            </a:extLst>
          </p:cNvPr>
          <p:cNvSpPr txBox="1"/>
          <p:nvPr/>
        </p:nvSpPr>
        <p:spPr>
          <a:xfrm>
            <a:off x="331381" y="2012339"/>
            <a:ext cx="796702" cy="246221"/>
          </a:xfrm>
          <a:prstGeom prst="rect">
            <a:avLst/>
          </a:prstGeom>
          <a:solidFill>
            <a:srgbClr val="003300"/>
          </a:solidFill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산업 혁명</a:t>
            </a:r>
            <a:endParaRPr lang="en-US" altLang="ko-KR" sz="10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85847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2" grpId="0" animBg="1"/>
      <p:bldP spid="23" grpId="0" animBg="1"/>
      <p:bldP spid="25" grpId="0" animBg="1"/>
      <p:bldP spid="4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6" t="10897" r="1070" b="2564"/>
          <a:stretch/>
        </p:blipFill>
        <p:spPr>
          <a:xfrm>
            <a:off x="1381859" y="800574"/>
            <a:ext cx="9886185" cy="5863950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E63EA575-62A7-4F50-8560-66486DD36F2E}"/>
              </a:ext>
            </a:extLst>
          </p:cNvPr>
          <p:cNvGrpSpPr/>
          <p:nvPr/>
        </p:nvGrpSpPr>
        <p:grpSpPr>
          <a:xfrm>
            <a:off x="0" y="1"/>
            <a:ext cx="12201331" cy="6851339"/>
            <a:chOff x="0" y="1"/>
            <a:chExt cx="12201331" cy="6851339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01313867-FA00-4F30-8C60-5E9F0D8D6998}"/>
                </a:ext>
              </a:extLst>
            </p:cNvPr>
            <p:cNvSpPr/>
            <p:nvPr/>
          </p:nvSpPr>
          <p:spPr>
            <a:xfrm>
              <a:off x="0" y="1"/>
              <a:ext cx="109057" cy="509173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7030A0"/>
                </a:solidFill>
              </a:endParaRPr>
            </a:p>
          </p:txBody>
        </p: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C72691C7-BB97-4D31-940D-448688A6C154}"/>
                </a:ext>
              </a:extLst>
            </p:cNvPr>
            <p:cNvCxnSpPr>
              <a:cxnSpLocks/>
            </p:cNvCxnSpPr>
            <p:nvPr/>
          </p:nvCxnSpPr>
          <p:spPr>
            <a:xfrm>
              <a:off x="2279" y="513458"/>
              <a:ext cx="12192000" cy="0"/>
            </a:xfrm>
            <a:prstGeom prst="line">
              <a:avLst/>
            </a:prstGeom>
            <a:ln w="9525" cmpd="sng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C593A63-C37D-40EB-BA52-94A232F1D9B8}"/>
                </a:ext>
              </a:extLst>
            </p:cNvPr>
            <p:cNvSpPr txBox="1"/>
            <p:nvPr/>
          </p:nvSpPr>
          <p:spPr>
            <a:xfrm>
              <a:off x="9331" y="6528945"/>
              <a:ext cx="12192000" cy="280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한우리</a:t>
              </a:r>
              <a:r>
                <a:rPr lang="ko-KR" altLang="en-US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독서토론논술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안락 </a:t>
              </a:r>
              <a:r>
                <a:rPr lang="en-US" altLang="ko-KR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sk</a:t>
              </a:r>
              <a:r>
                <a:rPr lang="en-US" altLang="ko-KR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</a:t>
              </a: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논술교습소</a:t>
              </a:r>
              <a:endParaRPr lang="ko-KR" altLang="en-US" sz="900" dirty="0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endParaRP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8A3A3578-3881-4BBB-A1F1-417F84AFCEA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1340"/>
              <a:ext cx="12192000" cy="0"/>
            </a:xfrm>
            <a:prstGeom prst="line">
              <a:avLst/>
            </a:prstGeom>
            <a:ln w="762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23FAE24B-419C-4480-ADE4-75978B72EB45}"/>
              </a:ext>
            </a:extLst>
          </p:cNvPr>
          <p:cNvSpPr txBox="1"/>
          <p:nvPr/>
        </p:nvSpPr>
        <p:spPr>
          <a:xfrm>
            <a:off x="109057" y="3641"/>
            <a:ext cx="7998543" cy="467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세계사 이슈 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프랑스 혁명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자유와 평등을 외치다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1C52E4B-A752-490B-9FE8-C4AAAE39B2DC}"/>
              </a:ext>
            </a:extLst>
          </p:cNvPr>
          <p:cNvSpPr txBox="1"/>
          <p:nvPr/>
        </p:nvSpPr>
        <p:spPr>
          <a:xfrm>
            <a:off x="109056" y="551491"/>
            <a:ext cx="7998544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▶ 프랑스 혁명이 일어난 배경과 전개 과정을 알아보자</a:t>
            </a:r>
            <a:r>
              <a:rPr lang="en-US" altLang="ko-KR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endParaRPr lang="ko-KR" altLang="en-US" sz="11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05D66DB-B70E-4249-A9DF-61CFF89A3516}"/>
              </a:ext>
            </a:extLst>
          </p:cNvPr>
          <p:cNvSpPr txBox="1"/>
          <p:nvPr/>
        </p:nvSpPr>
        <p:spPr>
          <a:xfrm>
            <a:off x="1235052" y="1185539"/>
            <a:ext cx="87733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52~53</a:t>
            </a:r>
            <a:endParaRPr lang="ko-KR" altLang="en-US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52170F5-A2F8-48A1-ADAA-E461398D65D9}"/>
              </a:ext>
            </a:extLst>
          </p:cNvPr>
          <p:cNvSpPr txBox="1"/>
          <p:nvPr/>
        </p:nvSpPr>
        <p:spPr>
          <a:xfrm>
            <a:off x="1575022" y="4136607"/>
            <a:ext cx="87733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54~55</a:t>
            </a:r>
            <a:endParaRPr lang="ko-KR" altLang="en-US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3291FEF-C66D-47D8-AC1F-AA09398D06D5}"/>
              </a:ext>
            </a:extLst>
          </p:cNvPr>
          <p:cNvSpPr/>
          <p:nvPr/>
        </p:nvSpPr>
        <p:spPr>
          <a:xfrm>
            <a:off x="2359272" y="3981574"/>
            <a:ext cx="545942" cy="174812"/>
          </a:xfrm>
          <a:prstGeom prst="rect">
            <a:avLst/>
          </a:prstGeom>
          <a:noFill/>
          <a:ln w="190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E2C7389-6673-4175-8573-1FC9CE5ABC55}"/>
              </a:ext>
            </a:extLst>
          </p:cNvPr>
          <p:cNvSpPr txBox="1"/>
          <p:nvPr/>
        </p:nvSpPr>
        <p:spPr>
          <a:xfrm>
            <a:off x="2310766" y="5885094"/>
            <a:ext cx="87733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55</a:t>
            </a:r>
            <a:endParaRPr lang="ko-KR" altLang="en-US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2E08F31-DB0D-467E-B154-F4F236BD90CA}"/>
              </a:ext>
            </a:extLst>
          </p:cNvPr>
          <p:cNvSpPr txBox="1"/>
          <p:nvPr/>
        </p:nvSpPr>
        <p:spPr>
          <a:xfrm>
            <a:off x="3478678" y="5279607"/>
            <a:ext cx="87733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57</a:t>
            </a:r>
            <a:endParaRPr lang="ko-KR" altLang="en-US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7" name="연결선: 꺾임 6">
            <a:extLst>
              <a:ext uri="{FF2B5EF4-FFF2-40B4-BE49-F238E27FC236}">
                <a16:creationId xmlns:a16="http://schemas.microsoft.com/office/drawing/2014/main" id="{5F3CDB20-DA2B-4A3A-A135-0CD0D2E98A25}"/>
              </a:ext>
            </a:extLst>
          </p:cNvPr>
          <p:cNvCxnSpPr>
            <a:cxnSpLocks/>
          </p:cNvCxnSpPr>
          <p:nvPr/>
        </p:nvCxnSpPr>
        <p:spPr>
          <a:xfrm rot="10800000" flipV="1">
            <a:off x="1546527" y="3670788"/>
            <a:ext cx="968076" cy="285443"/>
          </a:xfrm>
          <a:prstGeom prst="bentConnector3">
            <a:avLst>
              <a:gd name="adj1" fmla="val 50000"/>
            </a:avLst>
          </a:prstGeom>
          <a:ln>
            <a:solidFill>
              <a:srgbClr val="FF5050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D70D2312-6185-41CB-B30D-650340B26075}"/>
              </a:ext>
            </a:extLst>
          </p:cNvPr>
          <p:cNvSpPr txBox="1"/>
          <p:nvPr/>
        </p:nvSpPr>
        <p:spPr>
          <a:xfrm>
            <a:off x="71754" y="3967806"/>
            <a:ext cx="1461772" cy="707886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미국 독립 혁명 소식</a:t>
            </a:r>
            <a:endParaRPr lang="en-US" altLang="ko-KR" sz="8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자유와 평등의 미국</a:t>
            </a:r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</a:p>
          <a:p>
            <a:pPr algn="ctr"/>
            <a:r>
              <a:rPr lang="en-US" altLang="ko-KR" sz="8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+</a:t>
            </a:r>
          </a:p>
          <a:p>
            <a:pPr algn="ctr"/>
            <a:r>
              <a:rPr lang="ko-KR" altLang="en-US" sz="8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루이</a:t>
            </a:r>
            <a:r>
              <a:rPr lang="en-US" altLang="ko-KR" sz="8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16/ </a:t>
            </a:r>
            <a:r>
              <a:rPr lang="ko-KR" altLang="en-US" sz="8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마리 </a:t>
            </a:r>
            <a:r>
              <a:rPr lang="ko-KR" altLang="en-US" sz="800" dirty="0" err="1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앙뚜아네트</a:t>
            </a:r>
            <a:r>
              <a:rPr lang="ko-KR" altLang="en-US" sz="8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사치</a:t>
            </a:r>
            <a:endParaRPr lang="en-US" altLang="ko-KR" sz="8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유럽 </a:t>
            </a:r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/</a:t>
            </a:r>
            <a:r>
              <a:rPr lang="ko-KR" altLang="en-US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미국 전쟁 재정 낭비</a:t>
            </a:r>
            <a:r>
              <a:rPr lang="en-US" altLang="ko-KR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</a:p>
        </p:txBody>
      </p:sp>
      <p:cxnSp>
        <p:nvCxnSpPr>
          <p:cNvPr id="24" name="연결선: 꺾임 23">
            <a:extLst>
              <a:ext uri="{FF2B5EF4-FFF2-40B4-BE49-F238E27FC236}">
                <a16:creationId xmlns:a16="http://schemas.microsoft.com/office/drawing/2014/main" id="{4085309E-DB16-4CF3-A09F-14151874CFEE}"/>
              </a:ext>
            </a:extLst>
          </p:cNvPr>
          <p:cNvCxnSpPr>
            <a:cxnSpLocks/>
          </p:cNvCxnSpPr>
          <p:nvPr/>
        </p:nvCxnSpPr>
        <p:spPr>
          <a:xfrm rot="16200000" flipH="1">
            <a:off x="658807" y="4819506"/>
            <a:ext cx="1003195" cy="834909"/>
          </a:xfrm>
          <a:prstGeom prst="bentConnector3">
            <a:avLst>
              <a:gd name="adj1" fmla="val 100322"/>
            </a:avLst>
          </a:prstGeom>
          <a:ln>
            <a:solidFill>
              <a:srgbClr val="FF505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52F2CD81-23D4-433A-9C6D-B0979D157D9D}"/>
              </a:ext>
            </a:extLst>
          </p:cNvPr>
          <p:cNvCxnSpPr>
            <a:cxnSpLocks/>
          </p:cNvCxnSpPr>
          <p:nvPr/>
        </p:nvCxnSpPr>
        <p:spPr>
          <a:xfrm flipV="1">
            <a:off x="2514602" y="5402695"/>
            <a:ext cx="254035" cy="130805"/>
          </a:xfrm>
          <a:prstGeom prst="straightConnector1">
            <a:avLst/>
          </a:prstGeom>
          <a:ln>
            <a:solidFill>
              <a:srgbClr val="FF5050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4" name="연결선: 꺾임 33">
            <a:extLst>
              <a:ext uri="{FF2B5EF4-FFF2-40B4-BE49-F238E27FC236}">
                <a16:creationId xmlns:a16="http://schemas.microsoft.com/office/drawing/2014/main" id="{8992092A-94D6-4C45-8472-AE377543AD76}"/>
              </a:ext>
            </a:extLst>
          </p:cNvPr>
          <p:cNvCxnSpPr/>
          <p:nvPr/>
        </p:nvCxnSpPr>
        <p:spPr>
          <a:xfrm flipV="1">
            <a:off x="3667125" y="4390500"/>
            <a:ext cx="1343025" cy="505350"/>
          </a:xfrm>
          <a:prstGeom prst="bentConnector3">
            <a:avLst>
              <a:gd name="adj1" fmla="val 34397"/>
            </a:avLst>
          </a:prstGeom>
          <a:ln>
            <a:solidFill>
              <a:srgbClr val="FF5050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1" name="연결선: 꺾임 40">
            <a:extLst>
              <a:ext uri="{FF2B5EF4-FFF2-40B4-BE49-F238E27FC236}">
                <a16:creationId xmlns:a16="http://schemas.microsoft.com/office/drawing/2014/main" id="{2BF5ADDE-164B-4C02-9904-999EB832CCDC}"/>
              </a:ext>
            </a:extLst>
          </p:cNvPr>
          <p:cNvCxnSpPr>
            <a:cxnSpLocks/>
          </p:cNvCxnSpPr>
          <p:nvPr/>
        </p:nvCxnSpPr>
        <p:spPr>
          <a:xfrm flipV="1">
            <a:off x="6008942" y="3895725"/>
            <a:ext cx="761437" cy="494775"/>
          </a:xfrm>
          <a:prstGeom prst="bentConnector3">
            <a:avLst>
              <a:gd name="adj1" fmla="val 50000"/>
            </a:avLst>
          </a:prstGeom>
          <a:ln>
            <a:solidFill>
              <a:srgbClr val="FF5050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6A51C79B-ADF0-4027-9F00-4A62AFB57DA0}"/>
              </a:ext>
            </a:extLst>
          </p:cNvPr>
          <p:cNvCxnSpPr>
            <a:cxnSpLocks/>
          </p:cNvCxnSpPr>
          <p:nvPr/>
        </p:nvCxnSpPr>
        <p:spPr>
          <a:xfrm flipV="1">
            <a:off x="7072595" y="2877622"/>
            <a:ext cx="0" cy="313947"/>
          </a:xfrm>
          <a:prstGeom prst="straightConnector1">
            <a:avLst/>
          </a:prstGeom>
          <a:ln>
            <a:solidFill>
              <a:srgbClr val="FF5050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E25BFF56-21B7-40AC-983B-2A5BBFBADE82}"/>
              </a:ext>
            </a:extLst>
          </p:cNvPr>
          <p:cNvCxnSpPr>
            <a:cxnSpLocks/>
          </p:cNvCxnSpPr>
          <p:nvPr/>
        </p:nvCxnSpPr>
        <p:spPr>
          <a:xfrm flipV="1">
            <a:off x="8515350" y="2409825"/>
            <a:ext cx="142875" cy="111274"/>
          </a:xfrm>
          <a:prstGeom prst="straightConnector1">
            <a:avLst/>
          </a:prstGeom>
          <a:ln>
            <a:solidFill>
              <a:srgbClr val="FF5050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D7352CD1-3319-4C36-A93F-B8CEC94063D6}"/>
              </a:ext>
            </a:extLst>
          </p:cNvPr>
          <p:cNvCxnSpPr>
            <a:cxnSpLocks/>
          </p:cNvCxnSpPr>
          <p:nvPr/>
        </p:nvCxnSpPr>
        <p:spPr>
          <a:xfrm>
            <a:off x="9563100" y="2162175"/>
            <a:ext cx="1193915" cy="0"/>
          </a:xfrm>
          <a:prstGeom prst="straightConnector1">
            <a:avLst/>
          </a:prstGeom>
          <a:ln>
            <a:solidFill>
              <a:srgbClr val="FF5050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578F8D36-30F3-46F6-A91F-4983A00074D3}"/>
              </a:ext>
            </a:extLst>
          </p:cNvPr>
          <p:cNvSpPr txBox="1"/>
          <p:nvPr/>
        </p:nvSpPr>
        <p:spPr>
          <a:xfrm>
            <a:off x="10855181" y="2053281"/>
            <a:ext cx="919643" cy="246221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공포 정치</a:t>
            </a:r>
            <a:endParaRPr lang="en-US" altLang="ko-KR" sz="10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35E325A-4785-4DC1-935C-81080C5E8578}"/>
              </a:ext>
            </a:extLst>
          </p:cNvPr>
          <p:cNvSpPr txBox="1"/>
          <p:nvPr/>
        </p:nvSpPr>
        <p:spPr>
          <a:xfrm>
            <a:off x="10855181" y="2663941"/>
            <a:ext cx="919643" cy="246221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총재 정부</a:t>
            </a:r>
            <a:endParaRPr lang="en-US" altLang="ko-KR" sz="10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11D1650-14A4-4491-8AA6-D6D03D165DE5}"/>
              </a:ext>
            </a:extLst>
          </p:cNvPr>
          <p:cNvSpPr txBox="1"/>
          <p:nvPr/>
        </p:nvSpPr>
        <p:spPr>
          <a:xfrm>
            <a:off x="10855181" y="3258979"/>
            <a:ext cx="919643" cy="246221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나폴레옹 등장</a:t>
            </a:r>
            <a:endParaRPr lang="en-US" altLang="ko-KR" sz="10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3BFF63EE-2C86-4F7F-9213-0F3D7104B472}"/>
              </a:ext>
            </a:extLst>
          </p:cNvPr>
          <p:cNvCxnSpPr>
            <a:cxnSpLocks/>
          </p:cNvCxnSpPr>
          <p:nvPr/>
        </p:nvCxnSpPr>
        <p:spPr>
          <a:xfrm flipH="1">
            <a:off x="11315002" y="2318552"/>
            <a:ext cx="1" cy="313431"/>
          </a:xfrm>
          <a:prstGeom prst="straightConnector1">
            <a:avLst/>
          </a:prstGeom>
          <a:ln>
            <a:solidFill>
              <a:srgbClr val="FF5050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1CB1FFCA-9E91-48A5-AFDF-4EE49283CBCB}"/>
              </a:ext>
            </a:extLst>
          </p:cNvPr>
          <p:cNvCxnSpPr>
            <a:cxnSpLocks/>
          </p:cNvCxnSpPr>
          <p:nvPr/>
        </p:nvCxnSpPr>
        <p:spPr>
          <a:xfrm flipH="1">
            <a:off x="11315002" y="2928152"/>
            <a:ext cx="1" cy="313431"/>
          </a:xfrm>
          <a:prstGeom prst="straightConnector1">
            <a:avLst/>
          </a:prstGeom>
          <a:ln>
            <a:solidFill>
              <a:srgbClr val="FF5050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21928F53-FFCD-41E1-B965-ED46B6E0C816}"/>
              </a:ext>
            </a:extLst>
          </p:cNvPr>
          <p:cNvSpPr txBox="1"/>
          <p:nvPr/>
        </p:nvSpPr>
        <p:spPr>
          <a:xfrm>
            <a:off x="9703876" y="2185975"/>
            <a:ext cx="815537" cy="2308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국민 공회</a:t>
            </a:r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7EAFE14-6F48-4BE3-BAC6-48B557EB7AFD}"/>
              </a:ext>
            </a:extLst>
          </p:cNvPr>
          <p:cNvSpPr txBox="1"/>
          <p:nvPr/>
        </p:nvSpPr>
        <p:spPr>
          <a:xfrm>
            <a:off x="9685244" y="1732061"/>
            <a:ext cx="119391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영국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+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프로이센 동맹 </a:t>
            </a:r>
            <a:endParaRPr lang="en-US" altLang="ko-KR" sz="9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VS </a:t>
            </a:r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프랑스 대항 전쟁</a:t>
            </a:r>
            <a:r>
              <a:rPr lang="en-US" altLang="ko-KR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6568B4B-F13D-4696-8F00-D192FC7B55AF}"/>
              </a:ext>
            </a:extLst>
          </p:cNvPr>
          <p:cNvSpPr txBox="1"/>
          <p:nvPr/>
        </p:nvSpPr>
        <p:spPr>
          <a:xfrm>
            <a:off x="9718456" y="2382604"/>
            <a:ext cx="1580954" cy="2308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반대세력 단두대 무자비 처형</a:t>
            </a:r>
            <a:endParaRPr lang="en-US" altLang="ko-KR" sz="9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02662D0-BA6E-4281-9BEF-1853F404A332}"/>
              </a:ext>
            </a:extLst>
          </p:cNvPr>
          <p:cNvSpPr txBox="1"/>
          <p:nvPr/>
        </p:nvSpPr>
        <p:spPr>
          <a:xfrm>
            <a:off x="8482966" y="3554845"/>
            <a:ext cx="87733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64</a:t>
            </a:r>
            <a:endParaRPr lang="ko-KR" altLang="en-US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62" name="별: 꼭짓점 6개 61">
            <a:extLst>
              <a:ext uri="{FF2B5EF4-FFF2-40B4-BE49-F238E27FC236}">
                <a16:creationId xmlns:a16="http://schemas.microsoft.com/office/drawing/2014/main" id="{CD57414C-900E-405F-B88E-9C22BEFE969C}"/>
              </a:ext>
            </a:extLst>
          </p:cNvPr>
          <p:cNvSpPr/>
          <p:nvPr/>
        </p:nvSpPr>
        <p:spPr>
          <a:xfrm>
            <a:off x="6657975" y="5964961"/>
            <a:ext cx="257252" cy="280077"/>
          </a:xfrm>
          <a:prstGeom prst="star6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136B3CF1-22DF-42C5-A0F0-84E5852AE156}"/>
              </a:ext>
            </a:extLst>
          </p:cNvPr>
          <p:cNvGrpSpPr/>
          <p:nvPr/>
        </p:nvGrpSpPr>
        <p:grpSpPr>
          <a:xfrm>
            <a:off x="153474" y="1516192"/>
            <a:ext cx="6041249" cy="1984873"/>
            <a:chOff x="153474" y="1516192"/>
            <a:chExt cx="6041249" cy="1984873"/>
          </a:xfrm>
        </p:grpSpPr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593BCC0F-A7DC-45C2-BF41-77611C1B076A}"/>
                </a:ext>
              </a:extLst>
            </p:cNvPr>
            <p:cNvSpPr txBox="1"/>
            <p:nvPr/>
          </p:nvSpPr>
          <p:spPr>
            <a:xfrm>
              <a:off x="153474" y="2793179"/>
              <a:ext cx="3272572" cy="70788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10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프랑스 사회는 매우 </a:t>
              </a:r>
              <a:r>
                <a:rPr lang="ko-KR" altLang="en-US" sz="1000" dirty="0" err="1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잘못됐어</a:t>
              </a:r>
              <a:r>
                <a:rPr lang="en-US" altLang="ko-KR" sz="10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! </a:t>
              </a:r>
              <a:r>
                <a:rPr lang="ko-KR" altLang="en-US" sz="10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토지세에 인두세까지</a:t>
              </a:r>
              <a:r>
                <a:rPr lang="en-US" altLang="ko-KR" sz="10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, </a:t>
              </a:r>
              <a:r>
                <a:rPr lang="ko-KR" altLang="en-US" sz="10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정말 살 수가 없군</a:t>
              </a:r>
              <a:r>
                <a:rPr lang="en-US" altLang="ko-KR" sz="10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. </a:t>
              </a:r>
              <a:r>
                <a:rPr lang="ko-KR" altLang="en-US" sz="10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나는 돈도 좀 있고 제법 멋진 생활을 하고 있어</a:t>
              </a:r>
              <a:r>
                <a:rPr lang="en-US" altLang="ko-KR" sz="10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. </a:t>
              </a:r>
              <a:r>
                <a:rPr lang="ko-KR" altLang="en-US" sz="10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귀족과 별반 다르지 않다고</a:t>
              </a:r>
              <a:r>
                <a:rPr lang="en-US" altLang="ko-KR" sz="10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. </a:t>
              </a:r>
              <a:r>
                <a:rPr lang="ko-KR" altLang="en-US" sz="10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하지만 귀족들은 온갖 특권을 다 누리는데 나는 그럴 수 없다니 정말 화가 나고 억울해</a:t>
              </a:r>
              <a:r>
                <a:rPr lang="en-US" altLang="ko-KR" sz="1000" dirty="0">
                  <a:solidFill>
                    <a:srgbClr val="C000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.</a:t>
              </a:r>
              <a:endPara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E88F1502-2BFF-4DDB-8A59-9605D4E36826}"/>
                </a:ext>
              </a:extLst>
            </p:cNvPr>
            <p:cNvSpPr txBox="1"/>
            <p:nvPr/>
          </p:nvSpPr>
          <p:spPr>
            <a:xfrm>
              <a:off x="4851698" y="1516192"/>
              <a:ext cx="1343025" cy="1169551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10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세금은 내지 않고 들판에 펼쳐진 땅은 </a:t>
              </a:r>
              <a:r>
                <a:rPr lang="ko-KR" altLang="en-US" sz="1000" dirty="0" err="1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내것이다</a:t>
              </a:r>
              <a:r>
                <a:rPr lang="en-US" altLang="ko-KR" sz="10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. </a:t>
              </a:r>
              <a:r>
                <a:rPr lang="ko-KR" altLang="en-US" sz="10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귀족의 삶은 참 좋지</a:t>
              </a:r>
              <a:r>
                <a:rPr lang="en-US" altLang="ko-KR" sz="10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. </a:t>
              </a:r>
              <a:r>
                <a:rPr lang="ko-KR" altLang="en-US" sz="10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특권을 누리며 살 수 있어서 행복해</a:t>
              </a:r>
              <a:r>
                <a:rPr lang="en-US" altLang="ko-KR" sz="10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. </a:t>
              </a:r>
              <a:r>
                <a:rPr lang="ko-KR" altLang="en-US" sz="10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이런 세상이 오래 갔으면 좋겠군</a:t>
              </a:r>
              <a:r>
                <a:rPr lang="en-US" altLang="ko-KR" sz="1000" dirty="0">
                  <a:solidFill>
                    <a:srgbClr val="003300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.</a:t>
              </a:r>
            </a:p>
          </p:txBody>
        </p:sp>
      </p:grpSp>
      <p:sp>
        <p:nvSpPr>
          <p:cNvPr id="66" name="TextBox 65">
            <a:extLst>
              <a:ext uri="{FF2B5EF4-FFF2-40B4-BE49-F238E27FC236}">
                <a16:creationId xmlns:a16="http://schemas.microsoft.com/office/drawing/2014/main" id="{DD3E3894-9267-4016-9553-A93805CAFFA6}"/>
              </a:ext>
            </a:extLst>
          </p:cNvPr>
          <p:cNvSpPr txBox="1"/>
          <p:nvPr/>
        </p:nvSpPr>
        <p:spPr>
          <a:xfrm>
            <a:off x="71414" y="3729681"/>
            <a:ext cx="1475114" cy="246221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프랑스 혁명 계기</a:t>
            </a:r>
            <a:endParaRPr lang="en-US" altLang="ko-KR" sz="10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8F48E96-4DC9-4ABB-88C4-E18696154080}"/>
              </a:ext>
            </a:extLst>
          </p:cNvPr>
          <p:cNvSpPr txBox="1"/>
          <p:nvPr/>
        </p:nvSpPr>
        <p:spPr>
          <a:xfrm>
            <a:off x="9331" y="6258802"/>
            <a:ext cx="6514813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1)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프랑스 왕실은 화려한 궁중 생활을 유지하기 위한 사치와 미국 혁명 지원 등으로 재정이 매우 </a:t>
            </a:r>
            <a:r>
              <a:rPr lang="ko-KR" altLang="en-US" sz="1000" dirty="0" err="1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궁핍해졌다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게다가 흉년까지 겹쳐 문제는 더 </a:t>
            </a:r>
            <a:r>
              <a:rPr lang="ko-KR" altLang="en-US" sz="1000" dirty="0" err="1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심각해졌다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결국 루이 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16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세는 재정 위기를 해결하기 위해 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1614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년 이래 한 번도 열리지 않았던 삼부회를 소집하였다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endParaRPr lang="en-US" altLang="ko-KR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75E127A-EE3E-44EB-95F4-7A64B15F62FE}"/>
              </a:ext>
            </a:extLst>
          </p:cNvPr>
          <p:cNvSpPr txBox="1"/>
          <p:nvPr/>
        </p:nvSpPr>
        <p:spPr>
          <a:xfrm>
            <a:off x="2752531" y="5649202"/>
            <a:ext cx="3771613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2)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삼부회는 소집되자마자 투표의 표결 방식을 둘러싸고 서로 대립하였다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제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3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신분은 머릿수 표결 방식의 요구가 받아들여지지 않자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국민 의회를 구성하고 헌법을 제정하기 전에는 해산하지 않겠다고 서약했다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endParaRPr lang="en-US" altLang="ko-KR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33356FE-DE3B-4A3E-B9E1-8B17FC864328}"/>
              </a:ext>
            </a:extLst>
          </p:cNvPr>
          <p:cNvSpPr txBox="1"/>
          <p:nvPr/>
        </p:nvSpPr>
        <p:spPr>
          <a:xfrm>
            <a:off x="4265755" y="4810938"/>
            <a:ext cx="2533844" cy="7078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3)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루이 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16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세가 국민 의회를 무력으로 해산하려고 하자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파리 민중은 이에 저항하여 바스티유 감옥을 습격하였다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 바스티유 감옥은 왕의 절대적인 권력을 상징하는 곳이었다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B527ADA-D9E1-4958-9C82-5DD1DEE8BA1B}"/>
              </a:ext>
            </a:extLst>
          </p:cNvPr>
          <p:cNvSpPr txBox="1"/>
          <p:nvPr/>
        </p:nvSpPr>
        <p:spPr>
          <a:xfrm>
            <a:off x="6875605" y="4476834"/>
            <a:ext cx="2533844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                  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자유               평등</a:t>
            </a:r>
            <a:endParaRPr lang="en-US" altLang="ko-KR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endParaRPr lang="en-US" altLang="ko-KR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endParaRPr lang="en-US" altLang="ko-KR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endParaRPr lang="en-US" altLang="ko-KR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endParaRPr lang="en-US" altLang="ko-KR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                                 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저항권</a:t>
            </a:r>
            <a:endParaRPr lang="en-US" altLang="ko-KR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endParaRPr lang="en-US" altLang="ko-KR" sz="5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                        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국민</a:t>
            </a:r>
            <a:endParaRPr lang="en-US" altLang="ko-KR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4F3E47D-F2E7-4FB6-8CB1-E934A6EC45DB}"/>
              </a:ext>
            </a:extLst>
          </p:cNvPr>
          <p:cNvSpPr txBox="1"/>
          <p:nvPr/>
        </p:nvSpPr>
        <p:spPr>
          <a:xfrm>
            <a:off x="7698817" y="5832995"/>
            <a:ext cx="448385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[16~18</a:t>
            </a:r>
            <a:r>
              <a:rPr lang="ko-KR" altLang="en-US" sz="10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세기 </a:t>
            </a:r>
            <a:r>
              <a:rPr lang="en-US" altLang="ko-KR" sz="10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sz="10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봉건제가 무너지고 중앙 집권적 통일 국가 등장하며 절대 왕정 출현</a:t>
            </a:r>
            <a:r>
              <a:rPr lang="en-US" altLang="ko-KR" sz="10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09A6CF7-0D46-4BE0-B1C3-F2C826699677}"/>
              </a:ext>
            </a:extLst>
          </p:cNvPr>
          <p:cNvSpPr txBox="1"/>
          <p:nvPr/>
        </p:nvSpPr>
        <p:spPr>
          <a:xfrm>
            <a:off x="6400800" y="6155407"/>
            <a:ext cx="5791006" cy="55399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5)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혁명이 일어나기 전 프랑스는 국왕에게 권력이 집중된 절대 왕정 국가였는데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국왕의 권력은 구제도라 불리는 불평등한 신분제에 바탕을 두었다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프랑스 혁명이 일어나면서 국민 의회는 봉건제 폐지를 선언하고 인권 선언을 발표했는데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이는 인간의 자유와 평등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주권 재민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재산권 등을 담으며 구제도 모순을 타파한 것이다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endParaRPr lang="en-US" altLang="ko-KR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369AC55E-BE3A-41C2-B3D8-BC673696CDFC}"/>
              </a:ext>
            </a:extLst>
          </p:cNvPr>
          <p:cNvSpPr txBox="1"/>
          <p:nvPr/>
        </p:nvSpPr>
        <p:spPr>
          <a:xfrm>
            <a:off x="7756152" y="3755107"/>
            <a:ext cx="4202766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6)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헌법에 의해 권력을 제한 받는 군주이다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(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입헌 군주제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</a:p>
          <a:p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군주는 있지만 통치하지 않고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헌법에 의해 군주의 권력이 제한되는 정치 형태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42263DA-7BBF-4E46-9AF6-521FB0DF4B5F}"/>
              </a:ext>
            </a:extLst>
          </p:cNvPr>
          <p:cNvSpPr txBox="1"/>
          <p:nvPr/>
        </p:nvSpPr>
        <p:spPr>
          <a:xfrm>
            <a:off x="6555264" y="2237619"/>
            <a:ext cx="1011654" cy="584775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하지만</a:t>
            </a:r>
            <a:r>
              <a:rPr lang="en-US" altLang="ko-KR" sz="8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8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루이 </a:t>
            </a:r>
            <a:r>
              <a:rPr lang="en-US" altLang="ko-KR" sz="8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16</a:t>
            </a:r>
            <a:r>
              <a:rPr lang="ko-KR" altLang="en-US" sz="8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세 </a:t>
            </a:r>
            <a:endParaRPr lang="en-US" altLang="ko-KR" sz="8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8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국민의회 권리선언</a:t>
            </a:r>
            <a:endParaRPr lang="en-US" altLang="ko-KR" sz="8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8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받아들이지 않아</a:t>
            </a:r>
            <a:endParaRPr lang="en-US" altLang="ko-KR" sz="8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8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베르사유 궁전 행진</a:t>
            </a:r>
            <a:endParaRPr lang="en-US" altLang="ko-KR" sz="8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87" name="연결선: 꺾임 86">
            <a:extLst>
              <a:ext uri="{FF2B5EF4-FFF2-40B4-BE49-F238E27FC236}">
                <a16:creationId xmlns:a16="http://schemas.microsoft.com/office/drawing/2014/main" id="{9E0AD8BF-620E-4D46-B1E3-15CF8B2286BF}"/>
              </a:ext>
            </a:extLst>
          </p:cNvPr>
          <p:cNvCxnSpPr>
            <a:cxnSpLocks/>
          </p:cNvCxnSpPr>
          <p:nvPr/>
        </p:nvCxnSpPr>
        <p:spPr>
          <a:xfrm flipV="1">
            <a:off x="7072595" y="1850728"/>
            <a:ext cx="418077" cy="339830"/>
          </a:xfrm>
          <a:prstGeom prst="bentConnector3">
            <a:avLst>
              <a:gd name="adj1" fmla="val 2826"/>
            </a:avLst>
          </a:prstGeom>
          <a:ln>
            <a:solidFill>
              <a:srgbClr val="FF505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1FA80CB0-9564-4F41-A90B-9267FE5CF65B}"/>
              </a:ext>
            </a:extLst>
          </p:cNvPr>
          <p:cNvSpPr/>
          <p:nvPr/>
        </p:nvSpPr>
        <p:spPr>
          <a:xfrm>
            <a:off x="7756152" y="3066937"/>
            <a:ext cx="662596" cy="192042"/>
          </a:xfrm>
          <a:prstGeom prst="rect">
            <a:avLst/>
          </a:prstGeom>
          <a:noFill/>
          <a:ln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46D6D6DB-15DC-4CA8-A377-B4FE40D25F26}"/>
              </a:ext>
            </a:extLst>
          </p:cNvPr>
          <p:cNvSpPr txBox="1"/>
          <p:nvPr/>
        </p:nvSpPr>
        <p:spPr>
          <a:xfrm>
            <a:off x="7575670" y="1732061"/>
            <a:ext cx="1120107" cy="461665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“</a:t>
            </a:r>
            <a:r>
              <a:rPr lang="ko-KR" altLang="en-US" sz="8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왕의 권력을 제한하며 의회가 국민의 뜻에 따라 나라를 이끌어간다</a:t>
            </a:r>
            <a:r>
              <a:rPr lang="en-US" altLang="ko-KR" sz="8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.”</a:t>
            </a:r>
            <a:endParaRPr lang="ko-KR" altLang="en-US" sz="8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11FFC6DC-BBED-42C9-9B78-09ED8504F00C}"/>
              </a:ext>
            </a:extLst>
          </p:cNvPr>
          <p:cNvSpPr txBox="1"/>
          <p:nvPr/>
        </p:nvSpPr>
        <p:spPr>
          <a:xfrm>
            <a:off x="7638332" y="2591562"/>
            <a:ext cx="111220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자유</a:t>
            </a:r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 </a:t>
            </a:r>
            <a:r>
              <a:rPr lang="ko-KR" altLang="en-US" sz="9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평등</a:t>
            </a:r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  </a:t>
            </a:r>
            <a:r>
              <a:rPr lang="ko-KR" altLang="en-US" sz="900" dirty="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우애</a:t>
            </a:r>
          </a:p>
        </p:txBody>
      </p:sp>
    </p:spTree>
    <p:extLst>
      <p:ext uri="{BB962C8B-B14F-4D97-AF65-F5344CB8AC3E}">
        <p14:creationId xmlns:p14="http://schemas.microsoft.com/office/powerpoint/2010/main" val="1392496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" grpId="0" animBg="1"/>
      <p:bldP spid="70" grpId="0" animBg="1"/>
      <p:bldP spid="73" grpId="0" animBg="1"/>
      <p:bldP spid="74" grpId="0" animBg="1"/>
      <p:bldP spid="76" grpId="0" animBg="1"/>
      <p:bldP spid="7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5" t="11154" r="640" b="1795"/>
          <a:stretch/>
        </p:blipFill>
        <p:spPr>
          <a:xfrm>
            <a:off x="1100711" y="725754"/>
            <a:ext cx="10105926" cy="608326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E00938F-2FF2-4468-A6AE-871128E33ED8}"/>
              </a:ext>
            </a:extLst>
          </p:cNvPr>
          <p:cNvSpPr txBox="1"/>
          <p:nvPr/>
        </p:nvSpPr>
        <p:spPr>
          <a:xfrm>
            <a:off x="109057" y="3641"/>
            <a:ext cx="7998543" cy="467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세계사 이슈 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나폴레옹을 바라보는 두 가지 시선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63EA575-62A7-4F50-8560-66486DD36F2E}"/>
              </a:ext>
            </a:extLst>
          </p:cNvPr>
          <p:cNvGrpSpPr/>
          <p:nvPr/>
        </p:nvGrpSpPr>
        <p:grpSpPr>
          <a:xfrm>
            <a:off x="0" y="1"/>
            <a:ext cx="12201331" cy="6851339"/>
            <a:chOff x="0" y="1"/>
            <a:chExt cx="12201331" cy="6851339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01313867-FA00-4F30-8C60-5E9F0D8D6998}"/>
                </a:ext>
              </a:extLst>
            </p:cNvPr>
            <p:cNvSpPr/>
            <p:nvPr/>
          </p:nvSpPr>
          <p:spPr>
            <a:xfrm>
              <a:off x="0" y="1"/>
              <a:ext cx="109057" cy="509173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7030A0"/>
                </a:solidFill>
              </a:endParaRPr>
            </a:p>
          </p:txBody>
        </p: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C72691C7-BB97-4D31-940D-448688A6C154}"/>
                </a:ext>
              </a:extLst>
            </p:cNvPr>
            <p:cNvCxnSpPr>
              <a:cxnSpLocks/>
            </p:cNvCxnSpPr>
            <p:nvPr/>
          </p:nvCxnSpPr>
          <p:spPr>
            <a:xfrm>
              <a:off x="2279" y="513458"/>
              <a:ext cx="12192000" cy="0"/>
            </a:xfrm>
            <a:prstGeom prst="line">
              <a:avLst/>
            </a:prstGeom>
            <a:ln w="9525" cmpd="sng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C593A63-C37D-40EB-BA52-94A232F1D9B8}"/>
                </a:ext>
              </a:extLst>
            </p:cNvPr>
            <p:cNvSpPr txBox="1"/>
            <p:nvPr/>
          </p:nvSpPr>
          <p:spPr>
            <a:xfrm>
              <a:off x="9331" y="6528945"/>
              <a:ext cx="12192000" cy="280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한우리</a:t>
              </a:r>
              <a:r>
                <a:rPr lang="ko-KR" altLang="en-US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독서토론논술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안락 </a:t>
              </a:r>
              <a:r>
                <a:rPr lang="en-US" altLang="ko-KR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sk</a:t>
              </a:r>
              <a:r>
                <a:rPr lang="en-US" altLang="ko-KR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</a:t>
              </a: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논술교습소</a:t>
              </a:r>
              <a:endParaRPr lang="ko-KR" altLang="en-US" sz="900" dirty="0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endParaRP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8A3A3578-3881-4BBB-A1F1-417F84AFCEA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1340"/>
              <a:ext cx="12192000" cy="0"/>
            </a:xfrm>
            <a:prstGeom prst="line">
              <a:avLst/>
            </a:prstGeom>
            <a:ln w="762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A1A34CDC-E9A6-425C-89DB-BC4DD4F990E6}"/>
              </a:ext>
            </a:extLst>
          </p:cNvPr>
          <p:cNvSpPr txBox="1"/>
          <p:nvPr/>
        </p:nvSpPr>
        <p:spPr>
          <a:xfrm>
            <a:off x="109056" y="551491"/>
            <a:ext cx="9968394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▶ 프랑스 혁명 기간 동안 펼쳐진 나폴레옹 전쟁이 유럽에 미친 영향을 이해하고</a:t>
            </a:r>
            <a:r>
              <a:rPr lang="en-US" altLang="ko-KR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나폴레옹의 행동을 평가해 보자</a:t>
            </a:r>
            <a:r>
              <a:rPr lang="en-US" altLang="ko-KR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endParaRPr lang="ko-KR" altLang="en-US" sz="11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4DFA22A-18C7-4BDC-8713-8DF6058252AC}"/>
              </a:ext>
            </a:extLst>
          </p:cNvPr>
          <p:cNvSpPr txBox="1"/>
          <p:nvPr/>
        </p:nvSpPr>
        <p:spPr>
          <a:xfrm>
            <a:off x="1571773" y="2807872"/>
            <a:ext cx="52707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65</a:t>
            </a:r>
            <a:endParaRPr lang="ko-KR" altLang="en-US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C59CB84-5302-4B66-85C5-D9F17C16A27D}"/>
              </a:ext>
            </a:extLst>
          </p:cNvPr>
          <p:cNvSpPr txBox="1"/>
          <p:nvPr/>
        </p:nvSpPr>
        <p:spPr>
          <a:xfrm>
            <a:off x="3540102" y="2808789"/>
            <a:ext cx="52707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74</a:t>
            </a:r>
            <a:endParaRPr lang="ko-KR" altLang="en-US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2091C5E-DD51-47FF-BC40-212394D3237B}"/>
              </a:ext>
            </a:extLst>
          </p:cNvPr>
          <p:cNvSpPr txBox="1"/>
          <p:nvPr/>
        </p:nvSpPr>
        <p:spPr>
          <a:xfrm>
            <a:off x="4337941" y="5445801"/>
            <a:ext cx="52707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75</a:t>
            </a:r>
            <a:endParaRPr lang="ko-KR" altLang="en-US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25FDE0D-B7CE-4992-9096-3CC61D56F9FE}"/>
              </a:ext>
            </a:extLst>
          </p:cNvPr>
          <p:cNvSpPr txBox="1"/>
          <p:nvPr/>
        </p:nvSpPr>
        <p:spPr>
          <a:xfrm>
            <a:off x="8102577" y="4151814"/>
            <a:ext cx="52707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80</a:t>
            </a:r>
            <a:endParaRPr lang="ko-KR" altLang="en-US" sz="11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2BD423A-3071-4EB4-9E4F-33CD6C7BF987}"/>
              </a:ext>
            </a:extLst>
          </p:cNvPr>
          <p:cNvSpPr txBox="1"/>
          <p:nvPr/>
        </p:nvSpPr>
        <p:spPr>
          <a:xfrm>
            <a:off x="10418773" y="3038554"/>
            <a:ext cx="1640008" cy="246221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>
                <a:solidFill>
                  <a:schemeClr val="bg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프랑스 혁명의 의의</a:t>
            </a:r>
            <a:endParaRPr lang="en-US" altLang="ko-KR" sz="1000" dirty="0">
              <a:solidFill>
                <a:schemeClr val="bg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62C38AF-CA98-4EDB-A130-A6A02AED8D08}"/>
              </a:ext>
            </a:extLst>
          </p:cNvPr>
          <p:cNvSpPr txBox="1"/>
          <p:nvPr/>
        </p:nvSpPr>
        <p:spPr>
          <a:xfrm>
            <a:off x="11531708" y="2807872"/>
            <a:ext cx="52707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76</a:t>
            </a:r>
            <a:endParaRPr lang="ko-KR" altLang="en-US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69193EA-8607-40EB-A18B-703F1EA33D43}"/>
              </a:ext>
            </a:extLst>
          </p:cNvPr>
          <p:cNvSpPr txBox="1"/>
          <p:nvPr/>
        </p:nvSpPr>
        <p:spPr>
          <a:xfrm>
            <a:off x="9833347" y="5198177"/>
            <a:ext cx="11708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p. 86~87</a:t>
            </a:r>
            <a:endParaRPr lang="ko-KR" altLang="en-US" sz="9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CEB414F-0519-4CCF-9A67-0E24B868F990}"/>
              </a:ext>
            </a:extLst>
          </p:cNvPr>
          <p:cNvSpPr txBox="1"/>
          <p:nvPr/>
        </p:nvSpPr>
        <p:spPr>
          <a:xfrm>
            <a:off x="10554783" y="5048864"/>
            <a:ext cx="1503998" cy="230832"/>
          </a:xfrm>
          <a:prstGeom prst="rect">
            <a:avLst/>
          </a:prstGeom>
          <a:noFill/>
          <a:ln>
            <a:solidFill>
              <a:srgbClr val="0033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“</a:t>
            </a:r>
            <a:r>
              <a:rPr lang="ko-KR" altLang="en-US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내 사전에 불가능은 없다</a:t>
            </a:r>
            <a:r>
              <a:rPr lang="en-US" altLang="ko-KR" sz="9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＂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0C0FE0D-5E16-49EA-A2A2-61DD06D8AB23}"/>
              </a:ext>
            </a:extLst>
          </p:cNvPr>
          <p:cNvSpPr txBox="1"/>
          <p:nvPr/>
        </p:nvSpPr>
        <p:spPr>
          <a:xfrm>
            <a:off x="0" y="886359"/>
            <a:ext cx="1347111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험난한 혁명의 과정을 거쳐 공화정을 세웠지만 프랑스 시민들은 공포 정치와 외국의 침입에 시달려야 했다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</a:p>
          <a:p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그래서 누군가 강력한 지도자가 나타나 자신들을 이끌어 주기를 바랐다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그러던 중에 나폴레옹이 혼란스러운 프랑스 사회를 안정시켰기 때문에 황제까지 될 수 있었다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FE5E662-A49E-467D-9B15-72F09371F46B}"/>
              </a:ext>
            </a:extLst>
          </p:cNvPr>
          <p:cNvSpPr txBox="1"/>
          <p:nvPr/>
        </p:nvSpPr>
        <p:spPr>
          <a:xfrm>
            <a:off x="0" y="3145465"/>
            <a:ext cx="143435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_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프랑스 혁명의 정신을 법제화하고 이를 널리 공표하기 위해서</a:t>
            </a:r>
            <a:endParaRPr lang="en-US" altLang="ko-KR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_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국가 재정을 늘리고 국민들의 삶의 질을 높이기 위해서</a:t>
            </a:r>
            <a:endParaRPr lang="en-US" altLang="ko-KR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_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프랑스의 국력을 강화하기 위해서</a:t>
            </a:r>
            <a:endParaRPr lang="en-US" altLang="ko-KR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_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프랑스를 유럽의 중심 국가로 만들기 위해서</a:t>
            </a:r>
            <a:endParaRPr lang="en-US" altLang="ko-KR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_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언어가 하나로 통일되지 않아 불편했을 국민들을 편하게 해 주고 국민들에게 공동체 의식을 심어주어 보다 원활한 통치를 위해서</a:t>
            </a:r>
            <a:endParaRPr lang="en-US" altLang="ko-KR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B6E79C5-5EE8-4249-B86E-DE682FD0141A}"/>
              </a:ext>
            </a:extLst>
          </p:cNvPr>
          <p:cNvSpPr txBox="1"/>
          <p:nvPr/>
        </p:nvSpPr>
        <p:spPr>
          <a:xfrm>
            <a:off x="0" y="5832240"/>
            <a:ext cx="6185647" cy="7078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나폴레옹은 영국을 고립시키기 위해 대륙 봉쇄령을 내렸는데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러시아가 대륙 봉쇄령을 어기고 영국에 곡물을 수출하자 러시아를 응징하기 위해 모스크바로 쳐들어갔다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그러나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나폴레옹 군대는 러시아 원정에 실패하였고 결국 나폴레옹은 </a:t>
            </a:r>
            <a:r>
              <a:rPr lang="ko-KR" altLang="en-US" sz="1000" dirty="0" err="1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엘바섬으로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유배되었다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그 후 나폴레옹은 </a:t>
            </a:r>
            <a:r>
              <a:rPr lang="ko-KR" altLang="en-US" sz="1000" dirty="0" err="1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엘바섬을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탈출하여 영국과 워털루 전쟁을 벌였으나 전쟁에서 지고 </a:t>
            </a:r>
            <a:r>
              <a:rPr lang="ko-KR" altLang="en-US" sz="1000" dirty="0" err="1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세인트헬레나섬으로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유배되었다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이러한 과정을 거치면서 나폴레옹은 몰락하게 되었다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C2B438C-3A4E-49F4-8474-72766D33E4CC}"/>
              </a:ext>
            </a:extLst>
          </p:cNvPr>
          <p:cNvSpPr txBox="1"/>
          <p:nvPr/>
        </p:nvSpPr>
        <p:spPr>
          <a:xfrm>
            <a:off x="3278833" y="5320901"/>
            <a:ext cx="108883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9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영국</a:t>
            </a:r>
            <a:r>
              <a:rPr lang="en-US" altLang="ko-KR" sz="9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9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러시아 제외</a:t>
            </a:r>
            <a:r>
              <a:rPr lang="en-US" altLang="ko-KR" sz="900" dirty="0">
                <a:solidFill>
                  <a:srgbClr val="7030A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25EF403-B210-491C-8D7D-FCDBFD382B04}"/>
              </a:ext>
            </a:extLst>
          </p:cNvPr>
          <p:cNvSpPr txBox="1"/>
          <p:nvPr/>
        </p:nvSpPr>
        <p:spPr>
          <a:xfrm>
            <a:off x="10318376" y="1215417"/>
            <a:ext cx="1864659" cy="147732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프랑스 혁명의 정신은 나폴레옹 전쟁을 통해 유럽 각국으로 전파되었다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신분제를 타파하고 개인의 자유와 평등을 이루고 권리를 확대하려는 자유주의 운동이 곳곳에서 일어났다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또한 주변국의 간섭에서 벗어나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한 민족이 하나의 통일 국가를 이루려는 민족주의 운동도 일어났다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9226083-C1A4-4B6A-88D5-4224E3EF08AD}"/>
              </a:ext>
            </a:extLst>
          </p:cNvPr>
          <p:cNvSpPr txBox="1"/>
          <p:nvPr/>
        </p:nvSpPr>
        <p:spPr>
          <a:xfrm>
            <a:off x="10228729" y="3268335"/>
            <a:ext cx="1954306" cy="163121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_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자유로운 근대 시민 사회의 토대 마련한 시민 혁명</a:t>
            </a:r>
            <a:endParaRPr lang="en-US" altLang="ko-KR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_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자유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평등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우애의 정신 민주주의 이념 제시</a:t>
            </a:r>
            <a:endParaRPr lang="en-US" altLang="ko-KR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_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잘못된 구제도 모순 바로잡음</a:t>
            </a:r>
            <a:endParaRPr lang="en-US" altLang="ko-KR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_ </a:t>
            </a:r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개인의 양심과 신앙이 존중되는 사회</a:t>
            </a:r>
            <a:endParaRPr lang="en-US" altLang="ko-KR" sz="1000" dirty="0">
              <a:solidFill>
                <a:srgbClr val="0033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→ 나폴레옹 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시민 계급이 주도하는 자유주의 사회로의 전환과 자유 민주주의 사회 형성의 토대 마련</a:t>
            </a:r>
            <a:endParaRPr lang="en-US" altLang="ko-KR" sz="10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1D793F0-0404-414B-A250-66DDE8DABA27}"/>
              </a:ext>
            </a:extLst>
          </p:cNvPr>
          <p:cNvSpPr txBox="1"/>
          <p:nvPr/>
        </p:nvSpPr>
        <p:spPr>
          <a:xfrm>
            <a:off x="5908432" y="3892983"/>
            <a:ext cx="4320298" cy="1000274"/>
          </a:xfrm>
          <a:prstGeom prst="rect">
            <a:avLst/>
          </a:prstGeom>
          <a:solidFill>
            <a:schemeClr val="bg1"/>
          </a:solidFill>
          <a:ln>
            <a:solidFill>
              <a:srgbClr val="FF505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rgbClr val="FF505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</a:t>
            </a:r>
            <a:r>
              <a:rPr lang="ko-KR" altLang="en-US" sz="900" dirty="0">
                <a:solidFill>
                  <a:srgbClr val="FF505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차티스트 운동</a:t>
            </a:r>
            <a:r>
              <a:rPr lang="en-US" altLang="ko-KR" sz="900" dirty="0">
                <a:solidFill>
                  <a:srgbClr val="FF505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</a:p>
          <a:p>
            <a:r>
              <a:rPr lang="ko-KR" altLang="en-US" sz="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노동자 서명 운동</a:t>
            </a:r>
            <a:r>
              <a:rPr lang="en-US" altLang="ko-KR" sz="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</a:t>
            </a:r>
            <a:r>
              <a:rPr lang="ko-KR" altLang="en-US" sz="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en-US" altLang="ko-KR" sz="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‘</a:t>
            </a:r>
            <a:r>
              <a:rPr lang="ko-KR" altLang="en-US" sz="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선거권을 주지 않는게 공평하지않다</a:t>
            </a:r>
            <a:r>
              <a:rPr lang="en-US" altLang="ko-KR" sz="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‘, </a:t>
            </a:r>
            <a:r>
              <a:rPr lang="ko-KR" altLang="en-US" sz="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유럽에서 처음으로 노동자의 정치 운동</a:t>
            </a:r>
            <a:endParaRPr lang="en-US" altLang="ko-KR" sz="8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en-US" altLang="ko-KR" sz="900" dirty="0">
                <a:solidFill>
                  <a:srgbClr val="FF505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[7</a:t>
            </a:r>
            <a:r>
              <a:rPr lang="ko-KR" altLang="en-US" sz="900" dirty="0">
                <a:solidFill>
                  <a:srgbClr val="FF505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월 혁명</a:t>
            </a:r>
            <a:r>
              <a:rPr lang="en-US" altLang="ko-KR" sz="900" dirty="0">
                <a:solidFill>
                  <a:srgbClr val="FF505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</a:p>
          <a:p>
            <a:r>
              <a:rPr lang="ko-KR" altLang="en-US" sz="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메테르니히 </a:t>
            </a:r>
            <a:r>
              <a:rPr lang="en-US" altLang="ko-KR" sz="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‘</a:t>
            </a:r>
            <a:r>
              <a:rPr lang="ko-KR" altLang="en-US" sz="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빈 체제</a:t>
            </a:r>
            <a:r>
              <a:rPr lang="en-US" altLang="ko-KR" sz="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＇</a:t>
            </a:r>
            <a:r>
              <a:rPr lang="ko-KR" altLang="en-US" sz="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이후 실시된 절대 왕정 </a:t>
            </a:r>
            <a:r>
              <a:rPr lang="ko-KR" altLang="en-US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→</a:t>
            </a:r>
            <a:r>
              <a:rPr lang="ko-KR" altLang="en-US" sz="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불만을 가진 시민들이 샤를 </a:t>
            </a:r>
            <a:r>
              <a:rPr lang="en-US" altLang="ko-KR" sz="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10</a:t>
            </a:r>
            <a:r>
              <a:rPr lang="ko-KR" altLang="en-US" sz="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세를 쫓아냄 </a:t>
            </a:r>
            <a:endParaRPr lang="en-US" altLang="ko-KR" sz="8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ko-KR" altLang="en-US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→</a:t>
            </a:r>
            <a:r>
              <a:rPr lang="ko-KR" altLang="en-US" sz="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루이 필리프를 </a:t>
            </a:r>
            <a:r>
              <a:rPr lang="en-US" altLang="ko-KR" sz="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‘</a:t>
            </a:r>
            <a:r>
              <a:rPr lang="ko-KR" altLang="en-US" sz="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시민의 왕</a:t>
            </a:r>
            <a:r>
              <a:rPr lang="en-US" altLang="ko-KR" sz="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＇</a:t>
            </a:r>
            <a:r>
              <a:rPr lang="ko-KR" altLang="en-US" sz="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으로 추대한 사건 </a:t>
            </a:r>
            <a:r>
              <a:rPr lang="en-US" altLang="ko-KR" sz="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sz="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시민과 노동자의 성장</a:t>
            </a:r>
            <a:endParaRPr lang="en-US" altLang="ko-KR" sz="8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r>
              <a:rPr lang="en-US" altLang="ko-KR" sz="900" dirty="0">
                <a:solidFill>
                  <a:srgbClr val="FF505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[2</a:t>
            </a:r>
            <a:r>
              <a:rPr lang="ko-KR" altLang="en-US" sz="900" dirty="0">
                <a:solidFill>
                  <a:srgbClr val="FF505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월 혁명</a:t>
            </a:r>
            <a:r>
              <a:rPr lang="en-US" altLang="ko-KR" sz="900" dirty="0">
                <a:solidFill>
                  <a:srgbClr val="FF505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]</a:t>
            </a:r>
          </a:p>
          <a:p>
            <a:r>
              <a:rPr lang="ko-KR" altLang="en-US" sz="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시민 노동자 혁명</a:t>
            </a:r>
            <a:r>
              <a:rPr lang="en-US" altLang="ko-KR" sz="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재산을 가진 상층 시민에게만 선거권</a:t>
            </a:r>
            <a:r>
              <a:rPr lang="ko-KR" altLang="en-US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→ </a:t>
            </a:r>
            <a:r>
              <a:rPr lang="ko-KR" altLang="en-US" sz="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루이 필리프 처형 후 </a:t>
            </a:r>
            <a:r>
              <a:rPr lang="ko-KR" altLang="en-US" sz="8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공화정</a:t>
            </a:r>
            <a:r>
              <a:rPr lang="ko-KR" altLang="en-US" sz="8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8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→</a:t>
            </a:r>
            <a:r>
              <a:rPr lang="ko-KR" altLang="en-US" sz="800" dirty="0" err="1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빈체제</a:t>
            </a:r>
            <a:r>
              <a:rPr lang="ko-KR" altLang="en-US" sz="8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붕괴</a:t>
            </a:r>
            <a:endParaRPr lang="en-US" altLang="ko-KR" sz="8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17F17DB-DCDB-44C8-B958-540ED9EDB884}"/>
              </a:ext>
            </a:extLst>
          </p:cNvPr>
          <p:cNvSpPr txBox="1"/>
          <p:nvPr/>
        </p:nvSpPr>
        <p:spPr>
          <a:xfrm>
            <a:off x="7808258" y="5500546"/>
            <a:ext cx="440240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시민을 억압하는 왕정을 무너뜨리고 자유와 평등의 혁명 정신으로 해방시켜 줄 것을 약속했기 때문이다</a:t>
            </a:r>
            <a:r>
              <a:rPr lang="en-US" altLang="ko-KR" sz="1000" dirty="0">
                <a:solidFill>
                  <a:srgbClr val="0033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F1E0B78-B875-4E5C-B59D-6680C04A7C38}"/>
              </a:ext>
            </a:extLst>
          </p:cNvPr>
          <p:cNvSpPr txBox="1"/>
          <p:nvPr/>
        </p:nvSpPr>
        <p:spPr>
          <a:xfrm>
            <a:off x="7808258" y="6307369"/>
            <a:ext cx="440240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정복 전쟁을 벌이는 동안 많은 사람이 죽고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엄청난 세금도 내야 했기 때문이다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</a:p>
          <a:p>
            <a:r>
              <a:rPr lang="ko-KR" altLang="en-US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또 정복 전쟁을 계속하면서 나폴레옹은 점령 지역을 탄압하고 학살까지 일으켰다</a:t>
            </a:r>
            <a:r>
              <a:rPr lang="en-US" altLang="ko-KR" sz="10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90939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39" grpId="0"/>
      <p:bldP spid="40" grpId="0" animBg="1"/>
      <p:bldP spid="42" grpId="0" animBg="1"/>
      <p:bldP spid="43" grpId="0" animBg="1"/>
      <p:bldP spid="44" grpId="0" animBg="1"/>
      <p:bldP spid="45" grpId="0" animBg="1"/>
      <p:bldP spid="4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66" t="13539" r="4933" b="2758"/>
          <a:stretch/>
        </p:blipFill>
        <p:spPr>
          <a:xfrm>
            <a:off x="0" y="1057698"/>
            <a:ext cx="4480560" cy="57404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E00938F-2FF2-4468-A6AE-871128E33ED8}"/>
              </a:ext>
            </a:extLst>
          </p:cNvPr>
          <p:cNvSpPr txBox="1"/>
          <p:nvPr/>
        </p:nvSpPr>
        <p:spPr>
          <a:xfrm>
            <a:off x="109057" y="3641"/>
            <a:ext cx="7998543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세계사 논평 </a:t>
            </a:r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 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그림과 사진으로 만나는 프랑스 혁명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63EA575-62A7-4F50-8560-66486DD36F2E}"/>
              </a:ext>
            </a:extLst>
          </p:cNvPr>
          <p:cNvGrpSpPr/>
          <p:nvPr/>
        </p:nvGrpSpPr>
        <p:grpSpPr>
          <a:xfrm>
            <a:off x="0" y="1"/>
            <a:ext cx="12201331" cy="6851339"/>
            <a:chOff x="0" y="1"/>
            <a:chExt cx="12201331" cy="6851339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01313867-FA00-4F30-8C60-5E9F0D8D6998}"/>
                </a:ext>
              </a:extLst>
            </p:cNvPr>
            <p:cNvSpPr/>
            <p:nvPr/>
          </p:nvSpPr>
          <p:spPr>
            <a:xfrm>
              <a:off x="0" y="1"/>
              <a:ext cx="109057" cy="509173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7030A0"/>
                </a:solidFill>
              </a:endParaRPr>
            </a:p>
          </p:txBody>
        </p: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C72691C7-BB97-4D31-940D-448688A6C154}"/>
                </a:ext>
              </a:extLst>
            </p:cNvPr>
            <p:cNvCxnSpPr>
              <a:cxnSpLocks/>
            </p:cNvCxnSpPr>
            <p:nvPr/>
          </p:nvCxnSpPr>
          <p:spPr>
            <a:xfrm>
              <a:off x="2279" y="513458"/>
              <a:ext cx="12192000" cy="0"/>
            </a:xfrm>
            <a:prstGeom prst="line">
              <a:avLst/>
            </a:prstGeom>
            <a:ln w="9525" cmpd="sng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C593A63-C37D-40EB-BA52-94A232F1D9B8}"/>
                </a:ext>
              </a:extLst>
            </p:cNvPr>
            <p:cNvSpPr txBox="1"/>
            <p:nvPr/>
          </p:nvSpPr>
          <p:spPr>
            <a:xfrm>
              <a:off x="9331" y="6528945"/>
              <a:ext cx="12192000" cy="280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한우리</a:t>
              </a:r>
              <a:r>
                <a:rPr lang="ko-KR" altLang="en-US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독서토론논술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안락 </a:t>
              </a:r>
              <a:r>
                <a:rPr lang="en-US" altLang="ko-KR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sk</a:t>
              </a:r>
              <a:r>
                <a:rPr lang="en-US" altLang="ko-KR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</a:t>
              </a: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논술교습소</a:t>
              </a:r>
              <a:endParaRPr lang="ko-KR" altLang="en-US" sz="900" dirty="0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endParaRP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8A3A3578-3881-4BBB-A1F1-417F84AFCEA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1340"/>
              <a:ext cx="12192000" cy="0"/>
            </a:xfrm>
            <a:prstGeom prst="line">
              <a:avLst/>
            </a:prstGeom>
            <a:ln w="762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8D81FBF9-8558-421A-B8F3-EDA21673DB14}"/>
              </a:ext>
            </a:extLst>
          </p:cNvPr>
          <p:cNvSpPr txBox="1"/>
          <p:nvPr/>
        </p:nvSpPr>
        <p:spPr>
          <a:xfrm>
            <a:off x="109057" y="536170"/>
            <a:ext cx="6142274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▶ 프랑스 혁명을 설명하는 내용의 사전을 만들어 보자</a:t>
            </a:r>
            <a:r>
              <a:rPr lang="en-US" altLang="ko-KR" sz="1400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endParaRPr lang="ko-KR" altLang="en-US" sz="1400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57" t="7695" r="3152" b="4453"/>
          <a:stretch/>
        </p:blipFill>
        <p:spPr>
          <a:xfrm>
            <a:off x="8344185" y="917624"/>
            <a:ext cx="3857146" cy="5294648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75" t="4297" b="2371"/>
          <a:stretch/>
        </p:blipFill>
        <p:spPr>
          <a:xfrm>
            <a:off x="4480560" y="959942"/>
            <a:ext cx="4000907" cy="5492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0052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6E00938F-2FF2-4468-A6AE-871128E33ED8}"/>
              </a:ext>
            </a:extLst>
          </p:cNvPr>
          <p:cNvSpPr txBox="1"/>
          <p:nvPr/>
        </p:nvSpPr>
        <p:spPr>
          <a:xfrm>
            <a:off x="109057" y="3641"/>
            <a:ext cx="7998543" cy="467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문제 풀며 스스로 정리해요 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63EA575-62A7-4F50-8560-66486DD36F2E}"/>
              </a:ext>
            </a:extLst>
          </p:cNvPr>
          <p:cNvGrpSpPr/>
          <p:nvPr/>
        </p:nvGrpSpPr>
        <p:grpSpPr>
          <a:xfrm>
            <a:off x="0" y="1"/>
            <a:ext cx="12201331" cy="6851339"/>
            <a:chOff x="0" y="1"/>
            <a:chExt cx="12201331" cy="6851339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01313867-FA00-4F30-8C60-5E9F0D8D6998}"/>
                </a:ext>
              </a:extLst>
            </p:cNvPr>
            <p:cNvSpPr/>
            <p:nvPr/>
          </p:nvSpPr>
          <p:spPr>
            <a:xfrm>
              <a:off x="0" y="1"/>
              <a:ext cx="109057" cy="509173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7030A0"/>
                </a:solidFill>
              </a:endParaRPr>
            </a:p>
          </p:txBody>
        </p: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C72691C7-BB97-4D31-940D-448688A6C154}"/>
                </a:ext>
              </a:extLst>
            </p:cNvPr>
            <p:cNvCxnSpPr>
              <a:cxnSpLocks/>
            </p:cNvCxnSpPr>
            <p:nvPr/>
          </p:nvCxnSpPr>
          <p:spPr>
            <a:xfrm>
              <a:off x="2279" y="513458"/>
              <a:ext cx="12192000" cy="0"/>
            </a:xfrm>
            <a:prstGeom prst="line">
              <a:avLst/>
            </a:prstGeom>
            <a:ln w="9525" cmpd="sng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C593A63-C37D-40EB-BA52-94A232F1D9B8}"/>
                </a:ext>
              </a:extLst>
            </p:cNvPr>
            <p:cNvSpPr txBox="1"/>
            <p:nvPr/>
          </p:nvSpPr>
          <p:spPr>
            <a:xfrm>
              <a:off x="9331" y="6528945"/>
              <a:ext cx="12192000" cy="280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한우리</a:t>
              </a:r>
              <a:r>
                <a:rPr lang="ko-KR" altLang="en-US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독서토론논술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안락 </a:t>
              </a:r>
              <a:r>
                <a:rPr lang="en-US" altLang="ko-KR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sk</a:t>
              </a:r>
              <a:r>
                <a:rPr lang="en-US" altLang="ko-KR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</a:t>
              </a: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논술교습소</a:t>
              </a:r>
              <a:endParaRPr lang="ko-KR" altLang="en-US" sz="900" dirty="0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endParaRP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8A3A3578-3881-4BBB-A1F1-417F84AFCEA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1340"/>
              <a:ext cx="12192000" cy="0"/>
            </a:xfrm>
            <a:prstGeom prst="line">
              <a:avLst/>
            </a:prstGeom>
            <a:ln w="762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pic>
        <p:nvPicPr>
          <p:cNvPr id="5" name="그림 4">
            <a:extLst>
              <a:ext uri="{FF2B5EF4-FFF2-40B4-BE49-F238E27FC236}">
                <a16:creationId xmlns:a16="http://schemas.microsoft.com/office/drawing/2014/main" id="{27931C29-2EF2-4465-A429-FB695460917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661" t="18064" r="28096" b="31376"/>
          <a:stretch/>
        </p:blipFill>
        <p:spPr>
          <a:xfrm>
            <a:off x="0" y="1306637"/>
            <a:ext cx="6095999" cy="391861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4792BDD-C064-463E-AB2B-16CFC53A1ED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8142" t="29358" r="28440" b="13365"/>
          <a:stretch/>
        </p:blipFill>
        <p:spPr>
          <a:xfrm>
            <a:off x="5914239" y="1497776"/>
            <a:ext cx="6277761" cy="4658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6986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6E00938F-2FF2-4468-A6AE-871128E33ED8}"/>
              </a:ext>
            </a:extLst>
          </p:cNvPr>
          <p:cNvSpPr txBox="1"/>
          <p:nvPr/>
        </p:nvSpPr>
        <p:spPr>
          <a:xfrm>
            <a:off x="109057" y="3641"/>
            <a:ext cx="7998543" cy="467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문제 풀며 스스로 정리해요 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63EA575-62A7-4F50-8560-66486DD36F2E}"/>
              </a:ext>
            </a:extLst>
          </p:cNvPr>
          <p:cNvGrpSpPr/>
          <p:nvPr/>
        </p:nvGrpSpPr>
        <p:grpSpPr>
          <a:xfrm>
            <a:off x="0" y="1"/>
            <a:ext cx="12201331" cy="6851339"/>
            <a:chOff x="0" y="1"/>
            <a:chExt cx="12201331" cy="6851339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01313867-FA00-4F30-8C60-5E9F0D8D6998}"/>
                </a:ext>
              </a:extLst>
            </p:cNvPr>
            <p:cNvSpPr/>
            <p:nvPr/>
          </p:nvSpPr>
          <p:spPr>
            <a:xfrm>
              <a:off x="0" y="1"/>
              <a:ext cx="109057" cy="509173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rgbClr val="7030A0"/>
                </a:solidFill>
              </a:endParaRPr>
            </a:p>
          </p:txBody>
        </p: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C72691C7-BB97-4D31-940D-448688A6C154}"/>
                </a:ext>
              </a:extLst>
            </p:cNvPr>
            <p:cNvCxnSpPr>
              <a:cxnSpLocks/>
            </p:cNvCxnSpPr>
            <p:nvPr/>
          </p:nvCxnSpPr>
          <p:spPr>
            <a:xfrm>
              <a:off x="2279" y="513458"/>
              <a:ext cx="12192000" cy="0"/>
            </a:xfrm>
            <a:prstGeom prst="line">
              <a:avLst/>
            </a:prstGeom>
            <a:ln w="9525" cmpd="sng">
              <a:solidFill>
                <a:schemeClr val="tx1">
                  <a:lumMod val="75000"/>
                  <a:lumOff val="2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C593A63-C37D-40EB-BA52-94A232F1D9B8}"/>
                </a:ext>
              </a:extLst>
            </p:cNvPr>
            <p:cNvSpPr txBox="1"/>
            <p:nvPr/>
          </p:nvSpPr>
          <p:spPr>
            <a:xfrm>
              <a:off x="9331" y="6528945"/>
              <a:ext cx="12192000" cy="2800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한우리</a:t>
              </a:r>
              <a:r>
                <a:rPr lang="ko-KR" altLang="en-US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독서토론논술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안락 </a:t>
              </a:r>
              <a:r>
                <a:rPr lang="en-US" altLang="ko-KR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sk</a:t>
              </a:r>
              <a:r>
                <a:rPr lang="en-US" altLang="ko-KR" sz="900" dirty="0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 </a:t>
              </a:r>
              <a:r>
                <a:rPr lang="ko-KR" altLang="en-US" sz="900" dirty="0" err="1">
                  <a:solidFill>
                    <a:srgbClr val="003300"/>
                  </a:solidFill>
                  <a:latin typeface="THE봉숭아틴트" panose="02020603020101020101" pitchFamily="18" charset="-127"/>
                  <a:ea typeface="THE봉숭아틴트" panose="02020603020101020101" pitchFamily="18" charset="-127"/>
                </a:rPr>
                <a:t>논술교습소</a:t>
              </a:r>
              <a:endParaRPr lang="ko-KR" altLang="en-US" sz="900" dirty="0">
                <a:solidFill>
                  <a:srgbClr val="003300"/>
                </a:solidFill>
                <a:latin typeface="THE봉숭아틴트" panose="02020603020101020101" pitchFamily="18" charset="-127"/>
                <a:ea typeface="THE봉숭아틴트" panose="02020603020101020101" pitchFamily="18" charset="-127"/>
              </a:endParaRP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8A3A3578-3881-4BBB-A1F1-417F84AFCEA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1340"/>
              <a:ext cx="12192000" cy="0"/>
            </a:xfrm>
            <a:prstGeom prst="line">
              <a:avLst/>
            </a:prstGeom>
            <a:ln w="7620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pic>
        <p:nvPicPr>
          <p:cNvPr id="17" name="그림 16">
            <a:extLst>
              <a:ext uri="{FF2B5EF4-FFF2-40B4-BE49-F238E27FC236}">
                <a16:creationId xmlns:a16="http://schemas.microsoft.com/office/drawing/2014/main" id="{CE4CCBF8-178F-4093-B643-5C2A1B11A0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348" t="18436" r="28716" b="32110"/>
          <a:stretch/>
        </p:blipFill>
        <p:spPr>
          <a:xfrm>
            <a:off x="9330" y="1302351"/>
            <a:ext cx="6048183" cy="3918607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68CD5D83-B1FD-415E-98D4-80ADC81B25F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8555" t="30214" r="28647" b="13517"/>
          <a:stretch/>
        </p:blipFill>
        <p:spPr>
          <a:xfrm>
            <a:off x="6105331" y="1448273"/>
            <a:ext cx="6032393" cy="4461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6960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2903</TotalTime>
  <Words>1539</Words>
  <Application>Microsoft Office PowerPoint</Application>
  <PresentationFormat>와이드스크린</PresentationFormat>
  <Paragraphs>174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6" baseType="lpstr">
      <vt:lpstr>THE봉숭아틴트</vt:lpstr>
      <vt:lpstr>나눔스퀘어 Bold</vt:lpstr>
      <vt:lpstr>나눔스퀘어_ac Bold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821098119832</dc:creator>
  <cp:lastModifiedBy>Administrator</cp:lastModifiedBy>
  <cp:revision>119</cp:revision>
  <cp:lastPrinted>2023-02-03T05:47:04Z</cp:lastPrinted>
  <dcterms:created xsi:type="dcterms:W3CDTF">2021-05-21T01:10:02Z</dcterms:created>
  <dcterms:modified xsi:type="dcterms:W3CDTF">2024-10-10T05:05:26Z</dcterms:modified>
</cp:coreProperties>
</file>