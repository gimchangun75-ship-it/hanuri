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93" r:id="rId3"/>
    <p:sldId id="283" r:id="rId4"/>
    <p:sldId id="287" r:id="rId5"/>
    <p:sldId id="288" r:id="rId6"/>
    <p:sldId id="281" r:id="rId7"/>
    <p:sldId id="289" r:id="rId8"/>
    <p:sldId id="290" r:id="rId9"/>
    <p:sldId id="291" r:id="rId10"/>
    <p:sldId id="292" r:id="rId11"/>
    <p:sldId id="285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때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지역에 성립된 제국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제국이 성장하고 유지될 수 있었던 공통점을 정리할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4DC647-C670-4624-B5F0-731E77A01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17" t="20894" r="27707" b="58412"/>
          <a:stretch/>
        </p:blipFill>
        <p:spPr>
          <a:xfrm>
            <a:off x="721658" y="429476"/>
            <a:ext cx="2042445" cy="14192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D9B2879-A4E8-4C17-A13B-CC1269EF86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0" t="59145" r="10747" b="2790"/>
          <a:stretch/>
        </p:blipFill>
        <p:spPr>
          <a:xfrm>
            <a:off x="4086677" y="3354454"/>
            <a:ext cx="4018646" cy="27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F6F28A0-1DAC-48FD-A8BD-1DC88BCAA2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12" t="32157" r="25512" b="15424"/>
          <a:stretch/>
        </p:blipFill>
        <p:spPr>
          <a:xfrm>
            <a:off x="6078436" y="2257456"/>
            <a:ext cx="6105331" cy="3594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정리해요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4D424CD-6431-41A2-B616-631486D57E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59" t="16601" r="25364" b="13540"/>
          <a:stretch/>
        </p:blipFill>
        <p:spPr>
          <a:xfrm>
            <a:off x="0" y="1226719"/>
            <a:ext cx="6105331" cy="47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7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" t="12179" r="549"/>
          <a:stretch/>
        </p:blipFill>
        <p:spPr>
          <a:xfrm>
            <a:off x="1187867" y="704606"/>
            <a:ext cx="10007126" cy="61533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5774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A0AFAE-D339-4492-ADAB-FBF6035D306F}"/>
              </a:ext>
            </a:extLst>
          </p:cNvPr>
          <p:cNvSpPr/>
          <p:nvPr/>
        </p:nvSpPr>
        <p:spPr>
          <a:xfrm>
            <a:off x="4672668" y="1577130"/>
            <a:ext cx="351246" cy="17706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B2546-38D3-444F-8DD4-93D463DA4BA5}"/>
              </a:ext>
            </a:extLst>
          </p:cNvPr>
          <p:cNvSpPr txBox="1"/>
          <p:nvPr/>
        </p:nvSpPr>
        <p:spPr>
          <a:xfrm>
            <a:off x="3107935" y="2693980"/>
            <a:ext cx="102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최초의 통일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6C21BD-03CB-439B-9468-B46BFB394757}"/>
              </a:ext>
            </a:extLst>
          </p:cNvPr>
          <p:cNvSpPr txBox="1"/>
          <p:nvPr/>
        </p:nvSpPr>
        <p:spPr>
          <a:xfrm>
            <a:off x="3605661" y="3146076"/>
            <a:ext cx="60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92895C1-FD6F-437E-A720-E4C6FEEC1DF6}"/>
              </a:ext>
            </a:extLst>
          </p:cNvPr>
          <p:cNvCxnSpPr/>
          <p:nvPr/>
        </p:nvCxnSpPr>
        <p:spPr>
          <a:xfrm>
            <a:off x="3163591" y="2709698"/>
            <a:ext cx="102251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B9DBDC7-F0BA-49B2-B7D9-EED367780DCF}"/>
              </a:ext>
            </a:extLst>
          </p:cNvPr>
          <p:cNvCxnSpPr>
            <a:cxnSpLocks/>
          </p:cNvCxnSpPr>
          <p:nvPr/>
        </p:nvCxnSpPr>
        <p:spPr>
          <a:xfrm>
            <a:off x="3674848" y="5847127"/>
            <a:ext cx="51125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FA46E2-6BAD-473E-97DF-EEA302077975}"/>
              </a:ext>
            </a:extLst>
          </p:cNvPr>
          <p:cNvSpPr/>
          <p:nvPr/>
        </p:nvSpPr>
        <p:spPr>
          <a:xfrm>
            <a:off x="3179427" y="3352791"/>
            <a:ext cx="871364" cy="1449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A94856-48FC-4184-BDC7-57959F705C02}"/>
              </a:ext>
            </a:extLst>
          </p:cNvPr>
          <p:cNvSpPr/>
          <p:nvPr/>
        </p:nvSpPr>
        <p:spPr>
          <a:xfrm>
            <a:off x="3674848" y="5886427"/>
            <a:ext cx="1157211" cy="2600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1F39EA-A85A-40A4-8B51-667045F2466F}"/>
              </a:ext>
            </a:extLst>
          </p:cNvPr>
          <p:cNvSpPr txBox="1"/>
          <p:nvPr/>
        </p:nvSpPr>
        <p:spPr>
          <a:xfrm>
            <a:off x="3685036" y="5886428"/>
            <a:ext cx="10722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카니슈카왕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전성기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EAD8F-6265-4EFA-82F9-B6802AB21BB3}"/>
              </a:ext>
            </a:extLst>
          </p:cNvPr>
          <p:cNvSpPr/>
          <p:nvPr/>
        </p:nvSpPr>
        <p:spPr>
          <a:xfrm>
            <a:off x="4740251" y="3635360"/>
            <a:ext cx="1239066" cy="2304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8B9414-F319-4D11-99DB-F9B12425512C}"/>
              </a:ext>
            </a:extLst>
          </p:cNvPr>
          <p:cNvSpPr txBox="1"/>
          <p:nvPr/>
        </p:nvSpPr>
        <p:spPr>
          <a:xfrm>
            <a:off x="4750437" y="3644241"/>
            <a:ext cx="1457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찬드라굽타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전성기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7A070-6590-4C1A-9E52-969795E75F03}"/>
              </a:ext>
            </a:extLst>
          </p:cNvPr>
          <p:cNvSpPr txBox="1"/>
          <p:nvPr/>
        </p:nvSpPr>
        <p:spPr>
          <a:xfrm>
            <a:off x="4050791" y="3580334"/>
            <a:ext cx="7406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굽타왕조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0D52A4-3C25-49B0-89E5-BDA788BCFE2A}"/>
              </a:ext>
            </a:extLst>
          </p:cNvPr>
          <p:cNvSpPr txBox="1"/>
          <p:nvPr/>
        </p:nvSpPr>
        <p:spPr>
          <a:xfrm>
            <a:off x="3107935" y="2475140"/>
            <a:ext cx="7406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마우리아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E495400-28B9-47A7-8B62-30DC9891B18A}"/>
              </a:ext>
            </a:extLst>
          </p:cNvPr>
          <p:cNvSpPr/>
          <p:nvPr/>
        </p:nvSpPr>
        <p:spPr>
          <a:xfrm>
            <a:off x="6493078" y="1577130"/>
            <a:ext cx="956345" cy="17706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E92689-CD48-4428-9C35-2BCDFE40F82B}"/>
              </a:ext>
            </a:extLst>
          </p:cNvPr>
          <p:cNvSpPr txBox="1"/>
          <p:nvPr/>
        </p:nvSpPr>
        <p:spPr>
          <a:xfrm>
            <a:off x="6493078" y="5165102"/>
            <a:ext cx="1197357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사산왕조 페르시아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03B2F01-2BFE-4712-99AC-F08D16C51F23}"/>
              </a:ext>
            </a:extLst>
          </p:cNvPr>
          <p:cNvSpPr/>
          <p:nvPr/>
        </p:nvSpPr>
        <p:spPr>
          <a:xfrm>
            <a:off x="6900533" y="5688383"/>
            <a:ext cx="603537" cy="21816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DBB38AE-7EEE-4BDB-844D-6ADF2251C6BE}"/>
              </a:ext>
            </a:extLst>
          </p:cNvPr>
          <p:cNvSpPr/>
          <p:nvPr/>
        </p:nvSpPr>
        <p:spPr>
          <a:xfrm>
            <a:off x="8628431" y="5635872"/>
            <a:ext cx="453005" cy="21816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C382243-A302-48E4-98FD-2946AE41F496}"/>
              </a:ext>
            </a:extLst>
          </p:cNvPr>
          <p:cNvSpPr/>
          <p:nvPr/>
        </p:nvSpPr>
        <p:spPr>
          <a:xfrm>
            <a:off x="9647339" y="5916941"/>
            <a:ext cx="453005" cy="21816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C4BE56-8C92-4110-905D-DB920616A84E}"/>
              </a:ext>
            </a:extLst>
          </p:cNvPr>
          <p:cNvSpPr/>
          <p:nvPr/>
        </p:nvSpPr>
        <p:spPr>
          <a:xfrm>
            <a:off x="9647339" y="3781303"/>
            <a:ext cx="914400" cy="1856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F5E6195-DEA8-4ECA-8B36-1FE8D9C17C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7" t="13209" r="49333" b="6916"/>
          <a:stretch/>
        </p:blipFill>
        <p:spPr>
          <a:xfrm>
            <a:off x="5696829" y="655287"/>
            <a:ext cx="4848839" cy="5831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서아시아를 통일한 페르시아 제국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3868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서아시아 지역에서 성장한 페르시아 제국의 발전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A13EA5-17DB-4BAB-A26C-4948B29CBEC9}"/>
              </a:ext>
            </a:extLst>
          </p:cNvPr>
          <p:cNvSpPr txBox="1"/>
          <p:nvPr/>
        </p:nvSpPr>
        <p:spPr>
          <a:xfrm>
            <a:off x="747538" y="1437668"/>
            <a:ext cx="484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아시아의 서쪽 지역은 지중해를 사이에 두고 아프리카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유럽과 연결되어 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개방적인 지형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이었기 때문에 고대부터 교통로가 발달하였다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교역에 유리하여 제국이 번성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할 수 있었지만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외부의 침입도 잦아서 왕조가 자주 성립하고 멸망했다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0FCD40-DF51-45CC-B1D9-5B2582C87B42}"/>
              </a:ext>
            </a:extLst>
          </p:cNvPr>
          <p:cNvSpPr txBox="1"/>
          <p:nvPr/>
        </p:nvSpPr>
        <p:spPr>
          <a:xfrm>
            <a:off x="9689990" y="676672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9~10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B03CD8-7B14-4AEF-8B9D-98FA0DFC6DAE}"/>
              </a:ext>
            </a:extLst>
          </p:cNvPr>
          <p:cNvSpPr txBox="1"/>
          <p:nvPr/>
        </p:nvSpPr>
        <p:spPr>
          <a:xfrm>
            <a:off x="9826722" y="3318561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B04D4-0458-4765-A3EB-A02AA9E6F961}"/>
              </a:ext>
            </a:extLst>
          </p:cNvPr>
          <p:cNvSpPr txBox="1"/>
          <p:nvPr/>
        </p:nvSpPr>
        <p:spPr>
          <a:xfrm>
            <a:off x="7125615" y="4974281"/>
            <a:ext cx="1208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21, 23~24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CF1C4-A92D-4B68-BD79-45D6E77CB4FE}"/>
              </a:ext>
            </a:extLst>
          </p:cNvPr>
          <p:cNvSpPr txBox="1"/>
          <p:nvPr/>
        </p:nvSpPr>
        <p:spPr>
          <a:xfrm>
            <a:off x="9764785" y="6124910"/>
            <a:ext cx="1208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26, 31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4A111-BEF9-451D-BC8C-9205727E98A6}"/>
              </a:ext>
            </a:extLst>
          </p:cNvPr>
          <p:cNvSpPr txBox="1"/>
          <p:nvPr/>
        </p:nvSpPr>
        <p:spPr>
          <a:xfrm>
            <a:off x="10545669" y="3795935"/>
            <a:ext cx="1272622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아시리아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D561A-9DF8-4F11-931A-295BC78A2259}"/>
              </a:ext>
            </a:extLst>
          </p:cNvPr>
          <p:cNvSpPr txBox="1"/>
          <p:nvPr/>
        </p:nvSpPr>
        <p:spPr>
          <a:xfrm>
            <a:off x="10545669" y="4506517"/>
            <a:ext cx="1272622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54D7A2-4246-4D48-9F47-D10A5BCB8387}"/>
              </a:ext>
            </a:extLst>
          </p:cNvPr>
          <p:cNvCxnSpPr>
            <a:cxnSpLocks/>
          </p:cNvCxnSpPr>
          <p:nvPr/>
        </p:nvCxnSpPr>
        <p:spPr>
          <a:xfrm>
            <a:off x="11148969" y="4056396"/>
            <a:ext cx="0" cy="45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8B230C3-6CC8-4C30-8502-33A8878FF354}"/>
              </a:ext>
            </a:extLst>
          </p:cNvPr>
          <p:cNvCxnSpPr>
            <a:cxnSpLocks/>
          </p:cNvCxnSpPr>
          <p:nvPr/>
        </p:nvCxnSpPr>
        <p:spPr>
          <a:xfrm>
            <a:off x="11148969" y="4773897"/>
            <a:ext cx="0" cy="135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00583E0-82D2-458D-8138-12B1CBCD4506}"/>
              </a:ext>
            </a:extLst>
          </p:cNvPr>
          <p:cNvSpPr txBox="1"/>
          <p:nvPr/>
        </p:nvSpPr>
        <p:spPr>
          <a:xfrm>
            <a:off x="11143209" y="5143459"/>
            <a:ext cx="96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다리우스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전성기 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1CFCD8-39E1-4E72-A8C9-C793221F758F}"/>
              </a:ext>
            </a:extLst>
          </p:cNvPr>
          <p:cNvSpPr txBox="1"/>
          <p:nvPr/>
        </p:nvSpPr>
        <p:spPr>
          <a:xfrm>
            <a:off x="11143209" y="4017329"/>
            <a:ext cx="962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최초 통일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616CF6-B45A-463D-A62A-64EB0E4DEFCF}"/>
              </a:ext>
            </a:extLst>
          </p:cNvPr>
          <p:cNvSpPr txBox="1"/>
          <p:nvPr/>
        </p:nvSpPr>
        <p:spPr>
          <a:xfrm>
            <a:off x="10545668" y="4785570"/>
            <a:ext cx="127158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아케메네스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페르시아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7A4E49-D2A3-496E-AB06-6393A8EB4AAB}"/>
              </a:ext>
            </a:extLst>
          </p:cNvPr>
          <p:cNvSpPr txBox="1"/>
          <p:nvPr/>
        </p:nvSpPr>
        <p:spPr>
          <a:xfrm>
            <a:off x="10545668" y="6162457"/>
            <a:ext cx="1271583" cy="246221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사산왕조  페르시아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89D822-AE95-498B-9A13-DB2A28C50CAB}"/>
              </a:ext>
            </a:extLst>
          </p:cNvPr>
          <p:cNvSpPr txBox="1"/>
          <p:nvPr/>
        </p:nvSpPr>
        <p:spPr>
          <a:xfrm>
            <a:off x="747538" y="2823597"/>
            <a:ext cx="48488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히타이트는 서아시아를 차지하며 제국으로 성장한다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이유는 바로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덕분이다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이집트나 다른 지역에서도 오래전에 철이 발견되었지만 철을 다루는 방법을 몰랐다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히타이트인들은 철을 다루는 방법을 알고 주변국가들이 알까 봐 철을 수출하지 않고 기술도 알려 주지 않았다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청동으로 만든 무기보다 가볍고 강한 무기를 갖게 된 히타이트는 주변국들을 정복할 수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28D248-9652-4620-9896-EFEA04A13524}"/>
              </a:ext>
            </a:extLst>
          </p:cNvPr>
          <p:cNvSpPr txBox="1"/>
          <p:nvPr/>
        </p:nvSpPr>
        <p:spPr>
          <a:xfrm>
            <a:off x="747538" y="4135261"/>
            <a:ext cx="48488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</a:p>
          <a:p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키루스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세는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정복한 땅이라도 그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민족만의 언어와 종교를 인정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 주고 잘 살 수 있게 도와줘야 반란이 일어나지 않을 것이라 생각했다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정복지 민족도 세금과 병역의 의무만 잘 지키면 페르시아 제국의 국민으로 잘 살 수 있게 도와주었다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다리우스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세는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조로아스터교를 믿었지만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민족들에게 자신이 믿는 종교의 신을 섬겨야 한다고 강요하지 않고 각 민족의 언어도 그대로 쓰게 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4E848E-C118-4CB4-81CD-FED3EA4FD08A}"/>
              </a:ext>
            </a:extLst>
          </p:cNvPr>
          <p:cNvSpPr txBox="1"/>
          <p:nvPr/>
        </p:nvSpPr>
        <p:spPr>
          <a:xfrm>
            <a:off x="747538" y="5599572"/>
            <a:ext cx="48488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까닭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아시아를 넘어 유럽 쪽으로 영토를 확장하기 위해서이다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페르시아는 아테네를 차지하기 위해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번이나 원정에 나섰지만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모두 패배하고 전투를 끝냈다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결국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국력이 쇠약해진 페르시아는 알렉산드로스의 침입으로 멸망한다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반면 이 전쟁으로 아테네는 그리스에서 스파르타보다 강한 힘을 갖게 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490FB9A-1B03-4025-862F-FCB79FED9097}"/>
              </a:ext>
            </a:extLst>
          </p:cNvPr>
          <p:cNvGrpSpPr/>
          <p:nvPr/>
        </p:nvGrpSpPr>
        <p:grpSpPr>
          <a:xfrm>
            <a:off x="5548245" y="268534"/>
            <a:ext cx="5036094" cy="6270598"/>
            <a:chOff x="5495925" y="117446"/>
            <a:chExt cx="5036094" cy="627059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F5E6195-DEA8-4ECA-8B36-1FE8D9C17C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80" t="7143" r="880" b="7101"/>
            <a:stretch/>
          </p:blipFill>
          <p:spPr>
            <a:xfrm>
              <a:off x="5683180" y="127344"/>
              <a:ext cx="4848839" cy="626070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4FCE30-8546-497F-AAE6-29BB171E9D5D}"/>
                </a:ext>
              </a:extLst>
            </p:cNvPr>
            <p:cNvSpPr/>
            <p:nvPr/>
          </p:nvSpPr>
          <p:spPr>
            <a:xfrm>
              <a:off x="5495925" y="117446"/>
              <a:ext cx="3908134" cy="5956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지중해 세계와 알렉산드로스 제국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38686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폴리스의 발전 과정을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제국과 헬레니즘 문화의 특징을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EB1D4-0AC9-401A-9324-90E50B2ACA79}"/>
              </a:ext>
            </a:extLst>
          </p:cNvPr>
          <p:cNvSpPr txBox="1"/>
          <p:nvPr/>
        </p:nvSpPr>
        <p:spPr>
          <a:xfrm>
            <a:off x="7468756" y="1043585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50,48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B778DA-75B8-425F-8A35-05A0B46ABAD9}"/>
              </a:ext>
            </a:extLst>
          </p:cNvPr>
          <p:cNvSpPr txBox="1"/>
          <p:nvPr/>
        </p:nvSpPr>
        <p:spPr>
          <a:xfrm>
            <a:off x="10111289" y="1043585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B3FE1C-4224-4A85-A937-8D561CAF99E9}"/>
              </a:ext>
            </a:extLst>
          </p:cNvPr>
          <p:cNvSpPr txBox="1"/>
          <p:nvPr/>
        </p:nvSpPr>
        <p:spPr>
          <a:xfrm>
            <a:off x="9577377" y="3011614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51~54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B30426-08BC-4A97-BB42-DBDE8C24B36C}"/>
              </a:ext>
            </a:extLst>
          </p:cNvPr>
          <p:cNvSpPr txBox="1"/>
          <p:nvPr/>
        </p:nvSpPr>
        <p:spPr>
          <a:xfrm>
            <a:off x="9230445" y="4449515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57~58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31411-1F00-4C99-A803-7320580E2388}"/>
              </a:ext>
            </a:extLst>
          </p:cNvPr>
          <p:cNvSpPr txBox="1"/>
          <p:nvPr/>
        </p:nvSpPr>
        <p:spPr>
          <a:xfrm>
            <a:off x="7242254" y="5238080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p.61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114C6-E5D6-4574-9136-6C9837DA5B1A}"/>
              </a:ext>
            </a:extLst>
          </p:cNvPr>
          <p:cNvSpPr/>
          <p:nvPr/>
        </p:nvSpPr>
        <p:spPr>
          <a:xfrm>
            <a:off x="9456379" y="5088614"/>
            <a:ext cx="518130" cy="2800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A97EF-7722-4754-9B2C-953491068DE1}"/>
              </a:ext>
            </a:extLst>
          </p:cNvPr>
          <p:cNvSpPr txBox="1"/>
          <p:nvPr/>
        </p:nvSpPr>
        <p:spPr>
          <a:xfrm>
            <a:off x="5304865" y="1348502"/>
            <a:ext cx="2888610" cy="230832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왕정→귀족정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금권정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솔론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참주정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독재자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→민주정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5668C-0BAC-455D-976E-C8AC0AD66868}"/>
              </a:ext>
            </a:extLst>
          </p:cNvPr>
          <p:cNvSpPr txBox="1"/>
          <p:nvPr/>
        </p:nvSpPr>
        <p:spPr>
          <a:xfrm>
            <a:off x="10620933" y="2093665"/>
            <a:ext cx="1197357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그리스 문명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9F08DF-ED49-463C-8F27-DB780230FCF6}"/>
              </a:ext>
            </a:extLst>
          </p:cNvPr>
          <p:cNvSpPr txBox="1"/>
          <p:nvPr/>
        </p:nvSpPr>
        <p:spPr>
          <a:xfrm>
            <a:off x="10620933" y="3856601"/>
            <a:ext cx="1197357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790CB98-5449-4DD9-81DC-B0F66B93F74B}"/>
              </a:ext>
            </a:extLst>
          </p:cNvPr>
          <p:cNvCxnSpPr>
            <a:cxnSpLocks/>
          </p:cNvCxnSpPr>
          <p:nvPr/>
        </p:nvCxnSpPr>
        <p:spPr>
          <a:xfrm>
            <a:off x="11148969" y="2365053"/>
            <a:ext cx="0" cy="138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289CEF9-A70E-4D9F-9B24-5FC4BD210BD3}"/>
              </a:ext>
            </a:extLst>
          </p:cNvPr>
          <p:cNvCxnSpPr>
            <a:cxnSpLocks/>
          </p:cNvCxnSpPr>
          <p:nvPr/>
        </p:nvCxnSpPr>
        <p:spPr>
          <a:xfrm>
            <a:off x="11148969" y="4194495"/>
            <a:ext cx="0" cy="140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F3740A-29CA-4675-AA27-35F43BABDD07}"/>
              </a:ext>
            </a:extLst>
          </p:cNvPr>
          <p:cNvSpPr txBox="1"/>
          <p:nvPr/>
        </p:nvSpPr>
        <p:spPr>
          <a:xfrm>
            <a:off x="10620933" y="1113383"/>
            <a:ext cx="1197357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에게 문명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8A8F3D0-9F19-4045-AD49-600047E8D214}"/>
              </a:ext>
            </a:extLst>
          </p:cNvPr>
          <p:cNvCxnSpPr>
            <a:cxnSpLocks/>
          </p:cNvCxnSpPr>
          <p:nvPr/>
        </p:nvCxnSpPr>
        <p:spPr>
          <a:xfrm>
            <a:off x="11148969" y="1447140"/>
            <a:ext cx="0" cy="566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7E21F0E-4989-4244-AC0B-8310E6874878}"/>
              </a:ext>
            </a:extLst>
          </p:cNvPr>
          <p:cNvSpPr txBox="1"/>
          <p:nvPr/>
        </p:nvSpPr>
        <p:spPr>
          <a:xfrm>
            <a:off x="11143209" y="2363930"/>
            <a:ext cx="962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 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전쟁에서 승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A5D158-2955-412D-B79D-69D8DE3849FF}"/>
              </a:ext>
            </a:extLst>
          </p:cNvPr>
          <p:cNvSpPr txBox="1"/>
          <p:nvPr/>
        </p:nvSpPr>
        <p:spPr>
          <a:xfrm>
            <a:off x="10620933" y="5782142"/>
            <a:ext cx="1197357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포에니 전쟁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7C2100-7002-4753-B495-13CD0FD78B05}"/>
              </a:ext>
            </a:extLst>
          </p:cNvPr>
          <p:cNvSpPr txBox="1"/>
          <p:nvPr/>
        </p:nvSpPr>
        <p:spPr>
          <a:xfrm>
            <a:off x="11143209" y="2910925"/>
            <a:ext cx="962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펠로폰네소스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141ACA-0AE1-455F-84B7-01128EF584E3}"/>
              </a:ext>
            </a:extLst>
          </p:cNvPr>
          <p:cNvSpPr txBox="1"/>
          <p:nvPr/>
        </p:nvSpPr>
        <p:spPr>
          <a:xfrm>
            <a:off x="11143209" y="6071864"/>
            <a:ext cx="96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지중해 장악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D3E04D-E3D4-4531-A60D-CA55A4E75FC6}"/>
              </a:ext>
            </a:extLst>
          </p:cNvPr>
          <p:cNvSpPr txBox="1"/>
          <p:nvPr/>
        </p:nvSpPr>
        <p:spPr>
          <a:xfrm>
            <a:off x="747538" y="1659315"/>
            <a:ext cx="48488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1-1)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아테네는 시민들이 광장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아고라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모여 토론을 한 뒤 정책을 결정지었다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시민들이 정치에 직접 참여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했기 때문에 시민의 뜻이 정치에 반영될 수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여자나 노예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외국인들은 정치에서 배제되었다는 한계가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1-2)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스파르타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귀족들은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어려서부터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군대에서 정해진 규칙에 따라 훈련을 받아야 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30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세까지는 집단 생활을 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이후에나 도시에 살 수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8C7054-65BF-4D47-B2E5-EF2E3550D7C9}"/>
              </a:ext>
            </a:extLst>
          </p:cNvPr>
          <p:cNvSpPr txBox="1"/>
          <p:nvPr/>
        </p:nvSpPr>
        <p:spPr>
          <a:xfrm>
            <a:off x="747538" y="3018331"/>
            <a:ext cx="4848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 전쟁 후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아테네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페르시아의 침입을 대비하기 이하여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폴리스들과 함께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델로스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동맹을 맺고 세력을 확대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위협을 느낀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스파르타는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펠로폰네소스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동맹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맺고 맞섰다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 세력 간의 대립은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펠로폰네소스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기원전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431~404)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이어졌다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전쟁에서 스파르타가 승리하였으나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오랜 전쟁을 치른 그리스 세계는 점차 쇠퇴하였다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66E3E4-2C33-4FC5-ACD1-1EEFA83C77A3}"/>
              </a:ext>
            </a:extLst>
          </p:cNvPr>
          <p:cNvSpPr txBox="1"/>
          <p:nvPr/>
        </p:nvSpPr>
        <p:spPr>
          <a:xfrm>
            <a:off x="747538" y="4402514"/>
            <a:ext cx="484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3-2)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정복한 땅의 현지 주민을 존중하는 정책 덕분이다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현지인의 종교와 관습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토착 권력을 존중해 주고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정복한 뒤에도 억압하지 않고 그들이 계속 통치할 수 있도록 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1A36AF-FD1D-4D74-B095-0383408CB3FF}"/>
              </a:ext>
            </a:extLst>
          </p:cNvPr>
          <p:cNvSpPr txBox="1"/>
          <p:nvPr/>
        </p:nvSpPr>
        <p:spPr>
          <a:xfrm>
            <a:off x="747538" y="5400804"/>
            <a:ext cx="484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3-3)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헬레니즘 시대의 미술 작품을 보면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인체의 아름다움을 사실적으로 나타내고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인간의 감정을 표현하는 등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강렬하고 격정적이며 역동적인 인간의 모습과 감정을 담고 있는 것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볼 수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5857D0-6499-4095-8DCE-1CE793FFC5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" t="12897" r="49604" b="6548"/>
          <a:stretch/>
        </p:blipFill>
        <p:spPr>
          <a:xfrm>
            <a:off x="5594581" y="690058"/>
            <a:ext cx="4886101" cy="590403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고대 로마의 정치가 어떻게 달라졌는지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제국의 정치 발전사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0D4A2A-F272-4813-8CCF-1B431C844FB2}"/>
              </a:ext>
            </a:extLst>
          </p:cNvPr>
          <p:cNvSpPr txBox="1"/>
          <p:nvPr/>
        </p:nvSpPr>
        <p:spPr>
          <a:xfrm>
            <a:off x="6166101" y="1650866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D20525F-AB68-4CDB-90AB-B00110A07276}"/>
              </a:ext>
            </a:extLst>
          </p:cNvPr>
          <p:cNvCxnSpPr>
            <a:cxnSpLocks/>
          </p:cNvCxnSpPr>
          <p:nvPr/>
        </p:nvCxnSpPr>
        <p:spPr>
          <a:xfrm>
            <a:off x="11585196" y="1608921"/>
            <a:ext cx="0" cy="31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AB6A63-8BF8-4EE2-B7F2-AB10F0553045}"/>
              </a:ext>
            </a:extLst>
          </p:cNvPr>
          <p:cNvSpPr txBox="1"/>
          <p:nvPr/>
        </p:nvSpPr>
        <p:spPr>
          <a:xfrm>
            <a:off x="10452683" y="785290"/>
            <a:ext cx="1466276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대제국 지중해 장악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953AF6-2E3B-4727-9554-C8FBC65F9690}"/>
              </a:ext>
            </a:extLst>
          </p:cNvPr>
          <p:cNvSpPr txBox="1"/>
          <p:nvPr/>
        </p:nvSpPr>
        <p:spPr>
          <a:xfrm>
            <a:off x="11320278" y="1341382"/>
            <a:ext cx="597639" cy="246221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왕정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7F9AE1-2D68-4DD8-BB14-4E8C19B6E7AF}"/>
              </a:ext>
            </a:extLst>
          </p:cNvPr>
          <p:cNvSpPr txBox="1"/>
          <p:nvPr/>
        </p:nvSpPr>
        <p:spPr>
          <a:xfrm>
            <a:off x="11320278" y="2014673"/>
            <a:ext cx="597639" cy="246221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공화정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0F98C7-DB24-4F7C-9984-A8F9D4883D0E}"/>
              </a:ext>
            </a:extLst>
          </p:cNvPr>
          <p:cNvSpPr txBox="1"/>
          <p:nvPr/>
        </p:nvSpPr>
        <p:spPr>
          <a:xfrm>
            <a:off x="11320278" y="4364208"/>
            <a:ext cx="597639" cy="246221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제정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817AFAF-BFB7-45CD-99D7-0404900C1F56}"/>
              </a:ext>
            </a:extLst>
          </p:cNvPr>
          <p:cNvCxnSpPr>
            <a:cxnSpLocks/>
          </p:cNvCxnSpPr>
          <p:nvPr/>
        </p:nvCxnSpPr>
        <p:spPr>
          <a:xfrm>
            <a:off x="11585196" y="2303456"/>
            <a:ext cx="0" cy="198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75126BA-7502-4D37-B325-21FABDB921A9}"/>
              </a:ext>
            </a:extLst>
          </p:cNvPr>
          <p:cNvCxnSpPr>
            <a:cxnSpLocks/>
          </p:cNvCxnSpPr>
          <p:nvPr/>
        </p:nvCxnSpPr>
        <p:spPr>
          <a:xfrm>
            <a:off x="7466203" y="5142451"/>
            <a:ext cx="8389" cy="3039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A0B54C-A9F1-4E9A-A8F4-39714799B07E}"/>
              </a:ext>
            </a:extLst>
          </p:cNvPr>
          <p:cNvSpPr/>
          <p:nvPr/>
        </p:nvSpPr>
        <p:spPr>
          <a:xfrm>
            <a:off x="6602358" y="5471594"/>
            <a:ext cx="1199401" cy="1909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97E719-C970-454F-9477-5CBBB5223660}"/>
              </a:ext>
            </a:extLst>
          </p:cNvPr>
          <p:cNvSpPr/>
          <p:nvPr/>
        </p:nvSpPr>
        <p:spPr>
          <a:xfrm>
            <a:off x="6602359" y="5740042"/>
            <a:ext cx="863844" cy="21811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05253-93AD-4EEA-BED8-1E6551525B61}"/>
              </a:ext>
            </a:extLst>
          </p:cNvPr>
          <p:cNvSpPr txBox="1"/>
          <p:nvPr/>
        </p:nvSpPr>
        <p:spPr>
          <a:xfrm>
            <a:off x="5905850" y="2716268"/>
            <a:ext cx="9466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87~90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69C7E0-F6C4-4D9E-A387-A66F4FA48320}"/>
              </a:ext>
            </a:extLst>
          </p:cNvPr>
          <p:cNvSpPr txBox="1"/>
          <p:nvPr/>
        </p:nvSpPr>
        <p:spPr>
          <a:xfrm>
            <a:off x="9278224" y="4251453"/>
            <a:ext cx="9466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EB9EB5-FC86-4564-BCA6-DFBD186929CE}"/>
              </a:ext>
            </a:extLst>
          </p:cNvPr>
          <p:cNvSpPr txBox="1"/>
          <p:nvPr/>
        </p:nvSpPr>
        <p:spPr>
          <a:xfrm>
            <a:off x="9480552" y="5689648"/>
            <a:ext cx="9466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63182-A6C6-4E95-9466-E577535DF362}"/>
              </a:ext>
            </a:extLst>
          </p:cNvPr>
          <p:cNvSpPr txBox="1"/>
          <p:nvPr/>
        </p:nvSpPr>
        <p:spPr>
          <a:xfrm>
            <a:off x="10281607" y="2294424"/>
            <a:ext cx="1466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민주정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40F7028-F60C-4E5C-83FE-A393CF681BFD}"/>
              </a:ext>
            </a:extLst>
          </p:cNvPr>
          <p:cNvGrpSpPr/>
          <p:nvPr/>
        </p:nvGrpSpPr>
        <p:grpSpPr>
          <a:xfrm>
            <a:off x="10216710" y="1228038"/>
            <a:ext cx="946619" cy="816051"/>
            <a:chOff x="10216710" y="1444843"/>
            <a:chExt cx="946619" cy="816051"/>
          </a:xfrm>
        </p:grpSpPr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C7843B9E-7E07-4F8E-AAEA-81DB67EAB199}"/>
                </a:ext>
              </a:extLst>
            </p:cNvPr>
            <p:cNvSpPr/>
            <p:nvPr/>
          </p:nvSpPr>
          <p:spPr>
            <a:xfrm>
              <a:off x="10216710" y="1444843"/>
              <a:ext cx="946619" cy="81605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217B1CE1-01D3-497F-8F99-E010673C124D}"/>
                </a:ext>
              </a:extLst>
            </p:cNvPr>
            <p:cNvCxnSpPr/>
            <p:nvPr/>
          </p:nvCxnSpPr>
          <p:spPr>
            <a:xfrm>
              <a:off x="10352015" y="2014673"/>
              <a:ext cx="66273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2BD32F30-9912-4705-B53A-5382ECF2A877}"/>
                </a:ext>
              </a:extLst>
            </p:cNvPr>
            <p:cNvCxnSpPr>
              <a:cxnSpLocks/>
            </p:cNvCxnSpPr>
            <p:nvPr/>
          </p:nvCxnSpPr>
          <p:spPr>
            <a:xfrm>
              <a:off x="10509655" y="1771392"/>
              <a:ext cx="36072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14DDAA5-948F-4EB3-943A-C2891B841A42}"/>
                </a:ext>
              </a:extLst>
            </p:cNvPr>
            <p:cNvSpPr txBox="1"/>
            <p:nvPr/>
          </p:nvSpPr>
          <p:spPr>
            <a:xfrm>
              <a:off x="10326808" y="2009212"/>
              <a:ext cx="543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000" dirty="0">
                  <a:solidFill>
                    <a:srgbClr val="0070C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평민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4BAF875-73E5-4D5C-91CD-9FBB55332561}"/>
              </a:ext>
            </a:extLst>
          </p:cNvPr>
          <p:cNvSpPr txBox="1"/>
          <p:nvPr/>
        </p:nvSpPr>
        <p:spPr>
          <a:xfrm>
            <a:off x="10326808" y="1574293"/>
            <a:ext cx="543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73F49-C78B-410C-91B0-D88CC71C9E71}"/>
              </a:ext>
            </a:extLst>
          </p:cNvPr>
          <p:cNvSpPr txBox="1"/>
          <p:nvPr/>
        </p:nvSpPr>
        <p:spPr>
          <a:xfrm>
            <a:off x="9649419" y="1349667"/>
            <a:ext cx="84136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집정관</a:t>
            </a:r>
            <a:r>
              <a:rPr lang="en-US" altLang="ko-KR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(2</a:t>
            </a:r>
            <a:r>
              <a:rPr lang="ko-KR" altLang="en-US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</a:t>
            </a:r>
            <a:r>
              <a:rPr lang="en-US" altLang="ko-KR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sz="5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원로원</a:t>
            </a:r>
          </a:p>
        </p:txBody>
      </p:sp>
      <p:sp>
        <p:nvSpPr>
          <p:cNvPr id="61" name="화살표: 위쪽 60">
            <a:extLst>
              <a:ext uri="{FF2B5EF4-FFF2-40B4-BE49-F238E27FC236}">
                <a16:creationId xmlns:a16="http://schemas.microsoft.com/office/drawing/2014/main" id="{3F746351-7F93-4CF1-A4D5-33E3A63F7AAB}"/>
              </a:ext>
            </a:extLst>
          </p:cNvPr>
          <p:cNvSpPr/>
          <p:nvPr/>
        </p:nvSpPr>
        <p:spPr>
          <a:xfrm>
            <a:off x="10632152" y="2112616"/>
            <a:ext cx="130923" cy="139876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CD4B16-447E-433F-B0CD-E4F736CB76B4}"/>
              </a:ext>
            </a:extLst>
          </p:cNvPr>
          <p:cNvSpPr txBox="1"/>
          <p:nvPr/>
        </p:nvSpPr>
        <p:spPr>
          <a:xfrm>
            <a:off x="747538" y="3780603"/>
            <a:ext cx="48488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1-3)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황제의 자리를 아들에게 세습하는 것이 아니라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능력 있는 자를 선별하여 그 사람에게 황제의 권한을 넘겨주었기 때문이다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77BD6A-FCA4-4D02-B94C-72F5CEBA3416}"/>
              </a:ext>
            </a:extLst>
          </p:cNvPr>
          <p:cNvSpPr txBox="1"/>
          <p:nvPr/>
        </p:nvSpPr>
        <p:spPr>
          <a:xfrm>
            <a:off x="747538" y="5207178"/>
            <a:ext cx="484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초기에 크리스트교는 우상 숭배 금지와 유일신에 대한 믿음 때문에 황제 숭배를 거부하여 탄압을 받기도 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 크리스트교를 믿는 사람이 꾸준히 늘어나자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콘스탄티누스 대제는 이를 통치에 이용하기 위하여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로마에 널리 퍼져 있는 크리스트교를 공인하였다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" name="갈매기형 수장 2"/>
          <p:cNvSpPr/>
          <p:nvPr/>
        </p:nvSpPr>
        <p:spPr>
          <a:xfrm rot="10800000">
            <a:off x="8354176" y="2552345"/>
            <a:ext cx="208266" cy="208266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E63182-A6C6-4E95-9466-E577535DF362}"/>
              </a:ext>
            </a:extLst>
          </p:cNvPr>
          <p:cNvSpPr txBox="1"/>
          <p:nvPr/>
        </p:nvSpPr>
        <p:spPr>
          <a:xfrm>
            <a:off x="8476121" y="2552181"/>
            <a:ext cx="1466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포에니 전쟁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갈매기형 수장 38"/>
          <p:cNvSpPr/>
          <p:nvPr/>
        </p:nvSpPr>
        <p:spPr>
          <a:xfrm rot="10800000">
            <a:off x="8354176" y="3704137"/>
            <a:ext cx="208266" cy="208266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B73F49-C78B-410C-91B0-D88CC71C9E71}"/>
              </a:ext>
            </a:extLst>
          </p:cNvPr>
          <p:cNvSpPr txBox="1"/>
          <p:nvPr/>
        </p:nvSpPr>
        <p:spPr>
          <a:xfrm>
            <a:off x="8580829" y="3642077"/>
            <a:ext cx="841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공화정 쇠퇴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두정치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44AD9F5-576F-4FBA-B0F6-BFDD01A40F98}"/>
              </a:ext>
            </a:extLst>
          </p:cNvPr>
          <p:cNvGrpSpPr/>
          <p:nvPr/>
        </p:nvGrpSpPr>
        <p:grpSpPr>
          <a:xfrm>
            <a:off x="747538" y="2618428"/>
            <a:ext cx="6339438" cy="1061829"/>
            <a:chOff x="747538" y="2618428"/>
            <a:chExt cx="6339438" cy="106182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493CC82-39A5-4819-BAF2-D27E45D07B53}"/>
                </a:ext>
              </a:extLst>
            </p:cNvPr>
            <p:cNvSpPr txBox="1"/>
            <p:nvPr/>
          </p:nvSpPr>
          <p:spPr>
            <a:xfrm>
              <a:off x="747538" y="2618428"/>
              <a:ext cx="484883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1-2)</a:t>
              </a: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귀족들이 많은 농장을 경영하기 위해 농민들의 땅을 사들이거나 빼앗았다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농민들은 전쟁에 동원되느라 신경을 쓰지 못한 땅을 헐값에 내다 팔았다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</a:p>
            <a:p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라티푼디움이 점점 더 커지는 동안 땅을 판 농민들은 노예가 되거나 빈민층으로 전락하였다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endPara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포에니 전쟁 이후</a:t>
              </a:r>
              <a:r>
                <a:rPr lang="en-US" altLang="ko-KR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  <a:p>
              <a:r>
                <a:rPr lang="ko-KR" altLang="en-US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① 공화정 위기 ② 자영농의 몰락 ③ 국방력 약화 ④ 귀족들의 라티푼디움 경영 ⑤ </a:t>
              </a:r>
              <a:r>
                <a:rPr lang="ko-KR" altLang="en-US" sz="900" dirty="0" err="1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빈인빅</a:t>
              </a:r>
              <a:r>
                <a:rPr lang="ko-KR" altLang="en-US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부익부 현상</a:t>
              </a:r>
              <a:r>
                <a:rPr lang="en-US" altLang="ko-KR" sz="9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12D3076E-7A17-40BC-B49D-8804E98AE60D}"/>
                </a:ext>
              </a:extLst>
            </p:cNvPr>
            <p:cNvCxnSpPr/>
            <p:nvPr/>
          </p:nvCxnSpPr>
          <p:spPr>
            <a:xfrm>
              <a:off x="5743165" y="3556008"/>
              <a:ext cx="13438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54D30D3-7DC4-4C3D-96C5-101C69047AD1}"/>
              </a:ext>
            </a:extLst>
          </p:cNvPr>
          <p:cNvCxnSpPr>
            <a:cxnSpLocks/>
          </p:cNvCxnSpPr>
          <p:nvPr/>
        </p:nvCxnSpPr>
        <p:spPr>
          <a:xfrm flipH="1">
            <a:off x="10133901" y="1697403"/>
            <a:ext cx="3568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807FF7A-21DF-4AC3-969C-057548109996}"/>
              </a:ext>
            </a:extLst>
          </p:cNvPr>
          <p:cNvSpPr txBox="1"/>
          <p:nvPr/>
        </p:nvSpPr>
        <p:spPr>
          <a:xfrm>
            <a:off x="7489376" y="3680257"/>
            <a:ext cx="1068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카이사르 독재</a:t>
            </a:r>
          </a:p>
        </p:txBody>
      </p:sp>
      <p:sp>
        <p:nvSpPr>
          <p:cNvPr id="49" name="갈매기형 수장 38">
            <a:extLst>
              <a:ext uri="{FF2B5EF4-FFF2-40B4-BE49-F238E27FC236}">
                <a16:creationId xmlns:a16="http://schemas.microsoft.com/office/drawing/2014/main" id="{617B1B58-3C0C-4200-BDEB-E9126D111E65}"/>
              </a:ext>
            </a:extLst>
          </p:cNvPr>
          <p:cNvSpPr/>
          <p:nvPr/>
        </p:nvSpPr>
        <p:spPr>
          <a:xfrm rot="5400000">
            <a:off x="7296260" y="3718212"/>
            <a:ext cx="208266" cy="208266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갈매기형 수장 38">
            <a:extLst>
              <a:ext uri="{FF2B5EF4-FFF2-40B4-BE49-F238E27FC236}">
                <a16:creationId xmlns:a16="http://schemas.microsoft.com/office/drawing/2014/main" id="{704F1753-A562-409F-8CA9-2D3BA9CFA284}"/>
              </a:ext>
            </a:extLst>
          </p:cNvPr>
          <p:cNvSpPr/>
          <p:nvPr/>
        </p:nvSpPr>
        <p:spPr>
          <a:xfrm rot="5400000">
            <a:off x="8847154" y="3449271"/>
            <a:ext cx="208266" cy="208266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갈매기형 수장 38">
            <a:extLst>
              <a:ext uri="{FF2B5EF4-FFF2-40B4-BE49-F238E27FC236}">
                <a16:creationId xmlns:a16="http://schemas.microsoft.com/office/drawing/2014/main" id="{4F4D2E34-DBE4-495A-96DF-DAF6CBBCDAEF}"/>
              </a:ext>
            </a:extLst>
          </p:cNvPr>
          <p:cNvSpPr/>
          <p:nvPr/>
        </p:nvSpPr>
        <p:spPr>
          <a:xfrm rot="5400000">
            <a:off x="7837237" y="5487865"/>
            <a:ext cx="208266" cy="208266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ECD8A8-6788-4A4E-A1D6-44D6517B087F}"/>
              </a:ext>
            </a:extLst>
          </p:cNvPr>
          <p:cNvSpPr txBox="1"/>
          <p:nvPr/>
        </p:nvSpPr>
        <p:spPr>
          <a:xfrm>
            <a:off x="8027988" y="5471594"/>
            <a:ext cx="2003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군인황제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(50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년간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37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5857D0-6499-4095-8DCE-1CE793FFC5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41" t="14841" r="1887" b="6129"/>
          <a:stretch/>
        </p:blipFill>
        <p:spPr>
          <a:xfrm>
            <a:off x="5665157" y="720384"/>
            <a:ext cx="4884886" cy="583939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중국과 인도에 세워진 통일 제국의 특징을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인도의 통일 제국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0D4A2A-F272-4813-8CCF-1B431C844FB2}"/>
              </a:ext>
            </a:extLst>
          </p:cNvPr>
          <p:cNvSpPr txBox="1"/>
          <p:nvPr/>
        </p:nvSpPr>
        <p:spPr>
          <a:xfrm>
            <a:off x="9333709" y="3063345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CB6A1F-346E-42E6-8360-8812824E6C52}"/>
              </a:ext>
            </a:extLst>
          </p:cNvPr>
          <p:cNvSpPr txBox="1"/>
          <p:nvPr/>
        </p:nvSpPr>
        <p:spPr>
          <a:xfrm>
            <a:off x="10649144" y="3093724"/>
            <a:ext cx="1024375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춘추 전국 시대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E95C1D4-CA32-4438-B5B6-C04416B9CEAF}"/>
              </a:ext>
            </a:extLst>
          </p:cNvPr>
          <p:cNvCxnSpPr>
            <a:cxnSpLocks/>
          </p:cNvCxnSpPr>
          <p:nvPr/>
        </p:nvCxnSpPr>
        <p:spPr>
          <a:xfrm flipH="1">
            <a:off x="11148969" y="4068660"/>
            <a:ext cx="1" cy="55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73FFD3-1D33-49B0-9A65-3056C0143A8A}"/>
              </a:ext>
            </a:extLst>
          </p:cNvPr>
          <p:cNvSpPr txBox="1"/>
          <p:nvPr/>
        </p:nvSpPr>
        <p:spPr>
          <a:xfrm>
            <a:off x="10882072" y="856603"/>
            <a:ext cx="5222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268194C-A096-4490-8C70-D875DA2572BF}"/>
              </a:ext>
            </a:extLst>
          </p:cNvPr>
          <p:cNvCxnSpPr>
            <a:cxnSpLocks/>
          </p:cNvCxnSpPr>
          <p:nvPr/>
        </p:nvCxnSpPr>
        <p:spPr>
          <a:xfrm>
            <a:off x="11148969" y="1102824"/>
            <a:ext cx="0" cy="32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9535C67-BFF9-4F1E-B342-7AD0FEFEA7CA}"/>
              </a:ext>
            </a:extLst>
          </p:cNvPr>
          <p:cNvSpPr txBox="1"/>
          <p:nvPr/>
        </p:nvSpPr>
        <p:spPr>
          <a:xfrm>
            <a:off x="11106315" y="1096073"/>
            <a:ext cx="96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신권 정치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C1B34A-2349-42E7-914D-A75F8495C036}"/>
              </a:ext>
            </a:extLst>
          </p:cNvPr>
          <p:cNvSpPr txBox="1"/>
          <p:nvPr/>
        </p:nvSpPr>
        <p:spPr>
          <a:xfrm>
            <a:off x="10882072" y="1487155"/>
            <a:ext cx="5222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19EE934-3344-48DA-9A8F-223F0CDAEDD2}"/>
              </a:ext>
            </a:extLst>
          </p:cNvPr>
          <p:cNvCxnSpPr>
            <a:cxnSpLocks/>
          </p:cNvCxnSpPr>
          <p:nvPr/>
        </p:nvCxnSpPr>
        <p:spPr>
          <a:xfrm>
            <a:off x="11148969" y="1757165"/>
            <a:ext cx="0" cy="1237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74CBE37-7C0F-4068-9BC4-D4D21019B3ED}"/>
              </a:ext>
            </a:extLst>
          </p:cNvPr>
          <p:cNvSpPr txBox="1"/>
          <p:nvPr/>
        </p:nvSpPr>
        <p:spPr>
          <a:xfrm>
            <a:off x="10882072" y="3760572"/>
            <a:ext cx="5222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637434F-5112-46AE-95C4-90EB25BB28A7}"/>
              </a:ext>
            </a:extLst>
          </p:cNvPr>
          <p:cNvCxnSpPr>
            <a:cxnSpLocks/>
          </p:cNvCxnSpPr>
          <p:nvPr/>
        </p:nvCxnSpPr>
        <p:spPr>
          <a:xfrm>
            <a:off x="11148969" y="3376240"/>
            <a:ext cx="0" cy="32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CBA5FE-1BD4-4AB0-A0F6-20C1CCB151FF}"/>
              </a:ext>
            </a:extLst>
          </p:cNvPr>
          <p:cNvSpPr txBox="1"/>
          <p:nvPr/>
        </p:nvSpPr>
        <p:spPr>
          <a:xfrm>
            <a:off x="10882072" y="4716917"/>
            <a:ext cx="5222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CC638E-52DE-44DD-A7C7-6C82581A42EA}"/>
              </a:ext>
            </a:extLst>
          </p:cNvPr>
          <p:cNvSpPr txBox="1"/>
          <p:nvPr/>
        </p:nvSpPr>
        <p:spPr>
          <a:xfrm>
            <a:off x="11106315" y="1758803"/>
            <a:ext cx="96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EB800A-6DC5-4746-B43C-302619999E5F}"/>
              </a:ext>
            </a:extLst>
          </p:cNvPr>
          <p:cNvSpPr txBox="1"/>
          <p:nvPr/>
        </p:nvSpPr>
        <p:spPr>
          <a:xfrm>
            <a:off x="11106315" y="4010685"/>
            <a:ext cx="96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시황제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542980-CE4A-41AF-B5AF-E348088A6784}"/>
              </a:ext>
            </a:extLst>
          </p:cNvPr>
          <p:cNvSpPr txBox="1"/>
          <p:nvPr/>
        </p:nvSpPr>
        <p:spPr>
          <a:xfrm>
            <a:off x="6823271" y="5316495"/>
            <a:ext cx="45810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마우리아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아소카왕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쿠샨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카니슈카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찬드라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F37B110-7493-43D4-B0F4-F0427BAF4CEB}"/>
              </a:ext>
            </a:extLst>
          </p:cNvPr>
          <p:cNvCxnSpPr>
            <a:cxnSpLocks/>
          </p:cNvCxnSpPr>
          <p:nvPr/>
        </p:nvCxnSpPr>
        <p:spPr>
          <a:xfrm flipH="1">
            <a:off x="7281645" y="5561901"/>
            <a:ext cx="1" cy="18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01733B-1C2B-45F7-8C25-E5AA44CF4D43}"/>
              </a:ext>
            </a:extLst>
          </p:cNvPr>
          <p:cNvCxnSpPr>
            <a:cxnSpLocks/>
          </p:cNvCxnSpPr>
          <p:nvPr/>
        </p:nvCxnSpPr>
        <p:spPr>
          <a:xfrm flipH="1">
            <a:off x="9009777" y="5561901"/>
            <a:ext cx="1" cy="18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090C51D-5A2F-47A6-9EB4-788CDBF9AEB9}"/>
              </a:ext>
            </a:extLst>
          </p:cNvPr>
          <p:cNvCxnSpPr>
            <a:cxnSpLocks/>
          </p:cNvCxnSpPr>
          <p:nvPr/>
        </p:nvCxnSpPr>
        <p:spPr>
          <a:xfrm flipH="1">
            <a:off x="10360405" y="5561901"/>
            <a:ext cx="1" cy="18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2792DA5-98B6-4184-B9B1-00823953BFD2}"/>
              </a:ext>
            </a:extLst>
          </p:cNvPr>
          <p:cNvSpPr txBox="1"/>
          <p:nvPr/>
        </p:nvSpPr>
        <p:spPr>
          <a:xfrm>
            <a:off x="8799343" y="5738817"/>
            <a:ext cx="7067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대승불교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3BFDD5-EA87-417A-A62D-6C6F7C59D0A2}"/>
              </a:ext>
            </a:extLst>
          </p:cNvPr>
          <p:cNvSpPr txBox="1"/>
          <p:nvPr/>
        </p:nvSpPr>
        <p:spPr>
          <a:xfrm>
            <a:off x="9858188" y="5738817"/>
            <a:ext cx="1871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힌두교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브라만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민간 신앙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99DB-1308-4BA5-8543-909170A518D8}"/>
              </a:ext>
            </a:extLst>
          </p:cNvPr>
          <p:cNvSpPr txBox="1"/>
          <p:nvPr/>
        </p:nvSpPr>
        <p:spPr>
          <a:xfrm>
            <a:off x="8803636" y="3547920"/>
            <a:ext cx="11589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117~118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EF98D3-EA5B-427B-AE2F-3529E6A64B8D}"/>
              </a:ext>
            </a:extLst>
          </p:cNvPr>
          <p:cNvSpPr txBox="1"/>
          <p:nvPr/>
        </p:nvSpPr>
        <p:spPr>
          <a:xfrm>
            <a:off x="5839125" y="5552361"/>
            <a:ext cx="720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7AF2CB-48D8-4684-AD1C-A99B6F52B930}"/>
              </a:ext>
            </a:extLst>
          </p:cNvPr>
          <p:cNvSpPr txBox="1"/>
          <p:nvPr/>
        </p:nvSpPr>
        <p:spPr>
          <a:xfrm>
            <a:off x="747538" y="1825248"/>
            <a:ext cx="4848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1-1)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나라로 분열되어 있으면서 서로 영토를 넓히기 위해 계속 싸웠기 때문에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전쟁이 끊이지 않는 등 정치적으로 혼란스러운 시기였다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경제와 문화는 비약적으로 발전했다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나라가 발전하려면 인재가 필요했고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전쟁을 해서 영토를 넓히려면 군사와 돈도 많이 필요해 학문이 왕성하게 발전했다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.)</a:t>
            </a:r>
          </a:p>
          <a:p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나라 사이에 이동도 활발했는데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서로 왕래하면서 문화가 섞이며 발달하고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새로운 사상을 가진 인물들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제자백가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나타났다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0A4035-EBE9-4F1C-8BD3-9C962A1CBD06}"/>
              </a:ext>
            </a:extLst>
          </p:cNvPr>
          <p:cNvSpPr txBox="1"/>
          <p:nvPr/>
        </p:nvSpPr>
        <p:spPr>
          <a:xfrm>
            <a:off x="747538" y="3561769"/>
            <a:ext cx="4848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1-2)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시황제는 강력한 힘을 가지고 나라 전체를 혼자 다스렸다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지역마다 다른 언어를 썼고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생활 방식도 달랐기 때문에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통일해야겠다고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생각했다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진의 말을 언어로 지정하고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화폐를 통일하였으며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길이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부피 등 도량형을 통일했다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법에 따라 나라를 통치하는 법가 사상을 택했는데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유가와 도가 등 다른 사상을 갖고 있는 사람들이 크게 반발했다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진시황은 실용서를 제외한 모든 책을 불태우고 유학자들을 땅에 묻는 분서갱유를 시행하였다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.)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2C71E3-3ABB-4300-B3AD-D8016B729CE9}"/>
              </a:ext>
            </a:extLst>
          </p:cNvPr>
          <p:cNvSpPr txBox="1"/>
          <p:nvPr/>
        </p:nvSpPr>
        <p:spPr>
          <a:xfrm>
            <a:off x="747538" y="5495245"/>
            <a:ext cx="48488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</a:p>
          <a:p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칼링가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전투에서 죽은 사람을 보고 양심의 가책을 느끼게 되었다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그뿐만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아니라 넓은 통일 왕조를 다스리기 위해서 나라를 하나로 묶을 사상이 필요하였다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2C71E3-3ABB-4300-B3AD-D8016B729CE9}"/>
              </a:ext>
            </a:extLst>
          </p:cNvPr>
          <p:cNvSpPr txBox="1"/>
          <p:nvPr/>
        </p:nvSpPr>
        <p:spPr>
          <a:xfrm>
            <a:off x="7335559" y="6198457"/>
            <a:ext cx="399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브라만교 비판하면서 인간은 누구나 수행을 통해 고통에서 벗어날 수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있다는데서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여러 신분에 환영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사회 질서에 불만을 품던 국왕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상인 적극 지원하며 성장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E6D927-1BCB-4AB2-878A-739A489E479F}"/>
              </a:ext>
            </a:extLst>
          </p:cNvPr>
          <p:cNvSpPr txBox="1"/>
          <p:nvPr/>
        </p:nvSpPr>
        <p:spPr>
          <a:xfrm>
            <a:off x="5778626" y="5057199"/>
            <a:ext cx="22153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철기 사용하면서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크샤트리아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바이샤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04F1BE-87BE-4C79-8617-92A09D0B421E}"/>
              </a:ext>
            </a:extLst>
          </p:cNvPr>
          <p:cNvSpPr txBox="1"/>
          <p:nvPr/>
        </p:nvSpPr>
        <p:spPr>
          <a:xfrm>
            <a:off x="7095335" y="5700110"/>
            <a:ext cx="7067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</a:t>
            </a:r>
          </a:p>
        </p:txBody>
      </p:sp>
    </p:spTree>
    <p:extLst>
      <p:ext uri="{BB962C8B-B14F-4D97-AF65-F5344CB8AC3E}">
        <p14:creationId xmlns:p14="http://schemas.microsoft.com/office/powerpoint/2010/main" val="417000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" t="13077" r="51516" b="897"/>
          <a:stretch/>
        </p:blipFill>
        <p:spPr>
          <a:xfrm>
            <a:off x="6034217" y="555776"/>
            <a:ext cx="5008754" cy="620087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6" y="536170"/>
            <a:ext cx="598694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통일 제국을 효율적으로 다스리기 위하여 각 제국이 실시한 정책들을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제국을 다스리기 위해서는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AE04F0-D8D4-4005-8E17-A41CE8380AAB}"/>
              </a:ext>
            </a:extLst>
          </p:cNvPr>
          <p:cNvSpPr txBox="1"/>
          <p:nvPr/>
        </p:nvSpPr>
        <p:spPr>
          <a:xfrm>
            <a:off x="7386686" y="1702341"/>
            <a:ext cx="686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901489-CAFD-4941-A305-5BDE32A13125}"/>
              </a:ext>
            </a:extLst>
          </p:cNvPr>
          <p:cNvSpPr txBox="1"/>
          <p:nvPr/>
        </p:nvSpPr>
        <p:spPr>
          <a:xfrm>
            <a:off x="9417893" y="1702341"/>
            <a:ext cx="12046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p.120   p.86  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4102D8-8816-472F-B243-5F45937B4340}"/>
              </a:ext>
            </a:extLst>
          </p:cNvPr>
          <p:cNvSpPr txBox="1"/>
          <p:nvPr/>
        </p:nvSpPr>
        <p:spPr>
          <a:xfrm>
            <a:off x="6961044" y="3195581"/>
            <a:ext cx="1808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21      p.14    p.86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2FEF52-8A36-4F38-A7DD-87540C3A1ACB}"/>
              </a:ext>
            </a:extLst>
          </p:cNvPr>
          <p:cNvSpPr txBox="1"/>
          <p:nvPr/>
        </p:nvSpPr>
        <p:spPr>
          <a:xfrm>
            <a:off x="9049576" y="3195581"/>
            <a:ext cx="1808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25   p.118  p.139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464D36-9EFC-4B99-BF5F-89838D03A032}"/>
              </a:ext>
            </a:extLst>
          </p:cNvPr>
          <p:cNvSpPr txBox="1"/>
          <p:nvPr/>
        </p:nvSpPr>
        <p:spPr>
          <a:xfrm>
            <a:off x="907791" y="1174435"/>
            <a:ext cx="48488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페르시아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왕이 살았던 수사에서부터 지방의 주요 거점들을 잇는 도로인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왕의 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만들었다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왕의 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에는 일정한 간격을 두고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역참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세웠다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한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제후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들을 지방으로 보내 그곳을 다스리게 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로마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속주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각 지역을 다스리도록 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페르시아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정복한 땅의 민족들이 세금과 병역의 의무만 잘 지키면 그들의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언어와 종교를 인정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 주는 관용 정책을 펼쳤다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마우리아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불교를 강요하지 않고 다양한 민족의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종교를 인정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 주고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활동을 지원해 주기도 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로마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정복지의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자치권을 최대한 보장해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그곳의 주민들을 노예로 삼지 않았다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 페르시아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조로아스터교를 국교로 지정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 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법가를 채택하고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나머지 사상들을 탄압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마우리아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불교를 장려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0436E2-8C31-4A13-A9A0-0BBAFC55EB30}"/>
              </a:ext>
            </a:extLst>
          </p:cNvPr>
          <p:cNvSpPr txBox="1"/>
          <p:nvPr/>
        </p:nvSpPr>
        <p:spPr>
          <a:xfrm>
            <a:off x="6338924" y="4688821"/>
            <a:ext cx="4519090" cy="7232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당시는 제국이 형성되는 시기였기 때문에 잦은 전쟁으로 여러 민족이 하나의 제국으로 묶이면서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~~~~~~~~~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그래서 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~~~~~~~~~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~~~~~~~~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또한 지도자에게 반감을 갖지 않도록 하기  위해서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92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6" y="536170"/>
            <a:ext cx="598694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고대에 성립되었던 국가들의 주요 문화유산을 정리해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문화재로 보는 역사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6D7B8D-AACA-4CB4-B0D1-87BA82FA63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6" t="11376" r="3010" b="6923"/>
          <a:stretch/>
        </p:blipFill>
        <p:spPr>
          <a:xfrm>
            <a:off x="5503178" y="690058"/>
            <a:ext cx="5038411" cy="613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9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" t="13333" r="2848" b="1154"/>
          <a:stretch/>
        </p:blipFill>
        <p:spPr>
          <a:xfrm>
            <a:off x="527538" y="949567"/>
            <a:ext cx="4668716" cy="58644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4" t="4097" r="1123" b="1801"/>
          <a:stretch/>
        </p:blipFill>
        <p:spPr>
          <a:xfrm>
            <a:off x="5917223" y="533340"/>
            <a:ext cx="4665476" cy="62719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인물 열전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고대 역사에 등장하는 인물을 알리는 글을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4485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B4C68C8D-1F59-4AA1-829F-358661F9A8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39" t="19082" r="27329" b="16367"/>
          <a:stretch/>
        </p:blipFill>
        <p:spPr>
          <a:xfrm>
            <a:off x="0" y="1369869"/>
            <a:ext cx="5931017" cy="45024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475688-AF8F-4172-ACCD-6722F49A9D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96" t="40734" r="26926" b="8379"/>
          <a:stretch/>
        </p:blipFill>
        <p:spPr>
          <a:xfrm>
            <a:off x="5865022" y="1982266"/>
            <a:ext cx="6326978" cy="38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정리해요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369579BA-AC12-4265-B255-BB0444AF3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40" t="18593" r="27546" b="17064"/>
          <a:stretch/>
        </p:blipFill>
        <p:spPr>
          <a:xfrm>
            <a:off x="9331" y="1433776"/>
            <a:ext cx="5829406" cy="4535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6A8B3F-53CB-40CF-9CED-BD214A81F8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16" t="32539" r="27752" b="15963"/>
          <a:stretch/>
        </p:blipFill>
        <p:spPr>
          <a:xfrm>
            <a:off x="5838737" y="2031415"/>
            <a:ext cx="6258188" cy="39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1321</Words>
  <Application>Microsoft Office PowerPoint</Application>
  <PresentationFormat>와이드스크린</PresentationFormat>
  <Paragraphs>187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85</cp:revision>
  <dcterms:created xsi:type="dcterms:W3CDTF">2021-05-21T01:10:02Z</dcterms:created>
  <dcterms:modified xsi:type="dcterms:W3CDTF">2024-10-10T05:04:12Z</dcterms:modified>
</cp:coreProperties>
</file>