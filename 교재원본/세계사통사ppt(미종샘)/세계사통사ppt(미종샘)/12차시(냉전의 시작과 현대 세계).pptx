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86" r:id="rId3"/>
    <p:sldId id="283" r:id="rId4"/>
    <p:sldId id="287" r:id="rId5"/>
    <p:sldId id="281" r:id="rId6"/>
    <p:sldId id="295" r:id="rId7"/>
    <p:sldId id="294" r:id="rId8"/>
    <p:sldId id="297" r:id="rId9"/>
    <p:sldId id="285" r:id="rId10"/>
    <p:sldId id="29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DBF09E-2F48-4E2E-887D-C83A1703F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227155-6CC4-4A07-827B-08BD9D3C4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FC9475-BBB8-4E7C-B71C-BA69F3EA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115D5-E04F-46B4-9026-0897E209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601A8-7A5F-4A85-98F0-640FE50A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802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AA440-2DC7-49F8-ABF3-AC421555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A4BD65-C34B-4B31-861B-6B2FEA438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968D4-CEA1-4ED5-9831-87855B43E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421234-7B8F-4404-9C12-CD50653AD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F11D50-9C5A-4226-8BDD-1FD3BB21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34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61B46-3C1C-4B65-83CE-29B306DB3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A3F87C-106D-4D19-8DB6-18A042F69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3C9D4D-0FED-4442-B439-26F9223BE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23A45C-DBC1-4D4A-88AA-5D80C54C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BA1CB-1588-4222-AB69-59FEDF91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0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E135B-E430-499B-AD4A-44B43FD9A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5863E5-1843-4A4C-9004-0E5780BF1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411DA0-B5AC-408A-9B24-910EC5B4F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E0DE3B-1C4C-42BE-8C7E-0A03B3BCC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375DDF-57E6-42DE-B908-F3D9F215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E51BDF-7C0C-445E-BBE1-395731FA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948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A237B-E50D-4CDA-B697-5F41D805A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C193AE-DBA3-43D7-9C42-86D280EDC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2BD590-9B7A-4B1E-8CD5-CBC55361F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7791AA-4CA9-4EBD-ADCF-45995414F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37961-538C-401B-BA6C-81B6E345E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2A739A-A9F7-41C3-8E73-C58B3966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2234EBC-BA27-4A3B-BBAD-2A84BE06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BC7CE16-42DC-46A9-AD74-8AC77F17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65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66BFB-6767-4325-90A4-D87B215A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661116-7BFA-4449-AA52-93E6DD062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57FBD7-122F-48CE-82E5-C3CFE3AFF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CB7F33-CE8D-4098-8F32-5315E365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06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A2BD6F-CF9D-499D-ABDD-DF4A5EB7F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8FC5D9-2E9D-42A8-B651-C4A2CC6D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570DE-7E0C-485D-8328-72AC5FB74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386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8748D-3391-40D5-992B-48BCB17B9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97AF4B-B7D5-49D9-8969-0CD238F5E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FB7B14-BF99-4106-AE0C-F05D09AE6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33C3F4-1B10-4CD7-BD18-68EB58606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E03EB7-E983-4545-8671-7BE21E20F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5A0FE2-ED3E-4581-B0D5-88909DA4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236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62667-DBBB-4A4D-BAE9-F2D59A9E8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5DBF80-FFFA-4CD8-9BDA-A39A273A6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F5535C-32B6-41A8-8D53-B84ECB908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587FB1-1472-4E7B-94B6-659863E3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6294D4-590D-493F-8138-53F7CA5A3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47E70A-B0FA-4C12-ADF7-DC10C86C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07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3077AA-FE8C-41FE-927E-C363475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73F264-7FEE-477D-B6AD-17E4A3B9D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F3B7DD-6D54-4392-8080-BC88ECF74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A3D4E4-9827-46BB-860A-BB275868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6D0B1-EAAE-4ABE-A3A4-65BF6FB0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891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D3092B-8A1F-492F-932D-F9A5CE830F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1AA047-6D64-43A4-AFE0-246807DF9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17278F-7610-4CDD-B60D-2518C3E2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85B3C1-A624-4119-9C3A-C5C227D7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6C8147-0120-40A8-806B-9CC651F7D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43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46CEAD-EDE2-479A-9F7E-BD61BDB0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AE9DE0-42FC-4E12-A53D-088334F57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AFD70-A355-4236-8E75-E3F63258A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9C325-16F0-4E5B-9146-ADEC5507B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1DE10C-87C5-42DE-9363-2810FD536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826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962915B-27BF-4027-BCF2-3EC9E205E2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8" t="21684" r="20956" b="57923"/>
          <a:stretch/>
        </p:blipFill>
        <p:spPr>
          <a:xfrm>
            <a:off x="880844" y="643321"/>
            <a:ext cx="2332139" cy="129600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FB414AB-7D20-4C1B-8DA1-2BB34161EBA4}"/>
              </a:ext>
            </a:extLst>
          </p:cNvPr>
          <p:cNvSpPr txBox="1"/>
          <p:nvPr/>
        </p:nvSpPr>
        <p:spPr>
          <a:xfrm>
            <a:off x="9331" y="6528945"/>
            <a:ext cx="12192000" cy="28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한우리</a:t>
            </a:r>
            <a:r>
              <a: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</a:r>
            <a:r>
              <a:rPr lang="en-US" altLang="ko-KR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sk</a:t>
            </a:r>
            <a:r>
              <a:rPr lang="en-US" altLang="ko-KR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</a:t>
            </a: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논술교습소</a:t>
            </a:r>
            <a:endParaRPr lang="ko-KR" altLang="en-US" sz="900" dirty="0">
              <a:solidFill>
                <a:srgbClr val="003300"/>
              </a:solidFill>
              <a:latin typeface="THE봉숭아틴트" panose="02020603020101020101" pitchFamily="18" charset="-127"/>
              <a:ea typeface="THE봉숭아틴트" panose="02020603020101020101" pitchFamily="18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0186495-8991-42AD-B58A-9CBF1D38BA33}"/>
              </a:ext>
            </a:extLst>
          </p:cNvPr>
          <p:cNvCxnSpPr>
            <a:cxnSpLocks/>
          </p:cNvCxnSpPr>
          <p:nvPr/>
        </p:nvCxnSpPr>
        <p:spPr>
          <a:xfrm>
            <a:off x="0" y="6851340"/>
            <a:ext cx="1219200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DA6985-C3BD-4D21-B216-0AD1DA5A3AEB}"/>
              </a:ext>
            </a:extLst>
          </p:cNvPr>
          <p:cNvSpPr txBox="1"/>
          <p:nvPr/>
        </p:nvSpPr>
        <p:spPr>
          <a:xfrm>
            <a:off x="3663101" y="2514302"/>
            <a:ext cx="8323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냉전 체제 형성 이후부터 오늘날까지 역사를 파악할 수 있다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현대 세계 사회의 문제점을 알고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이를 해결하기 위한 올바른 자세를 기를 수 있다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6C90F0-D105-427E-8B20-6195FD183CE2}"/>
              </a:ext>
            </a:extLst>
          </p:cNvPr>
          <p:cNvSpPr txBox="1"/>
          <p:nvPr/>
        </p:nvSpPr>
        <p:spPr>
          <a:xfrm>
            <a:off x="11397622" y="263760"/>
            <a:ext cx="5890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>
                <a:solidFill>
                  <a:srgbClr val="0033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⑫</a:t>
            </a:r>
            <a:endParaRPr lang="en-US" altLang="ko-KR" sz="3000" dirty="0">
              <a:solidFill>
                <a:srgbClr val="0033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750985-C6A6-487E-A622-5A5C07F7BE52}"/>
              </a:ext>
            </a:extLst>
          </p:cNvPr>
          <p:cNvSpPr/>
          <p:nvPr/>
        </p:nvSpPr>
        <p:spPr>
          <a:xfrm>
            <a:off x="1923243" y="2580038"/>
            <a:ext cx="107604" cy="50917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BF407F-2D88-4762-80A7-3DA7561A0052}"/>
              </a:ext>
            </a:extLst>
          </p:cNvPr>
          <p:cNvSpPr txBox="1"/>
          <p:nvPr/>
        </p:nvSpPr>
        <p:spPr>
          <a:xfrm>
            <a:off x="2054932" y="2433586"/>
            <a:ext cx="17836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 목표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D9F31C6-99D3-425E-9BEE-F7E4399D1D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49" t="60226" r="9427" b="5044"/>
          <a:stretch/>
        </p:blipFill>
        <p:spPr>
          <a:xfrm>
            <a:off x="3851933" y="3431752"/>
            <a:ext cx="5065564" cy="324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505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지난주 복습 정리해요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미국의 발전</a:t>
            </a:r>
            <a:r>
              <a:rPr lang="en-US" altLang="ko-KR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제국주의의 등장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B5B43D79-4C33-4888-9567-EDF2F97CB8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280" t="18104" r="28646" b="19755"/>
          <a:stretch/>
        </p:blipFill>
        <p:spPr>
          <a:xfrm>
            <a:off x="9331" y="1227057"/>
            <a:ext cx="6181744" cy="501649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6DA63D2-95BA-49FA-AED3-8BA3166F18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280" t="42202" r="28853" b="13884"/>
          <a:stretch/>
        </p:blipFill>
        <p:spPr>
          <a:xfrm>
            <a:off x="6199311" y="2097249"/>
            <a:ext cx="5983358" cy="344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73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" t="1703" r="651" b="2553"/>
          <a:stretch/>
        </p:blipFill>
        <p:spPr>
          <a:xfrm>
            <a:off x="1323229" y="541763"/>
            <a:ext cx="9445557" cy="61563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브리핑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시간 타임라인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C753B8C-131E-484F-848D-E0DDAE73C70D}"/>
              </a:ext>
            </a:extLst>
          </p:cNvPr>
          <p:cNvSpPr txBox="1"/>
          <p:nvPr/>
        </p:nvSpPr>
        <p:spPr>
          <a:xfrm>
            <a:off x="109056" y="551491"/>
            <a:ext cx="6354806" cy="7540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연표와 지도를 보며 이번 시간에 학습할 세계사의 주요 사건 및 용어를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endParaRPr lang="en-US" altLang="ko-KR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5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CF19DA-7660-4B98-A6D4-F7ABD10BCBC9}"/>
              </a:ext>
            </a:extLst>
          </p:cNvPr>
          <p:cNvSpPr txBox="1"/>
          <p:nvPr/>
        </p:nvSpPr>
        <p:spPr>
          <a:xfrm>
            <a:off x="7064712" y="3356173"/>
            <a:ext cx="378437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en-US" altLang="ko-KR" sz="8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미국 군사적 개입 피하고</a:t>
            </a:r>
            <a:r>
              <a:rPr lang="en-US" altLang="ko-KR" sz="8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</a:p>
          <a:p>
            <a:r>
              <a:rPr lang="en-US" altLang="ko-KR" sz="8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</a:t>
            </a:r>
            <a:r>
              <a:rPr lang="ko-KR" altLang="en-US" sz="8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공산권 국가에 융통성 있게 대처하겠다고 발표</a:t>
            </a:r>
            <a:r>
              <a:rPr lang="en-US" altLang="ko-KR" sz="8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B661D4FE-923D-4718-8A3B-61022DC52784}"/>
              </a:ext>
            </a:extLst>
          </p:cNvPr>
          <p:cNvCxnSpPr/>
          <p:nvPr/>
        </p:nvCxnSpPr>
        <p:spPr>
          <a:xfrm>
            <a:off x="8263156" y="2935388"/>
            <a:ext cx="0" cy="1006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37012AD7-FEF1-4CF9-9663-F98140A71CDD}"/>
              </a:ext>
            </a:extLst>
          </p:cNvPr>
          <p:cNvCxnSpPr/>
          <p:nvPr/>
        </p:nvCxnSpPr>
        <p:spPr>
          <a:xfrm>
            <a:off x="8581938" y="4169328"/>
            <a:ext cx="288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AFE5303-DDE9-4B19-8774-8DFEE2A75929}"/>
              </a:ext>
            </a:extLst>
          </p:cNvPr>
          <p:cNvSpPr/>
          <p:nvPr/>
        </p:nvSpPr>
        <p:spPr>
          <a:xfrm>
            <a:off x="8196043" y="4119158"/>
            <a:ext cx="1359015" cy="56457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FCF111-C9C0-481C-9969-7F9527E11123}"/>
              </a:ext>
            </a:extLst>
          </p:cNvPr>
          <p:cNvSpPr txBox="1"/>
          <p:nvPr/>
        </p:nvSpPr>
        <p:spPr>
          <a:xfrm>
            <a:off x="10520567" y="1729516"/>
            <a:ext cx="1348648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* 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냉전 해체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소련 해체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동유럽 공산권 몰락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 실용주의 정책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냉전 체제 붕괴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CF88725-7EA2-4E24-BC85-B3325AB47F87}"/>
              </a:ext>
            </a:extLst>
          </p:cNvPr>
          <p:cNvSpPr/>
          <p:nvPr/>
        </p:nvSpPr>
        <p:spPr>
          <a:xfrm>
            <a:off x="7667536" y="2729643"/>
            <a:ext cx="671121" cy="19601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5C238E-8F84-4655-A782-64F2B07E9B95}"/>
              </a:ext>
            </a:extLst>
          </p:cNvPr>
          <p:cNvSpPr txBox="1"/>
          <p:nvPr/>
        </p:nvSpPr>
        <p:spPr>
          <a:xfrm>
            <a:off x="3441540" y="1489644"/>
            <a:ext cx="1085254" cy="246221"/>
          </a:xfrm>
          <a:prstGeom prst="rect">
            <a:avLst/>
          </a:prstGeom>
          <a:solidFill>
            <a:srgbClr val="0033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냉전의 체제 형성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73B75B-BBE0-4EAC-9120-E03E78C67F8C}"/>
              </a:ext>
            </a:extLst>
          </p:cNvPr>
          <p:cNvSpPr txBox="1"/>
          <p:nvPr/>
        </p:nvSpPr>
        <p:spPr>
          <a:xfrm>
            <a:off x="5133041" y="1483295"/>
            <a:ext cx="857204" cy="246221"/>
          </a:xfrm>
          <a:prstGeom prst="rect">
            <a:avLst/>
          </a:prstGeom>
          <a:solidFill>
            <a:srgbClr val="0033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냉전의 확산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472764-6920-4E09-A327-66DC75B00F6F}"/>
              </a:ext>
            </a:extLst>
          </p:cNvPr>
          <p:cNvSpPr txBox="1"/>
          <p:nvPr/>
        </p:nvSpPr>
        <p:spPr>
          <a:xfrm>
            <a:off x="6416350" y="1489644"/>
            <a:ext cx="857204" cy="246221"/>
          </a:xfrm>
          <a:prstGeom prst="rect">
            <a:avLst/>
          </a:prstGeom>
          <a:solidFill>
            <a:srgbClr val="0033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냉전의 완화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0831DB-D9A0-4460-B4A2-272719E3A098}"/>
              </a:ext>
            </a:extLst>
          </p:cNvPr>
          <p:cNvSpPr txBox="1"/>
          <p:nvPr/>
        </p:nvSpPr>
        <p:spPr>
          <a:xfrm>
            <a:off x="7766977" y="1489644"/>
            <a:ext cx="857204" cy="246221"/>
          </a:xfrm>
          <a:prstGeom prst="rect">
            <a:avLst/>
          </a:prstGeom>
          <a:solidFill>
            <a:srgbClr val="0033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냉전의 종식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093410EF-7909-4481-A88D-A4D0248227EF}"/>
              </a:ext>
            </a:extLst>
          </p:cNvPr>
          <p:cNvCxnSpPr>
            <a:cxnSpLocks/>
          </p:cNvCxnSpPr>
          <p:nvPr/>
        </p:nvCxnSpPr>
        <p:spPr>
          <a:xfrm>
            <a:off x="4211273" y="3264023"/>
            <a:ext cx="0" cy="519412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79B28AF-BFA1-4226-A3DD-2595B26EC9C8}"/>
              </a:ext>
            </a:extLst>
          </p:cNvPr>
          <p:cNvSpPr txBox="1"/>
          <p:nvPr/>
        </p:nvSpPr>
        <p:spPr>
          <a:xfrm>
            <a:off x="2014867" y="3143553"/>
            <a:ext cx="9572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en-US" altLang="ko-KR" sz="8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냉전 체제 성립</a:t>
            </a:r>
            <a:r>
              <a:rPr lang="en-US" altLang="ko-KR" sz="8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2AA34C4-882D-4E69-BEFA-4C38BA0196A4}"/>
              </a:ext>
            </a:extLst>
          </p:cNvPr>
          <p:cNvCxnSpPr/>
          <p:nvPr/>
        </p:nvCxnSpPr>
        <p:spPr>
          <a:xfrm>
            <a:off x="5174366" y="4320330"/>
            <a:ext cx="34559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539A171F-C1A3-499C-A441-BF89E83C3D5C}"/>
              </a:ext>
            </a:extLst>
          </p:cNvPr>
          <p:cNvCxnSpPr/>
          <p:nvPr/>
        </p:nvCxnSpPr>
        <p:spPr>
          <a:xfrm>
            <a:off x="5149199" y="4420998"/>
            <a:ext cx="34559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483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" t="13363" r="50271" b="2418"/>
          <a:stretch/>
        </p:blipFill>
        <p:spPr>
          <a:xfrm>
            <a:off x="1551021" y="779058"/>
            <a:ext cx="5123656" cy="60299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둘로 갈라진 세계가 벌인 총성 없는 전쟁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62896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냉전의 전개 과정을 알아보고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냉전 체제가 국제 사회에 미친 영향을 파악해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60D74D-B3D1-4186-B0A2-7CCF774ACA3C}"/>
              </a:ext>
            </a:extLst>
          </p:cNvPr>
          <p:cNvSpPr txBox="1"/>
          <p:nvPr/>
        </p:nvSpPr>
        <p:spPr>
          <a:xfrm>
            <a:off x="6659719" y="2809635"/>
            <a:ext cx="460649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직접적인 무력 사용은 없었지만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자본주의와 공산주의 양쪽 진영의 </a:t>
            </a:r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경제적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군사적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외교적 대립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마치 전쟁과 같았기 때문이다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6C4741F-B2E5-4E8A-8DFA-D4A6C0113A74}"/>
              </a:ext>
            </a:extLst>
          </p:cNvPr>
          <p:cNvSpPr txBox="1"/>
          <p:nvPr/>
        </p:nvSpPr>
        <p:spPr>
          <a:xfrm>
            <a:off x="1870311" y="1030737"/>
            <a:ext cx="852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35~40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83F5F1-1158-4881-864F-9C76446BD3A2}"/>
              </a:ext>
            </a:extLst>
          </p:cNvPr>
          <p:cNvSpPr txBox="1"/>
          <p:nvPr/>
        </p:nvSpPr>
        <p:spPr>
          <a:xfrm>
            <a:off x="6659719" y="3593277"/>
            <a:ext cx="4728763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독일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독일은 국토와 수도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베를린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미국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영국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프랑스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소련에 의해 분할 점령되었다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냉전의 대립이 격화되면서 소련이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베를린을 봉쇄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하는 사태가 일어났다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동독과 서독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사이에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베를린 장벽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설치되었다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2CEDB9-92C7-4F47-AA02-F12F2A583463}"/>
              </a:ext>
            </a:extLst>
          </p:cNvPr>
          <p:cNvSpPr txBox="1"/>
          <p:nvPr/>
        </p:nvSpPr>
        <p:spPr>
          <a:xfrm>
            <a:off x="2969268" y="2983354"/>
            <a:ext cx="852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33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C9153A-A74B-45F0-A64A-94A1F2F30764}"/>
              </a:ext>
            </a:extLst>
          </p:cNvPr>
          <p:cNvSpPr txBox="1"/>
          <p:nvPr/>
        </p:nvSpPr>
        <p:spPr>
          <a:xfrm>
            <a:off x="3830995" y="3751140"/>
            <a:ext cx="852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19~21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ECECC2-758F-4C95-BB11-12E88BABC6CD}"/>
              </a:ext>
            </a:extLst>
          </p:cNvPr>
          <p:cNvSpPr txBox="1"/>
          <p:nvPr/>
        </p:nvSpPr>
        <p:spPr>
          <a:xfrm>
            <a:off x="4076614" y="4485016"/>
            <a:ext cx="852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40~42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61BFA9-CDCB-435D-9611-D11040BC29FC}"/>
              </a:ext>
            </a:extLst>
          </p:cNvPr>
          <p:cNvSpPr txBox="1"/>
          <p:nvPr/>
        </p:nvSpPr>
        <p:spPr>
          <a:xfrm>
            <a:off x="2910545" y="5105801"/>
            <a:ext cx="852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p.58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447D6C-D97D-4635-8345-8A500CDA6621}"/>
              </a:ext>
            </a:extLst>
          </p:cNvPr>
          <p:cNvSpPr txBox="1"/>
          <p:nvPr/>
        </p:nvSpPr>
        <p:spPr>
          <a:xfrm>
            <a:off x="2121979" y="3713229"/>
            <a:ext cx="852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p.40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B2646D-2F05-4EE8-AA93-C5A0EEC70E4E}"/>
              </a:ext>
            </a:extLst>
          </p:cNvPr>
          <p:cNvSpPr txBox="1"/>
          <p:nvPr/>
        </p:nvSpPr>
        <p:spPr>
          <a:xfrm>
            <a:off x="6659719" y="4402459"/>
            <a:ext cx="472876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국민당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공산당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사이에 내전이 일어났다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여기에 패배한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장제스의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국민당은 타이완으로 밀려났고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공산당은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중화 인민 공화국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수립하였다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.(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마오쩌둥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B10712-388B-4E18-9ED7-A3008B00BD96}"/>
              </a:ext>
            </a:extLst>
          </p:cNvPr>
          <p:cNvSpPr txBox="1"/>
          <p:nvPr/>
        </p:nvSpPr>
        <p:spPr>
          <a:xfrm>
            <a:off x="6659719" y="5405299"/>
            <a:ext cx="4728763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베트남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베트남은 제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 세계 대전 후 공산주의 진영을 지원하는 </a:t>
            </a:r>
            <a:r>
              <a:rPr lang="ko-KR" altLang="en-US" sz="10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북베트남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자본주의 진영을 지원하는 </a:t>
            </a:r>
            <a:r>
              <a:rPr lang="ko-KR" altLang="en-US" sz="10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남베트남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으로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분단되었다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미국이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남베트남을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지원하기 위해 베트남 전쟁을 참여하였다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미군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베트남에서 철수한 후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공산주의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정권인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북베트남의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무력 공격으로 베트남이 통일되었다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022223-42F6-4ADC-B5A6-09E400FDB141}"/>
              </a:ext>
            </a:extLst>
          </p:cNvPr>
          <p:cNvSpPr txBox="1"/>
          <p:nvPr/>
        </p:nvSpPr>
        <p:spPr>
          <a:xfrm>
            <a:off x="6659719" y="4918738"/>
            <a:ext cx="472876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대한민국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38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도선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경계로 남북으로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분단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되었다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1950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년 북한의 남침으로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6.25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전쟁이 발발하였다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5418B0-4A85-4C83-8671-14B6CC0F1E5B}"/>
              </a:ext>
            </a:extLst>
          </p:cNvPr>
          <p:cNvSpPr txBox="1"/>
          <p:nvPr/>
        </p:nvSpPr>
        <p:spPr>
          <a:xfrm>
            <a:off x="370272" y="928523"/>
            <a:ext cx="1215247" cy="261610"/>
          </a:xfrm>
          <a:prstGeom prst="rect">
            <a:avLst/>
          </a:prstGeom>
          <a:solidFill>
            <a:srgbClr val="003300"/>
          </a:solidFill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냉전의 체제 형성</a:t>
            </a:r>
            <a:endParaRPr lang="en-US" altLang="ko-KR" sz="11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9110EC-0F49-4219-A790-536EB2581450}"/>
              </a:ext>
            </a:extLst>
          </p:cNvPr>
          <p:cNvSpPr txBox="1"/>
          <p:nvPr/>
        </p:nvSpPr>
        <p:spPr>
          <a:xfrm>
            <a:off x="370272" y="3520721"/>
            <a:ext cx="904855" cy="261610"/>
          </a:xfrm>
          <a:prstGeom prst="rect">
            <a:avLst/>
          </a:prstGeom>
          <a:solidFill>
            <a:srgbClr val="003300"/>
          </a:solidFill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냉전의 확산</a:t>
            </a:r>
            <a:endParaRPr lang="en-US" altLang="ko-KR" sz="11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75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18" grpId="0" animBg="1"/>
      <p:bldP spid="24" grpId="0" animBg="1"/>
      <p:bldP spid="25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" t="12827" r="810" b="4979"/>
          <a:stretch/>
        </p:blipFill>
        <p:spPr>
          <a:xfrm>
            <a:off x="1021216" y="849756"/>
            <a:ext cx="10310052" cy="5824821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3FAE24B-419C-4480-ADE4-75978B72EB45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찬란하지만 불안정한 독립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C52E4B-A752-490B-9FE8-C4AAAE39B2DC}"/>
              </a:ext>
            </a:extLst>
          </p:cNvPr>
          <p:cNvSpPr txBox="1"/>
          <p:nvPr/>
        </p:nvSpPr>
        <p:spPr>
          <a:xfrm>
            <a:off x="109056" y="551491"/>
            <a:ext cx="776811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제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 세계 대전 이후 아시아와 아프리카 국가들의 독립 과정과 독립 이후 나타난 갈등을 파악해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1ED0BB-9820-4B6D-A563-ADAE77286C2F}"/>
              </a:ext>
            </a:extLst>
          </p:cNvPr>
          <p:cNvSpPr txBox="1"/>
          <p:nvPr/>
        </p:nvSpPr>
        <p:spPr>
          <a:xfrm>
            <a:off x="4177284" y="4408668"/>
            <a:ext cx="852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27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0E0779-AC40-4E65-BF10-ECDDFAAEA6C4}"/>
              </a:ext>
            </a:extLst>
          </p:cNvPr>
          <p:cNvSpPr txBox="1"/>
          <p:nvPr/>
        </p:nvSpPr>
        <p:spPr>
          <a:xfrm>
            <a:off x="1392572" y="4631986"/>
            <a:ext cx="4535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아프리카 여러 나라에서 독립운동이 확산되어 많은 국가가 독립을 이루었기 때문이다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09E771-40C0-49AF-8C74-8BD107F4291C}"/>
              </a:ext>
            </a:extLst>
          </p:cNvPr>
          <p:cNvSpPr txBox="1"/>
          <p:nvPr/>
        </p:nvSpPr>
        <p:spPr>
          <a:xfrm>
            <a:off x="1274907" y="5217129"/>
            <a:ext cx="46533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 세계 대전의 승전국들은 식민지를 계속 유지하려고 하였으며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패전국인 일본의 식민지들을 승전국인 미국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영국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네덜란드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프랑스 등이 다시 점령하려고 했기 때문이다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이에 인도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필리핀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베트남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인도네시아 등은 독립운동과 끈질긴 협상을 벌여야 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24644B-1287-46D3-B9DC-B826F9619164}"/>
              </a:ext>
            </a:extLst>
          </p:cNvPr>
          <p:cNvSpPr txBox="1"/>
          <p:nvPr/>
        </p:nvSpPr>
        <p:spPr>
          <a:xfrm>
            <a:off x="6176242" y="1186199"/>
            <a:ext cx="5738071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힌두교와 이슬람교도 사이에 종교적 대립이 일어나면서 힌두 국가인 인도와 이슬람 국가인 파키스탄으로 분리 독립하였다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이로 인해 파키스탄에 살던 수백만 명의 힌두교도들은 인도로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인도에 살던 이슬람교도들은 파키스탄으로 떠나야했다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과정에서 종교적 갈등과 유혈 사태가 지속되었고 국경 분쟁이 일어났다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C48DE7-818A-40EF-8860-B006DDA8166F}"/>
              </a:ext>
            </a:extLst>
          </p:cNvPr>
          <p:cNvSpPr txBox="1"/>
          <p:nvPr/>
        </p:nvSpPr>
        <p:spPr>
          <a:xfrm>
            <a:off x="190149" y="959475"/>
            <a:ext cx="1084758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아프리카의 해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3E83E1-66E3-472B-A113-BC69F80AAE6F}"/>
              </a:ext>
            </a:extLst>
          </p:cNvPr>
          <p:cNvSpPr txBox="1"/>
          <p:nvPr/>
        </p:nvSpPr>
        <p:spPr>
          <a:xfrm>
            <a:off x="526169" y="1213570"/>
            <a:ext cx="9372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[17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개국 독립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39249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그림 4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56" t="13363" r="127" b="2418"/>
          <a:stretch/>
        </p:blipFill>
        <p:spPr>
          <a:xfrm>
            <a:off x="5559049" y="779058"/>
            <a:ext cx="5123656" cy="60299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둘로 갈라진 세계가 벌인 총성 없는 전쟁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62896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냉전의 전개 과정을 알아보고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냉전 체제가 국제 사회에 미친 영향을 파악해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60D74D-B3D1-4186-B0A2-7CCF774ACA3C}"/>
              </a:ext>
            </a:extLst>
          </p:cNvPr>
          <p:cNvSpPr txBox="1"/>
          <p:nvPr/>
        </p:nvSpPr>
        <p:spPr>
          <a:xfrm>
            <a:off x="657379" y="1898323"/>
            <a:ext cx="5151783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1)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 </a:t>
            </a:r>
            <a:r>
              <a:rPr lang="ko-KR" altLang="en-US" sz="10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세계란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소련과 미국 중 어느 편에도 서지 않고 독자적으로 경제 성장과 사회 발전을 이루겠다고 선언한 아시아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아프리카 국가들을 말한다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이들 국가는 주로 제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 세계 대전 이후 독립한 나라들이다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이들은 다른 나라를 침략하지 않고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정치에 간섭하지 않으며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평화롭게 공존하겠다는 주장을 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6C4741F-B2E5-4E8A-8DFA-D4A6C0113A74}"/>
              </a:ext>
            </a:extLst>
          </p:cNvPr>
          <p:cNvSpPr txBox="1"/>
          <p:nvPr/>
        </p:nvSpPr>
        <p:spPr>
          <a:xfrm>
            <a:off x="7866033" y="2001028"/>
            <a:ext cx="852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70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578035-C5FB-4206-8CF8-E339C9F4B0E2}"/>
              </a:ext>
            </a:extLst>
          </p:cNvPr>
          <p:cNvSpPr txBox="1"/>
          <p:nvPr/>
        </p:nvSpPr>
        <p:spPr>
          <a:xfrm>
            <a:off x="10598275" y="3106446"/>
            <a:ext cx="12981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1969.[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냉전의 완화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216587-E62A-44F8-85A1-3A41D3A97636}"/>
              </a:ext>
            </a:extLst>
          </p:cNvPr>
          <p:cNvSpPr txBox="1"/>
          <p:nvPr/>
        </p:nvSpPr>
        <p:spPr>
          <a:xfrm>
            <a:off x="657379" y="2921780"/>
            <a:ext cx="515178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2)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유럽인들은 경제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정치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군사적인 면에서 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하나가 되어 경제를 더 발전시키고 강력한 힘을 가지기 위해 유럽의 통합에 힘썼다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5A12E9-1219-4250-8276-196599578972}"/>
              </a:ext>
            </a:extLst>
          </p:cNvPr>
          <p:cNvSpPr txBox="1"/>
          <p:nvPr/>
        </p:nvSpPr>
        <p:spPr>
          <a:xfrm>
            <a:off x="657379" y="4039934"/>
            <a:ext cx="5151783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3)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소련의 스탈린식 통치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즉 무기를 앞세운 무력 통치와 억압에서 벗어나 자유를 누리고 싶었고 경제적 발전을 원했기 때문이다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헝가리는 바르샤바 조약 기구 탈퇴를 선언했고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당시 체코슬로바키아의 공산당 지도자는 언론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출판의 자유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해외여행과 이주의 자유 보장 등의 개혁안을 발표했다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하지만 모두 소련의 군대에게 진압당하고 실패했다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BD82E9-5D66-47A9-B656-F0B44002AD28}"/>
              </a:ext>
            </a:extLst>
          </p:cNvPr>
          <p:cNvSpPr txBox="1"/>
          <p:nvPr/>
        </p:nvSpPr>
        <p:spPr>
          <a:xfrm>
            <a:off x="657379" y="5151544"/>
            <a:ext cx="5151783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4) </a:t>
            </a: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소련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 고르바초프가 당 서기장이 되면서 개방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개혁 정책을 실시했다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아프가니스탄과의 전쟁에서 막대한 비용을 들이고도 실패한 후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전쟁이나 대립보다는 긴장 완화와 경제를 더 중요시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‘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글라스토스트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＇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와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페레스트로이카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＇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라는 개방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·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개혁 정책을 실시했다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 마오쩌둥 사망 후 덩샤오핑이 지도자가 되었다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덩샤오핑은 중국의 경제를 발전시키기 위해서 </a:t>
            </a:r>
            <a:r>
              <a:rPr lang="ko-KR" altLang="en-US" sz="10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자본주의든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0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사회주의든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상관없이 교류하겠다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흑묘백묘론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＇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주장하며 경제 개혁을 실시했다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F85875-758B-42DB-985D-C94D87E335FF}"/>
              </a:ext>
            </a:extLst>
          </p:cNvPr>
          <p:cNvSpPr txBox="1"/>
          <p:nvPr/>
        </p:nvSpPr>
        <p:spPr>
          <a:xfrm>
            <a:off x="7866033" y="2898650"/>
            <a:ext cx="852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73~75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625ACE-3479-4FE1-AA30-ABA702A8F7A2}"/>
              </a:ext>
            </a:extLst>
          </p:cNvPr>
          <p:cNvSpPr txBox="1"/>
          <p:nvPr/>
        </p:nvSpPr>
        <p:spPr>
          <a:xfrm>
            <a:off x="7866033" y="3949675"/>
            <a:ext cx="852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67~68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630D79-D567-48F0-BE29-B90D2F4DF53D}"/>
              </a:ext>
            </a:extLst>
          </p:cNvPr>
          <p:cNvSpPr txBox="1"/>
          <p:nvPr/>
        </p:nvSpPr>
        <p:spPr>
          <a:xfrm>
            <a:off x="6132725" y="5487511"/>
            <a:ext cx="12038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113/ p.55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D69473-548D-4431-91AD-6AD294B55C71}"/>
              </a:ext>
            </a:extLst>
          </p:cNvPr>
          <p:cNvSpPr txBox="1"/>
          <p:nvPr/>
        </p:nvSpPr>
        <p:spPr>
          <a:xfrm>
            <a:off x="6096000" y="5918010"/>
            <a:ext cx="2480820" cy="7232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*  </a:t>
            </a:r>
            <a:r>
              <a:rPr lang="ko-KR" altLang="en-US" sz="8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쑨원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국민당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–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 합작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장제스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국민당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–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 반대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공산당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X)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 내전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(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국민당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타이완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(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공산당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승리 후 마오쩌둥 중화 인민 공화국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공산당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덩샤오핑 개혁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FD9305-8465-4638-8EDD-D882E1447DFB}"/>
              </a:ext>
            </a:extLst>
          </p:cNvPr>
          <p:cNvSpPr txBox="1"/>
          <p:nvPr/>
        </p:nvSpPr>
        <p:spPr>
          <a:xfrm>
            <a:off x="10811071" y="1434706"/>
            <a:ext cx="9372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다극화 체제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EBE23C-B6E8-4FA4-9077-63793E56B098}"/>
              </a:ext>
            </a:extLst>
          </p:cNvPr>
          <p:cNvSpPr txBox="1"/>
          <p:nvPr/>
        </p:nvSpPr>
        <p:spPr>
          <a:xfrm>
            <a:off x="10663563" y="1196971"/>
            <a:ext cx="1132584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</a:t>
            </a:r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 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세계의 등장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D102EF-4321-4AE8-8D68-5E0F16F1AB3D}"/>
              </a:ext>
            </a:extLst>
          </p:cNvPr>
          <p:cNvSpPr txBox="1"/>
          <p:nvPr/>
        </p:nvSpPr>
        <p:spPr>
          <a:xfrm>
            <a:off x="10663562" y="2220428"/>
            <a:ext cx="1132584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유럽 공동체 결성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DFF0BA-3CCB-487F-89EF-D4808306DB2E}"/>
              </a:ext>
            </a:extLst>
          </p:cNvPr>
          <p:cNvSpPr txBox="1"/>
          <p:nvPr/>
        </p:nvSpPr>
        <p:spPr>
          <a:xfrm>
            <a:off x="10630605" y="2449774"/>
            <a:ext cx="12981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통합 과정 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EEC/EC/EU]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98C74B1-42C3-44D2-BBC8-9AEADB4FC66D}"/>
              </a:ext>
            </a:extLst>
          </p:cNvPr>
          <p:cNvSpPr txBox="1"/>
          <p:nvPr/>
        </p:nvSpPr>
        <p:spPr>
          <a:xfrm>
            <a:off x="10663562" y="2841214"/>
            <a:ext cx="1132584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닉슨 독트린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A9E999-B57B-4DEB-8613-777AA6950145}"/>
              </a:ext>
            </a:extLst>
          </p:cNvPr>
          <p:cNvSpPr txBox="1"/>
          <p:nvPr/>
        </p:nvSpPr>
        <p:spPr>
          <a:xfrm>
            <a:off x="10663562" y="4261658"/>
            <a:ext cx="1132584" cy="246221"/>
          </a:xfrm>
          <a:prstGeom prst="rect">
            <a:avLst/>
          </a:prstGeom>
          <a:solidFill>
            <a:srgbClr val="0033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냉전 종식 선언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B576AE-6CB6-4CDA-A257-691A15A84052}"/>
              </a:ext>
            </a:extLst>
          </p:cNvPr>
          <p:cNvSpPr txBox="1"/>
          <p:nvPr/>
        </p:nvSpPr>
        <p:spPr>
          <a:xfrm>
            <a:off x="10711390" y="4510113"/>
            <a:ext cx="10847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1989.[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몰타 회담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EA79C8-D5EF-460F-B7C1-3514CB3B4619}"/>
              </a:ext>
            </a:extLst>
          </p:cNvPr>
          <p:cNvSpPr txBox="1"/>
          <p:nvPr/>
        </p:nvSpPr>
        <p:spPr>
          <a:xfrm>
            <a:off x="10663561" y="4879057"/>
            <a:ext cx="1132585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동유럽자유화 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독일 통일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1BBFC0-61E4-40D6-9E2B-51FD530C302F}"/>
              </a:ext>
            </a:extLst>
          </p:cNvPr>
          <p:cNvSpPr txBox="1"/>
          <p:nvPr/>
        </p:nvSpPr>
        <p:spPr>
          <a:xfrm>
            <a:off x="10663562" y="5661029"/>
            <a:ext cx="1132584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소련 해체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D8B7FC-1D60-49D2-A925-EB33308F1A60}"/>
              </a:ext>
            </a:extLst>
          </p:cNvPr>
          <p:cNvSpPr txBox="1"/>
          <p:nvPr/>
        </p:nvSpPr>
        <p:spPr>
          <a:xfrm>
            <a:off x="10711390" y="5110733"/>
            <a:ext cx="10847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1990. </a:t>
            </a:r>
          </a:p>
          <a:p>
            <a:pPr algn="r"/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베를린 장벽 붕괴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ED8C93-876C-4280-A806-A983DE0B77BB}"/>
              </a:ext>
            </a:extLst>
          </p:cNvPr>
          <p:cNvSpPr txBox="1"/>
          <p:nvPr/>
        </p:nvSpPr>
        <p:spPr>
          <a:xfrm>
            <a:off x="10711390" y="5898391"/>
            <a:ext cx="1084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1991.</a:t>
            </a:r>
          </a:p>
          <a:p>
            <a:pPr algn="r"/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독립 국가 연합 결성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  <a:p>
            <a:pPr algn="r"/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완벽한 자본주의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07529B-4A6E-4AF1-83C0-94DD73D97597}"/>
              </a:ext>
            </a:extLst>
          </p:cNvPr>
          <p:cNvSpPr txBox="1"/>
          <p:nvPr/>
        </p:nvSpPr>
        <p:spPr>
          <a:xfrm>
            <a:off x="10663562" y="3461999"/>
            <a:ext cx="1132584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중국의 개혁</a:t>
            </a:r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개방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1BB56C-526C-4D63-A93A-D5202E24DCDE}"/>
              </a:ext>
            </a:extLst>
          </p:cNvPr>
          <p:cNvSpPr txBox="1"/>
          <p:nvPr/>
        </p:nvSpPr>
        <p:spPr>
          <a:xfrm>
            <a:off x="370272" y="928523"/>
            <a:ext cx="1299137" cy="261610"/>
          </a:xfrm>
          <a:prstGeom prst="rect">
            <a:avLst/>
          </a:prstGeom>
          <a:solidFill>
            <a:srgbClr val="003300"/>
          </a:solidFill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냉전의 완화와 종식</a:t>
            </a:r>
            <a:endParaRPr lang="en-US" altLang="ko-KR" sz="11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767BD5-7233-4A58-96F4-88F557FB9693}"/>
              </a:ext>
            </a:extLst>
          </p:cNvPr>
          <p:cNvSpPr txBox="1"/>
          <p:nvPr/>
        </p:nvSpPr>
        <p:spPr>
          <a:xfrm>
            <a:off x="10811071" y="1610875"/>
            <a:ext cx="9372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비동맹 중립 노선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BF4EB4-4409-4C29-8027-11DF561943FD}"/>
              </a:ext>
            </a:extLst>
          </p:cNvPr>
          <p:cNvSpPr txBox="1"/>
          <p:nvPr/>
        </p:nvSpPr>
        <p:spPr>
          <a:xfrm>
            <a:off x="10811070" y="1787044"/>
            <a:ext cx="11600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반식민지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반제국주의 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39E7708-722C-448D-9028-FEE0F523C24A}"/>
              </a:ext>
            </a:extLst>
          </p:cNvPr>
          <p:cNvSpPr txBox="1"/>
          <p:nvPr/>
        </p:nvSpPr>
        <p:spPr>
          <a:xfrm>
            <a:off x="10385213" y="3718843"/>
            <a:ext cx="1511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1978~9.</a:t>
            </a:r>
          </a:p>
          <a:p>
            <a:pPr algn="r"/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마오쩌둥 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문화대혁명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’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r"/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덩샤오핑 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8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흑묘백묘론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1190122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0" t="13503" r="1347" b="6160"/>
          <a:stretch/>
        </p:blipFill>
        <p:spPr>
          <a:xfrm>
            <a:off x="997272" y="819620"/>
            <a:ext cx="10216118" cy="57822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문제와 갈등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극복과 성장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708231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현대 세계의 모습과 다양한 문제점을 살피고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이를 해결하기 위한 올바른 자세를 길러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74E0F8-D0AB-4DFE-A5EF-8D4451E7F019}"/>
              </a:ext>
            </a:extLst>
          </p:cNvPr>
          <p:cNvSpPr txBox="1"/>
          <p:nvPr/>
        </p:nvSpPr>
        <p:spPr>
          <a:xfrm>
            <a:off x="2407207" y="1338408"/>
            <a:ext cx="852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79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758CD9-2B47-47B8-B13E-497CCDF3A686}"/>
              </a:ext>
            </a:extLst>
          </p:cNvPr>
          <p:cNvSpPr txBox="1"/>
          <p:nvPr/>
        </p:nvSpPr>
        <p:spPr>
          <a:xfrm>
            <a:off x="580292" y="3761218"/>
            <a:ext cx="2949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마틴 루터 킹은 버스 안 타기 운동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평화 행진과 같은 비폭력 무저항 운동을 펼쳤으며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 결과 </a:t>
            </a:r>
            <a:r>
              <a:rPr lang="ko-KR" altLang="en-US" sz="900" u="sng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흑인들이 투표권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얻었다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3F050F-D29B-4599-9B08-2FCF82494305}"/>
              </a:ext>
            </a:extLst>
          </p:cNvPr>
          <p:cNvSpPr txBox="1"/>
          <p:nvPr/>
        </p:nvSpPr>
        <p:spPr>
          <a:xfrm>
            <a:off x="3530278" y="3761218"/>
            <a:ext cx="262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개인을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억압하는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자유를 금지하는 </a:t>
            </a:r>
            <a:r>
              <a:rPr lang="ko-KR" altLang="en-US" sz="900" u="sng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국가 및 사회의 권위적인 것들에 대하여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금지하고 반대한다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7D7203-738B-4EEB-B4D3-F12FF99D838A}"/>
              </a:ext>
            </a:extLst>
          </p:cNvPr>
          <p:cNvSpPr txBox="1"/>
          <p:nvPr/>
        </p:nvSpPr>
        <p:spPr>
          <a:xfrm>
            <a:off x="580292" y="6434121"/>
            <a:ext cx="320314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유명한 그룹의 인기 있는 가수가 반전 운동을 하는 것은 전 세계에 전쟁의 참상을 알리는 데 효과적이고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많은 사람을 동참하게 했다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0C3CF7-2FAD-4F01-B8E0-55F9CC22B21D}"/>
              </a:ext>
            </a:extLst>
          </p:cNvPr>
          <p:cNvSpPr txBox="1"/>
          <p:nvPr/>
        </p:nvSpPr>
        <p:spPr>
          <a:xfrm>
            <a:off x="10972799" y="1230732"/>
            <a:ext cx="1219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지구 온난화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멸종 위기의 동물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 곳곳에 나타나는 이상 기후 등 지금 현재 지구촌 환경 문제는 매우 심각한 상태이고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어느 한 나라만 노력해서는 해결할 수 없기 때문이다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F5554C-C5D8-4193-B229-C5B3BD53F517}"/>
              </a:ext>
            </a:extLst>
          </p:cNvPr>
          <p:cNvSpPr txBox="1"/>
          <p:nvPr/>
        </p:nvSpPr>
        <p:spPr>
          <a:xfrm>
            <a:off x="6157732" y="5271167"/>
            <a:ext cx="506436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기술이나 산업이 발달한 선진국과 개발 도상국이 자유 무역 협정을 맺고 관세를 낮추면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개발 도상국의 농업이나 산업은 경쟁력이 떨어져 피해를 입거나 망할 수 있기 때문이다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자유 무역 체제는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개발 도상국이 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공업화할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수 있는 기회를 가로막거나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세계의 빈부격차를 확대할 수 있다고 비판하는 사람도 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777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8" grpId="0" animBg="1"/>
      <p:bldP spid="19" grpId="0" animBg="1"/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2" t="14102" r="2769" b="1411"/>
          <a:stretch/>
        </p:blipFill>
        <p:spPr>
          <a:xfrm>
            <a:off x="901373" y="874852"/>
            <a:ext cx="4440116" cy="579413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2" t="4615" r="1280" b="1666"/>
          <a:stretch/>
        </p:blipFill>
        <p:spPr>
          <a:xfrm>
            <a:off x="6177458" y="536170"/>
            <a:ext cx="4494520" cy="62700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논평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 속의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나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＇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D81FBF9-8558-421A-B8F3-EDA21673DB14}"/>
              </a:ext>
            </a:extLst>
          </p:cNvPr>
          <p:cNvSpPr txBox="1"/>
          <p:nvPr/>
        </p:nvSpPr>
        <p:spPr>
          <a:xfrm>
            <a:off x="109057" y="536170"/>
            <a:ext cx="614227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세계 사회에 관심을 갖고 공존하는 태도의 중요성에 관한 글을 써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5519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스스로 정리해요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rcRect l="23917" t="16222" r="25083" b="18285"/>
          <a:stretch/>
        </p:blipFill>
        <p:spPr>
          <a:xfrm>
            <a:off x="9331" y="1227057"/>
            <a:ext cx="6152495" cy="444416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l="23750" t="28518" r="25083" b="13852"/>
          <a:stretch/>
        </p:blipFill>
        <p:spPr>
          <a:xfrm>
            <a:off x="5915634" y="1883337"/>
            <a:ext cx="6255204" cy="396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698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l="24103" t="16895" r="24999" b="16814"/>
          <a:stretch/>
        </p:blipFill>
        <p:spPr>
          <a:xfrm>
            <a:off x="24049" y="1227057"/>
            <a:ext cx="6066134" cy="444416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l="23834" t="30296" r="25500" b="13259"/>
          <a:stretch/>
        </p:blipFill>
        <p:spPr>
          <a:xfrm>
            <a:off x="5915633" y="1897255"/>
            <a:ext cx="6301927" cy="39490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스스로 정리해요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01863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3401</TotalTime>
  <Words>1029</Words>
  <Application>Microsoft Office PowerPoint</Application>
  <PresentationFormat>와이드스크린</PresentationFormat>
  <Paragraphs>106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THE봉숭아틴트</vt:lpstr>
      <vt:lpstr>나눔스퀘어 Bold</vt:lpstr>
      <vt:lpstr>나눔스퀘어_ac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821098119832</dc:creator>
  <cp:lastModifiedBy>Administrator</cp:lastModifiedBy>
  <cp:revision>130</cp:revision>
  <dcterms:created xsi:type="dcterms:W3CDTF">2021-05-21T01:10:02Z</dcterms:created>
  <dcterms:modified xsi:type="dcterms:W3CDTF">2024-10-10T05:05:46Z</dcterms:modified>
</cp:coreProperties>
</file>