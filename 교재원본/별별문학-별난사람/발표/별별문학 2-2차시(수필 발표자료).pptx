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AE4BD-05BD-7382-3B81-2C7013BB7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54721D-723F-CE1C-C901-5CEE104D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BBA4C7-D05F-E218-AABF-BFA276CF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9FC938-F295-38BC-4BDA-CB3BD423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7963E3-BE32-8A03-2CFB-BAF0589B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59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6D859-109B-DB0C-4EA9-0D970C90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EA5D0-3194-6AFD-AAB4-4040CD411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45581F-EDA8-CC2D-2F29-91F1D8CA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EA7A90-80A6-11F6-D9C4-6AE1FE51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D9C25-ED7C-5CD8-D0F6-6A666210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51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485A7-FDA9-F1F5-C856-0664F889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1317C2-0F39-B261-2FCF-040C6912B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4A9FE-52CA-D1B9-D494-6519580E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93D004-4BAE-201D-3842-A84A1C9F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C12B7-1568-C326-D5F6-25CA0594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64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F2DA1-27C9-CF6A-BDBF-08FF1F91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6E2E85-4ECC-FA6F-A8CB-39541E4A4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6E4628-6E15-63BC-0593-28F9B5AC8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5701DD-5EF0-3D5D-5A44-27CDBA5E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29FCC2-4B91-4856-7D76-9860B89F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A9658E-DF7E-EBF7-1205-ECD2EBEB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85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6F073-5F93-894D-5C92-CCC0639D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52BBA8-FD5E-A896-B384-374CABA16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248AB4-A43D-802C-3B39-E1E4896EA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22156C-6D69-D6A4-19B6-38B0E9FDD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6345C7-7D8A-91D5-B519-825BFC192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E19668-E110-3A40-3A79-DA2208451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706F9D-C60F-A3C7-5040-A4F8AE30F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E4F03D-17F0-347E-4426-272CAF075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709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F1BA9-CF27-4CA3-3621-5805132D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0871A6-68AE-275F-CF72-CE5A1CE0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7E8C20-6537-227A-3F66-3479F0E67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BC7FF4-3158-72C7-07E7-788B6B79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73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C52A91-4A45-9856-BAF3-237F4637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A93F8C-0B2C-2CA0-A791-C40BBBC1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221641-8E43-E953-09EE-8A4006D5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432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743C8-7F70-9AD7-9BA8-FAAE2BADE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D7DFCE-9B98-84E6-93CF-C8FB15565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50DF57-E931-0FBB-62E5-DA20CAB10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C67028-C105-10DE-07CC-A128035B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401F02-2D1B-BD65-F6D3-DE9EBAD8D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66C201-A16B-955A-515A-EDD358FF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9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235FF-4576-E27C-A2DD-7FAF64F6A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54BCE3-6FD2-5267-F74B-FC0B432B14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0E861A-45FA-8802-1C3B-8FDAF948B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A5C777-7ED4-9053-5C8B-48CAD762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38F419-F4F4-34C1-E0DD-BBA0226E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3CFAE4-3215-9790-6950-415D39F6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8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E11AA-4AF5-D027-1829-5ABC620F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E93572-464C-25BB-2E41-F52783E86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C4DCF-1DD9-1311-7214-03BC5ADF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CD186-1E45-CC26-4EA1-5892CD20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0ADE79-01D3-8E90-FE09-57CF2320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02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34CA74-38D1-F764-0E92-A203227BF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401280-A876-B23E-FAEB-A12F1ED32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416A4A-357B-8976-3FAD-C441D0E6E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83C85E-BC74-3045-4F52-EC706F94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0D82E5-7E3A-6FE6-364E-55D0FF71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70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6DFCD4-F26E-5816-FF7B-8BD8FFAF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EBD153-186D-89FE-C8D6-C360B9513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C97667-36D8-93F4-1250-05D2620AD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1789D-1EB1-43E1-80ED-38BEE2BEC5AF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7495D3-FAD5-A1BC-C9AB-547CF75A5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6309FA-AF55-CD38-3834-D423DD1A5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4D98D-AC61-435D-A7D3-78DB5A505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3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54E125-49F9-DF2C-D539-700D38AFCB4D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NEW 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한우리 문학 특강 프로그램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6962A-477F-E762-F750-AF8AFC3FE50A}"/>
              </a:ext>
            </a:extLst>
          </p:cNvPr>
          <p:cNvSpPr txBox="1"/>
          <p:nvPr/>
        </p:nvSpPr>
        <p:spPr>
          <a:xfrm>
            <a:off x="1016000" y="9525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FF7F4D"/>
                </a:solidFill>
                <a:latin typeface="맑은 고딕" panose="020B0503020000020004" pitchFamily="50" charset="-127"/>
              </a:rPr>
              <a:t>예비 중</a:t>
            </a:r>
            <a:r>
              <a:rPr lang="en-US" altLang="ko-KR" sz="2800" b="1">
                <a:solidFill>
                  <a:srgbClr val="FF7F4D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2800" b="1">
                <a:solidFill>
                  <a:srgbClr val="FF7F4D"/>
                </a:solidFill>
                <a:latin typeface="맑은 고딕" panose="020B0503020000020004" pitchFamily="50" charset="-127"/>
              </a:rPr>
              <a:t>을 위한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C9579-D727-EEFF-E4A3-0A44C84C4F94}"/>
              </a:ext>
            </a:extLst>
          </p:cNvPr>
          <p:cNvSpPr txBox="1"/>
          <p:nvPr/>
        </p:nvSpPr>
        <p:spPr>
          <a:xfrm>
            <a:off x="1016000" y="1524000"/>
            <a:ext cx="1016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4800" b="1">
                <a:solidFill>
                  <a:srgbClr val="15704D"/>
                </a:solidFill>
                <a:latin typeface="맑은 고딕" panose="020B0503020000020004" pitchFamily="50" charset="-127"/>
              </a:rPr>
              <a:t>별별 문학 독해 </a:t>
            </a:r>
            <a:r>
              <a:rPr lang="en-US" altLang="ko-KR" sz="4800" b="1">
                <a:solidFill>
                  <a:srgbClr val="15704D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4800" b="1">
                <a:solidFill>
                  <a:srgbClr val="15704D"/>
                </a:solidFill>
                <a:latin typeface="맑은 고딕" panose="020B0503020000020004" pitchFamily="50" charset="-127"/>
              </a:rPr>
              <a:t>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A68D5-3CC3-92BC-122D-1BA49677750D}"/>
              </a:ext>
            </a:extLst>
          </p:cNvPr>
          <p:cNvSpPr txBox="1"/>
          <p:nvPr/>
        </p:nvSpPr>
        <p:spPr>
          <a:xfrm>
            <a:off x="1016000" y="23495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000" b="1">
                <a:solidFill>
                  <a:srgbClr val="15704D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2000" b="1">
                <a:solidFill>
                  <a:srgbClr val="15704D"/>
                </a:solidFill>
                <a:latin typeface="맑은 고딕" panose="020B0503020000020004" pitchFamily="50" charset="-127"/>
              </a:rPr>
              <a:t>차시 수필 특강 </a:t>
            </a:r>
            <a:r>
              <a:rPr lang="en-US" altLang="ko-KR" sz="2000" b="1">
                <a:solidFill>
                  <a:srgbClr val="15704D"/>
                </a:solidFill>
                <a:latin typeface="맑은 고딕" panose="020B0503020000020004" pitchFamily="50" charset="-127"/>
              </a:rPr>
              <a:t>| 〈</a:t>
            </a:r>
            <a:r>
              <a:rPr lang="ko-KR" altLang="en-US" sz="2000" b="1">
                <a:solidFill>
                  <a:srgbClr val="15704D"/>
                </a:solidFill>
                <a:latin typeface="맑은 고딕" panose="020B0503020000020004" pitchFamily="50" charset="-127"/>
              </a:rPr>
              <a:t>아름다운 흉터</a:t>
            </a:r>
            <a:r>
              <a:rPr lang="en-US" altLang="ko-KR" sz="2000" b="1">
                <a:solidFill>
                  <a:srgbClr val="15704D"/>
                </a:solidFill>
                <a:latin typeface="맑은 고딕" panose="020B0503020000020004" pitchFamily="50" charset="-127"/>
              </a:rPr>
              <a:t>〉 </a:t>
            </a:r>
            <a:r>
              <a:rPr lang="ko-KR" altLang="en-US" sz="2000" b="1">
                <a:solidFill>
                  <a:srgbClr val="15704D"/>
                </a:solidFill>
                <a:latin typeface="맑은 고딕" panose="020B0503020000020004" pitchFamily="50" charset="-127"/>
              </a:rPr>
              <a:t>외 </a:t>
            </a:r>
            <a:r>
              <a:rPr lang="en-US" altLang="ko-KR" sz="2000" b="1">
                <a:solidFill>
                  <a:srgbClr val="15704D"/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2000" b="1">
                <a:solidFill>
                  <a:srgbClr val="15704D"/>
                </a:solidFill>
                <a:latin typeface="맑은 고딕" panose="020B0503020000020004" pitchFamily="50" charset="-127"/>
              </a:rPr>
              <a:t>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37BA8E9-5026-C585-7CE1-C3447F9E7356}"/>
              </a:ext>
            </a:extLst>
          </p:cNvPr>
          <p:cNvSpPr/>
          <p:nvPr/>
        </p:nvSpPr>
        <p:spPr>
          <a:xfrm>
            <a:off x="1016000" y="2984500"/>
            <a:ext cx="10160000" cy="2794000"/>
          </a:xfrm>
          <a:prstGeom prst="roundRect">
            <a:avLst/>
          </a:prstGeom>
          <a:solidFill>
            <a:srgbClr val="F7EFE2"/>
          </a:solidFill>
          <a:ln w="254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EE862-D017-E5A4-E183-403BD0B2095C}"/>
              </a:ext>
            </a:extLst>
          </p:cNvPr>
          <p:cNvSpPr txBox="1"/>
          <p:nvPr/>
        </p:nvSpPr>
        <p:spPr>
          <a:xfrm>
            <a:off x="1397000" y="3175000"/>
            <a:ext cx="9398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000" b="1">
                <a:solidFill>
                  <a:srgbClr val="15704D"/>
                </a:solidFill>
                <a:latin typeface="맑은 고딕" panose="020B0503020000020004" pitchFamily="50" charset="-127"/>
              </a:rPr>
              <a:t>🎯  이번 차시 활동 목표</a:t>
            </a:r>
          </a:p>
          <a:p>
            <a:endParaRPr lang="ko-KR" altLang="en-US" sz="16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>
                <a:solidFill>
                  <a:srgbClr val="323232"/>
                </a:solidFill>
                <a:latin typeface="맑은 고딕" panose="020B0503020000020004" pitchFamily="50" charset="-127"/>
              </a:rPr>
              <a:t>1. </a:t>
            </a:r>
            <a:r>
              <a:rPr lang="ko-KR" altLang="en-US" sz="1600">
                <a:solidFill>
                  <a:srgbClr val="323232"/>
                </a:solidFill>
                <a:latin typeface="맑은 고딕" panose="020B0503020000020004" pitchFamily="50" charset="-127"/>
              </a:rPr>
              <a:t>수필의 의미와 갈래적 특성을 바르게 이해하고 소설과의 차이점을 파악한다</a:t>
            </a:r>
            <a:r>
              <a:rPr lang="en-US" altLang="ko-KR" sz="16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>
                <a:solidFill>
                  <a:srgbClr val="323232"/>
                </a:solidFill>
                <a:latin typeface="맑은 고딕" panose="020B0503020000020004" pitchFamily="50" charset="-127"/>
              </a:rPr>
              <a:t>2. </a:t>
            </a:r>
            <a:r>
              <a:rPr lang="ko-KR" altLang="en-US" sz="1600">
                <a:solidFill>
                  <a:srgbClr val="323232"/>
                </a:solidFill>
                <a:latin typeface="맑은 고딕" panose="020B0503020000020004" pitchFamily="50" charset="-127"/>
              </a:rPr>
              <a:t>수필에 담긴 글쓴이의 실제 경험을 바탕으로 삶의 교훈과 깊이 있는 깨달음을 얻는다</a:t>
            </a:r>
            <a:r>
              <a:rPr lang="en-US" altLang="ko-KR" sz="16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>
                <a:solidFill>
                  <a:srgbClr val="323232"/>
                </a:solidFill>
                <a:latin typeface="맑은 고딕" panose="020B0503020000020004" pitchFamily="50" charset="-127"/>
              </a:rPr>
              <a:t>3. </a:t>
            </a:r>
            <a:r>
              <a:rPr lang="ko-KR" altLang="en-US" sz="1600">
                <a:solidFill>
                  <a:srgbClr val="323232"/>
                </a:solidFill>
                <a:latin typeface="맑은 고딕" panose="020B0503020000020004" pitchFamily="50" charset="-127"/>
              </a:rPr>
              <a:t>자신의 일상 속 경험을 돌아보고 진솔한 감정을 담아 한 편의 수필을 완성한다</a:t>
            </a:r>
            <a:r>
              <a:rPr lang="en-US" altLang="ko-KR" sz="16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9946FFF-B334-6981-CA7C-637FF6E03608}"/>
              </a:ext>
            </a:extLst>
          </p:cNvPr>
          <p:cNvSpPr/>
          <p:nvPr/>
        </p:nvSpPr>
        <p:spPr>
          <a:xfrm>
            <a:off x="0" y="6223000"/>
            <a:ext cx="12192000" cy="6350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별난 사람 김원희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박지형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이미종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최현진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한아름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허순희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황선경</a:t>
            </a:r>
          </a:p>
        </p:txBody>
      </p:sp>
    </p:spTree>
    <p:extLst>
      <p:ext uri="{BB962C8B-B14F-4D97-AF65-F5344CB8AC3E}">
        <p14:creationId xmlns:p14="http://schemas.microsoft.com/office/powerpoint/2010/main" val="3875858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A9C6B8-1642-DF66-789E-D0587972C9FA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104163E-482D-7C8F-F27A-9FCE5986396C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01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936A0-D8A4-EBE1-EB44-E58CFDB12A1C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개념 파악하기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65EFC-756D-71C2-BA1F-0ED5C0337A42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수필의 본질과 소설과의 차이점 비교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B39BF9-DCFD-D906-2F9C-5935D9FE5A62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3906D3-FCA6-1B03-6769-F54FB4E55041}"/>
              </a:ext>
            </a:extLst>
          </p:cNvPr>
          <p:cNvSpPr/>
          <p:nvPr/>
        </p:nvSpPr>
        <p:spPr>
          <a:xfrm>
            <a:off x="508000" y="1079500"/>
            <a:ext cx="40640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9A778-1911-BD0D-B799-415F4BA9BCA0}"/>
              </a:ext>
            </a:extLst>
          </p:cNvPr>
          <p:cNvSpPr txBox="1"/>
          <p:nvPr/>
        </p:nvSpPr>
        <p:spPr>
          <a:xfrm>
            <a:off x="698500" y="1270000"/>
            <a:ext cx="3683000" cy="31700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b="1">
                <a:solidFill>
                  <a:srgbClr val="15704D"/>
                </a:solidFill>
                <a:latin typeface="맑은 고딕" panose="020B0503020000020004" pitchFamily="50" charset="-127"/>
              </a:rPr>
              <a:t>✒️ 수필</a:t>
            </a:r>
            <a:r>
              <a:rPr lang="en-US" altLang="ko-KR" b="1">
                <a:solidFill>
                  <a:srgbClr val="15704D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b="1">
                <a:solidFill>
                  <a:srgbClr val="15704D"/>
                </a:solidFill>
                <a:latin typeface="맑은 고딕" panose="020B0503020000020004" pitchFamily="50" charset="-127"/>
              </a:rPr>
              <a:t>隨筆</a:t>
            </a:r>
            <a:r>
              <a:rPr lang="en-US" altLang="ko-KR" b="1">
                <a:solidFill>
                  <a:srgbClr val="15704D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b="1">
                <a:solidFill>
                  <a:srgbClr val="15704D"/>
                </a:solidFill>
                <a:latin typeface="맑은 고딕" panose="020B0503020000020004" pitchFamily="50" charset="-127"/>
              </a:rPr>
              <a:t>의 의미</a:t>
            </a:r>
          </a:p>
          <a:p>
            <a:endParaRPr lang="ko-KR" altLang="en-US" sz="14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붓 가는 대로 쓴다</a:t>
            </a:r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는 뜻으로</a:t>
            </a:r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글쓴이가 자신의 생각이나 경험을 정해진 형식이나 내용의 제한 없이 자유롭게 쓴 산문 문학입니다</a:t>
            </a:r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14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📌 주요 특징</a:t>
            </a:r>
          </a:p>
          <a:p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신변잡기</a:t>
            </a:r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인생</a:t>
            </a:r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자연</a:t>
            </a:r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사회 등 모든 것이 글의 소재</a:t>
            </a:r>
          </a:p>
          <a:p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전문 작가가 아니라도 누구나 쓸 수 있는 열린 갈래</a:t>
            </a:r>
          </a:p>
          <a:p>
            <a:r>
              <a:rPr lang="en-US" altLang="ko-KR" sz="14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400">
                <a:solidFill>
                  <a:srgbClr val="323232"/>
                </a:solidFill>
                <a:latin typeface="맑은 고딕" panose="020B0503020000020004" pitchFamily="50" charset="-127"/>
              </a:rPr>
              <a:t>글쓴이의 가치관과 개성이 솔직하게 드러남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6D157D4-F9B4-E837-F37D-B3E850105B39}"/>
              </a:ext>
            </a:extLst>
          </p:cNvPr>
          <p:cNvSpPr/>
          <p:nvPr/>
        </p:nvSpPr>
        <p:spPr>
          <a:xfrm>
            <a:off x="4826000" y="1079500"/>
            <a:ext cx="6858000" cy="533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86DF78-3BD3-DD53-7598-F9A1B18771F2}"/>
              </a:ext>
            </a:extLst>
          </p:cNvPr>
          <p:cNvSpPr txBox="1"/>
          <p:nvPr/>
        </p:nvSpPr>
        <p:spPr>
          <a:xfrm>
            <a:off x="5080000" y="1270000"/>
            <a:ext cx="635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📊 소설과 수필의 핵심 차이점 한눈에 보기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6CCD0CF-4FD4-8DD9-A7B7-8F9706CD7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49125"/>
              </p:ext>
            </p:extLst>
          </p:nvPr>
        </p:nvGraphicFramePr>
        <p:xfrm>
          <a:off x="5080000" y="1778000"/>
          <a:ext cx="6350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3698494844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420988219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308912857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구분</a:t>
                      </a:r>
                    </a:p>
                  </a:txBody>
                  <a:tcPr>
                    <a:solidFill>
                      <a:srgbClr val="1570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소설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小說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1570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수필 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隨筆</a:t>
                      </a:r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157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9217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성격</a:t>
                      </a:r>
                    </a:p>
                  </a:txBody>
                  <a:tcPr>
                    <a:solidFill>
                      <a:srgbClr val="F7EFE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허구적 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모방적</a:t>
                      </a:r>
                    </a:p>
                    <a:p>
                      <a:pPr latinLnBrk="1"/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작가가 상상하여 꾸며낸 이야기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>
                        <a:solidFill>
                          <a:srgbClr val="32323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7EFE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사실적 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고백적</a:t>
                      </a:r>
                    </a:p>
                    <a:p>
                      <a:pPr latinLnBrk="1"/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글쓴이의 실제 경험과 생각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>
                        <a:solidFill>
                          <a:srgbClr val="32323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7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6004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말하는 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서술자</a:t>
                      </a:r>
                    </a:p>
                    <a:p>
                      <a:pPr latinLnBrk="1"/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작가가 만들어 낸 허구의 대리인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>
                        <a:solidFill>
                          <a:srgbClr val="32323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글쓴이 본인</a:t>
                      </a:r>
                    </a:p>
                    <a:p>
                      <a:pPr latinLnBrk="1"/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작가의 실제 목소리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>
                        <a:solidFill>
                          <a:srgbClr val="32323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8507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형식 및 구성</a:t>
                      </a:r>
                    </a:p>
                  </a:txBody>
                  <a:tcPr>
                    <a:solidFill>
                      <a:srgbClr val="F7EFE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발단 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전개 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위기 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절정 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결말</a:t>
                      </a:r>
                    </a:p>
                    <a:p>
                      <a:pPr latinLnBrk="1"/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인과관계에 따른 체계적 구성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>
                        <a:solidFill>
                          <a:srgbClr val="32323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7EFE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정해진 형식이 없음</a:t>
                      </a:r>
                    </a:p>
                    <a:p>
                      <a:pPr latinLnBrk="1"/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자유로운 산문 형식의 구성</a:t>
                      </a:r>
                      <a:r>
                        <a:rPr lang="en-US" altLang="ko-KR" sz="1100">
                          <a:solidFill>
                            <a:srgbClr val="323232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100">
                        <a:solidFill>
                          <a:srgbClr val="32323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7E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56855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9611D70-22AB-CAD3-C8AA-47FCA428A84B}"/>
              </a:ext>
            </a:extLst>
          </p:cNvPr>
          <p:cNvSpPr txBox="1"/>
          <p:nvPr/>
        </p:nvSpPr>
        <p:spPr>
          <a:xfrm>
            <a:off x="5080000" y="5080000"/>
            <a:ext cx="635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💡 핵심 포인트</a:t>
            </a:r>
            <a:r>
              <a:rPr lang="en-US" altLang="ko-KR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소설은 </a:t>
            </a:r>
            <a:r>
              <a:rPr lang="en-US" altLang="ko-KR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허구의 세계</a:t>
            </a:r>
            <a:r>
              <a:rPr lang="en-US" altLang="ko-KR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를 통해 진실을 전달하지만</a:t>
            </a:r>
            <a:r>
              <a:rPr lang="en-US" altLang="ko-KR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수필은 </a:t>
            </a:r>
            <a:r>
              <a:rPr lang="en-US" altLang="ko-KR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실제 경험의 고백</a:t>
            </a:r>
            <a:r>
              <a:rPr lang="en-US" altLang="ko-KR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을 통해 삶의 깊은 깨달음과 공감을 이끌어냅니다</a:t>
            </a:r>
            <a:r>
              <a:rPr lang="en-US" altLang="ko-KR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 b="1">
              <a:solidFill>
                <a:srgbClr val="FF7F4D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990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6B83-FFE1-5851-E712-1634F26F164F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EBC5484-493B-A96E-5C90-0C5CEEDFD3A7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02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B8177-2FA8-9AC8-4969-4B3124FB52DB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수필의 갈래 이해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B1B51-DFA0-707E-15A4-78BFC08D351D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수필의 두 가지 종류와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7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대 본질적 특성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98BE33-E161-78D8-D351-341239AE42E3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B02FC5F-CD85-47A5-8D19-6DECE78065F9}"/>
              </a:ext>
            </a:extLst>
          </p:cNvPr>
          <p:cNvSpPr/>
          <p:nvPr/>
        </p:nvSpPr>
        <p:spPr>
          <a:xfrm>
            <a:off x="508000" y="1079500"/>
            <a:ext cx="5397500" cy="152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557AB7-2D0B-1D91-5A8C-55BCF4F1D407}"/>
              </a:ext>
            </a:extLst>
          </p:cNvPr>
          <p:cNvSpPr txBox="1"/>
          <p:nvPr/>
        </p:nvSpPr>
        <p:spPr>
          <a:xfrm>
            <a:off x="698500" y="1206500"/>
            <a:ext cx="5016500" cy="9387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🌱 경수필 </a:t>
            </a:r>
            <a:r>
              <a:rPr lang="en-US" altLang="ko-KR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輕隨筆</a:t>
            </a:r>
            <a:r>
              <a:rPr lang="en-US" altLang="ko-KR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소재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일상생활의 소소한 경험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신변잡기</a:t>
            </a:r>
          </a:p>
          <a:p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성격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주관적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감성적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친근하고 따뜻한 정서</a:t>
            </a:r>
          </a:p>
          <a:p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형식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일기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편지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기행문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수상록 등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0907610-CFF0-586C-0AC3-8B9304495E82}"/>
              </a:ext>
            </a:extLst>
          </p:cNvPr>
          <p:cNvSpPr/>
          <p:nvPr/>
        </p:nvSpPr>
        <p:spPr>
          <a:xfrm>
            <a:off x="6286500" y="1079500"/>
            <a:ext cx="5397500" cy="152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F1172-EF6D-4C00-81DC-336E581C2CFA}"/>
              </a:ext>
            </a:extLst>
          </p:cNvPr>
          <p:cNvSpPr txBox="1"/>
          <p:nvPr/>
        </p:nvSpPr>
        <p:spPr>
          <a:xfrm>
            <a:off x="6477000" y="1206500"/>
            <a:ext cx="5016500" cy="9387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🏛️ 중수필 </a:t>
            </a:r>
            <a:r>
              <a:rPr lang="en-US" altLang="ko-KR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重隨筆</a:t>
            </a:r>
            <a:r>
              <a:rPr lang="en-US" altLang="ko-KR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소재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사회적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철학적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학문적 깊이 있는 문제</a:t>
            </a:r>
          </a:p>
          <a:p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성격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객관적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논리적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지적이고 진중한 어조</a:t>
            </a:r>
          </a:p>
          <a:p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형식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칼럼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평론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논설적 산문 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5C1B115-CB5E-4909-C42B-CE2E9ED5B478}"/>
              </a:ext>
            </a:extLst>
          </p:cNvPr>
          <p:cNvSpPr/>
          <p:nvPr/>
        </p:nvSpPr>
        <p:spPr>
          <a:xfrm>
            <a:off x="508000" y="2857500"/>
            <a:ext cx="1498600" cy="355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EA741EE-FBEA-F710-1D2F-C67D06035383}"/>
              </a:ext>
            </a:extLst>
          </p:cNvPr>
          <p:cNvSpPr/>
          <p:nvPr/>
        </p:nvSpPr>
        <p:spPr>
          <a:xfrm>
            <a:off x="635000" y="3048000"/>
            <a:ext cx="1244600" cy="457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개성적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840A49-FBF4-EBD5-1B9C-1CB8CA3A1036}"/>
              </a:ext>
            </a:extLst>
          </p:cNvPr>
          <p:cNvSpPr txBox="1"/>
          <p:nvPr/>
        </p:nvSpPr>
        <p:spPr>
          <a:xfrm>
            <a:off x="609600" y="3683000"/>
            <a:ext cx="1295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글쓴이의 독특한 개성과 문체 반영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A127474-052E-D0E6-1891-702AECC943CC}"/>
              </a:ext>
            </a:extLst>
          </p:cNvPr>
          <p:cNvSpPr/>
          <p:nvPr/>
        </p:nvSpPr>
        <p:spPr>
          <a:xfrm>
            <a:off x="2120900" y="2857500"/>
            <a:ext cx="1498600" cy="355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62FD9E7-CEB5-60DA-3D7B-195AD806157D}"/>
              </a:ext>
            </a:extLst>
          </p:cNvPr>
          <p:cNvSpPr/>
          <p:nvPr/>
        </p:nvSpPr>
        <p:spPr>
          <a:xfrm>
            <a:off x="2247900" y="3048000"/>
            <a:ext cx="1244600" cy="457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비전문적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B79D4B-F4E8-8D03-033D-8C988C67BEB6}"/>
              </a:ext>
            </a:extLst>
          </p:cNvPr>
          <p:cNvSpPr txBox="1"/>
          <p:nvPr/>
        </p:nvSpPr>
        <p:spPr>
          <a:xfrm>
            <a:off x="2222500" y="3683000"/>
            <a:ext cx="1295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누구나 자유롭게 쓸 수 있는 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E92694-8909-D3B2-474C-36F2BC3202D1}"/>
              </a:ext>
            </a:extLst>
          </p:cNvPr>
          <p:cNvSpPr/>
          <p:nvPr/>
        </p:nvSpPr>
        <p:spPr>
          <a:xfrm>
            <a:off x="3733800" y="2857500"/>
            <a:ext cx="1498600" cy="355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17A7A89-FAFF-29C4-F331-585EE056DC69}"/>
              </a:ext>
            </a:extLst>
          </p:cNvPr>
          <p:cNvSpPr/>
          <p:nvPr/>
        </p:nvSpPr>
        <p:spPr>
          <a:xfrm>
            <a:off x="3860800" y="3048000"/>
            <a:ext cx="1244600" cy="457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체험적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D1DBD-DAB2-9CA6-E1C9-069D260A2C07}"/>
              </a:ext>
            </a:extLst>
          </p:cNvPr>
          <p:cNvSpPr txBox="1"/>
          <p:nvPr/>
        </p:nvSpPr>
        <p:spPr>
          <a:xfrm>
            <a:off x="3835400" y="3683000"/>
            <a:ext cx="12954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실제 삶의 생생한 경험에 바탕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DE69B9F-8C90-FD3C-3E99-64D33C067A57}"/>
              </a:ext>
            </a:extLst>
          </p:cNvPr>
          <p:cNvSpPr/>
          <p:nvPr/>
        </p:nvSpPr>
        <p:spPr>
          <a:xfrm>
            <a:off x="5346700" y="2857500"/>
            <a:ext cx="1498600" cy="355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5A248C7-9123-83E7-7CF3-21936779A284}"/>
              </a:ext>
            </a:extLst>
          </p:cNvPr>
          <p:cNvSpPr/>
          <p:nvPr/>
        </p:nvSpPr>
        <p:spPr>
          <a:xfrm>
            <a:off x="5473700" y="3048000"/>
            <a:ext cx="1244600" cy="457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사색적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71F307-3BC3-096C-AF52-0211FF1DAE74}"/>
              </a:ext>
            </a:extLst>
          </p:cNvPr>
          <p:cNvSpPr txBox="1"/>
          <p:nvPr/>
        </p:nvSpPr>
        <p:spPr>
          <a:xfrm>
            <a:off x="5448300" y="3683000"/>
            <a:ext cx="1295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대상과 삶에 대한 깊이 있는 통찰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9641137-0373-FF7D-793A-A91DB076C2F4}"/>
              </a:ext>
            </a:extLst>
          </p:cNvPr>
          <p:cNvSpPr/>
          <p:nvPr/>
        </p:nvSpPr>
        <p:spPr>
          <a:xfrm>
            <a:off x="6959600" y="2857500"/>
            <a:ext cx="1498600" cy="355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B75B051-EBDF-CC06-2D17-8C71046F3382}"/>
              </a:ext>
            </a:extLst>
          </p:cNvPr>
          <p:cNvSpPr/>
          <p:nvPr/>
        </p:nvSpPr>
        <p:spPr>
          <a:xfrm>
            <a:off x="7086600" y="3048000"/>
            <a:ext cx="1244600" cy="457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성찰적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A81A35-DE88-810F-F936-8789B32024E6}"/>
              </a:ext>
            </a:extLst>
          </p:cNvPr>
          <p:cNvSpPr txBox="1"/>
          <p:nvPr/>
        </p:nvSpPr>
        <p:spPr>
          <a:xfrm>
            <a:off x="7061200" y="3683000"/>
            <a:ext cx="1295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자신과 사회를 반성적으로 되돌아봄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6AD6088-FAA4-BD91-51B8-D88AC288C7F1}"/>
              </a:ext>
            </a:extLst>
          </p:cNvPr>
          <p:cNvSpPr/>
          <p:nvPr/>
        </p:nvSpPr>
        <p:spPr>
          <a:xfrm>
            <a:off x="8572500" y="2857500"/>
            <a:ext cx="1498600" cy="355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50A0E98-0380-FA5F-74D9-7ADDF19F600E}"/>
              </a:ext>
            </a:extLst>
          </p:cNvPr>
          <p:cNvSpPr/>
          <p:nvPr/>
        </p:nvSpPr>
        <p:spPr>
          <a:xfrm>
            <a:off x="8699500" y="3048000"/>
            <a:ext cx="1244600" cy="457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고백적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AA3672-5057-0101-E0E9-DA89CB384D21}"/>
              </a:ext>
            </a:extLst>
          </p:cNvPr>
          <p:cNvSpPr txBox="1"/>
          <p:nvPr/>
        </p:nvSpPr>
        <p:spPr>
          <a:xfrm>
            <a:off x="8674100" y="3683000"/>
            <a:ext cx="1295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내면의 솔직한 감정과 진실 표현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3496240-4437-2025-9EE7-D957FA22145D}"/>
              </a:ext>
            </a:extLst>
          </p:cNvPr>
          <p:cNvSpPr/>
          <p:nvPr/>
        </p:nvSpPr>
        <p:spPr>
          <a:xfrm>
            <a:off x="10185400" y="2857500"/>
            <a:ext cx="1498600" cy="355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FE501CD-2414-F07E-797B-06183A962D32}"/>
              </a:ext>
            </a:extLst>
          </p:cNvPr>
          <p:cNvSpPr/>
          <p:nvPr/>
        </p:nvSpPr>
        <p:spPr>
          <a:xfrm>
            <a:off x="10312400" y="3048000"/>
            <a:ext cx="1244600" cy="457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교훈적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6B8B02-220F-BA8D-0D26-BB14727D997D}"/>
              </a:ext>
            </a:extLst>
          </p:cNvPr>
          <p:cNvSpPr txBox="1"/>
          <p:nvPr/>
        </p:nvSpPr>
        <p:spPr>
          <a:xfrm>
            <a:off x="10287000" y="3683000"/>
            <a:ext cx="12954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삶의 깨달음과 감동을 전함</a:t>
            </a:r>
          </a:p>
        </p:txBody>
      </p:sp>
    </p:spTree>
    <p:extLst>
      <p:ext uri="{BB962C8B-B14F-4D97-AF65-F5344CB8AC3E}">
        <p14:creationId xmlns:p14="http://schemas.microsoft.com/office/powerpoint/2010/main" val="3547854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D4CFF11-1EA6-B335-0474-B88C8BC5781F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CC58144-D67E-FEA8-0E4C-1D044B335800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03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3B591-78B2-DF47-564E-80B0B3401588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주제별 깊이 읽기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78EB1-B856-07F2-4F32-C8116B9FAD7C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성장을 담은 수필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편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아픔을 딛고 피어나는 삶의 용기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91B7AE5-D5CB-DE1C-C752-40A9B63D0960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7DEF172-7317-0E7A-B874-08B12A7A1A5D}"/>
              </a:ext>
            </a:extLst>
          </p:cNvPr>
          <p:cNvSpPr/>
          <p:nvPr/>
        </p:nvSpPr>
        <p:spPr>
          <a:xfrm>
            <a:off x="508000" y="1079500"/>
            <a:ext cx="3492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A2EF844-0B7B-0352-00DC-E0CB369FF61F}"/>
              </a:ext>
            </a:extLst>
          </p:cNvPr>
          <p:cNvSpPr/>
          <p:nvPr/>
        </p:nvSpPr>
        <p:spPr>
          <a:xfrm>
            <a:off x="698500" y="1333500"/>
            <a:ext cx="3111500" cy="5334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아름다운 흉터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장영희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FAED9-945B-D9D3-BDB5-F8C0C0435A48}"/>
              </a:ext>
            </a:extLst>
          </p:cNvPr>
          <p:cNvSpPr txBox="1"/>
          <p:nvPr/>
        </p:nvSpPr>
        <p:spPr>
          <a:xfrm>
            <a:off x="698500" y="2032000"/>
            <a:ext cx="31115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❓ 탐구 질문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글쓴이는 자신의 흉터에 대해 어떤 생각의 변화를 겪었는가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 b="1">
                <a:solidFill>
                  <a:srgbClr val="15704D"/>
                </a:solidFill>
                <a:latin typeface="맑은 고딕" panose="020B0503020000020004" pitchFamily="50" charset="-127"/>
              </a:rPr>
              <a:t>📖 깊이 읽기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소아마비로 인한 목발과 흉터를 부끄러워 숨기려 했던 마음에서 벗어나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상처는 고통을 이겨 낸 훈장이자 삶의 성숙한 증표임을 깨닫고 당당하게 수용함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💡 핵심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흉터는 결함이 아닌 시련 극복의 증거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C5F200F-27D9-7F35-3678-F0D40DF5E66D}"/>
              </a:ext>
            </a:extLst>
          </p:cNvPr>
          <p:cNvSpPr/>
          <p:nvPr/>
        </p:nvSpPr>
        <p:spPr>
          <a:xfrm>
            <a:off x="4343400" y="1079500"/>
            <a:ext cx="3492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2C94A76-ADBB-3776-7E35-9B4FC28FAC27}"/>
              </a:ext>
            </a:extLst>
          </p:cNvPr>
          <p:cNvSpPr/>
          <p:nvPr/>
        </p:nvSpPr>
        <p:spPr>
          <a:xfrm>
            <a:off x="4533900" y="1333500"/>
            <a:ext cx="3111500" cy="5334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어느 날 자전거가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...〉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공지영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A991D9-526B-7D77-B4B2-961B690518D7}"/>
              </a:ext>
            </a:extLst>
          </p:cNvPr>
          <p:cNvSpPr txBox="1"/>
          <p:nvPr/>
        </p:nvSpPr>
        <p:spPr>
          <a:xfrm>
            <a:off x="4533900" y="2032000"/>
            <a:ext cx="31115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❓ 탐구 질문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자전거를 타며 글쓴이가 얻은 인생의 깨달음은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 b="1">
                <a:solidFill>
                  <a:srgbClr val="15704D"/>
                </a:solidFill>
                <a:latin typeface="맑은 고딕" panose="020B0503020000020004" pitchFamily="50" charset="-127"/>
              </a:rPr>
              <a:t>📖 깊이 읽기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중년의 늦은 나이에 자전거를 배우며 넘어져 다치는 두려움을 극복함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계속해서 페달을 밟고 앞으로 나아가야만 쓰러지지 않고 균형을 잡을 수 있다는 삶의 지혜 터득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💡 핵심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멈추지 않고 나아가는 삶의 균형과 용기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900017D-D1B3-69F7-145F-33DDAB372B20}"/>
              </a:ext>
            </a:extLst>
          </p:cNvPr>
          <p:cNvSpPr/>
          <p:nvPr/>
        </p:nvSpPr>
        <p:spPr>
          <a:xfrm>
            <a:off x="8178800" y="1079500"/>
            <a:ext cx="3492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6C2A19E-6A0E-F516-A195-C26D4F6F3EEF}"/>
              </a:ext>
            </a:extLst>
          </p:cNvPr>
          <p:cNvSpPr/>
          <p:nvPr/>
        </p:nvSpPr>
        <p:spPr>
          <a:xfrm>
            <a:off x="8369300" y="1333500"/>
            <a:ext cx="3111500" cy="5334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부딪치면서 배워요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고정욱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B16A93-48CB-6719-DD3C-FA9EC0EC9D41}"/>
              </a:ext>
            </a:extLst>
          </p:cNvPr>
          <p:cNvSpPr txBox="1"/>
          <p:nvPr/>
        </p:nvSpPr>
        <p:spPr>
          <a:xfrm>
            <a:off x="8369300" y="2032000"/>
            <a:ext cx="31115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❓ 탐구 질문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시각 장애인 학생들과의 수업에서 깨달은 점은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 b="1">
                <a:solidFill>
                  <a:srgbClr val="15704D"/>
                </a:solidFill>
                <a:latin typeface="맑은 고딕" panose="020B0503020000020004" pitchFamily="50" charset="-127"/>
              </a:rPr>
              <a:t>📖 깊이 읽기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막연한 편견이나 지레짐작으로 거리를 두기보다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직접 눈을 맞추고 몸으로 부딪치며 소통할 때 비로소 진정한 이해와 신뢰가 싹튼다는 점을 배움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💡 핵심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편견의 벽을 허무는 진솔한 직접 소통</a:t>
            </a:r>
          </a:p>
        </p:txBody>
      </p:sp>
    </p:spTree>
    <p:extLst>
      <p:ext uri="{BB962C8B-B14F-4D97-AF65-F5344CB8AC3E}">
        <p14:creationId xmlns:p14="http://schemas.microsoft.com/office/powerpoint/2010/main" val="401390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4EFA02-0A33-DE22-55AE-DCBBA04D13B0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87B97A4-8265-E073-FFD3-7B68D03736E7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04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AC418-82AB-C7C5-F7FD-C288C261F578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주제별 깊이 읽기 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ACA80-1023-E8BA-83BA-4496FDD1B1FB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희망과 위로를 주는 수필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편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마음에 건네는 따스한 손길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DF67DB-2D91-99DD-4E53-AB6E8C970C02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6662B05-11CB-3B95-8689-5E7FC31A737B}"/>
              </a:ext>
            </a:extLst>
          </p:cNvPr>
          <p:cNvSpPr/>
          <p:nvPr/>
        </p:nvSpPr>
        <p:spPr>
          <a:xfrm>
            <a:off x="508000" y="1079500"/>
            <a:ext cx="2603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BEDC4B1-D208-ADCD-A2AF-E55936E6C888}"/>
              </a:ext>
            </a:extLst>
          </p:cNvPr>
          <p:cNvSpPr/>
          <p:nvPr/>
        </p:nvSpPr>
        <p:spPr>
          <a:xfrm>
            <a:off x="660400" y="1333500"/>
            <a:ext cx="2298700" cy="584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괜찮아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장영희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F98FA-5490-D1BC-CE44-6573F766182A}"/>
              </a:ext>
            </a:extLst>
          </p:cNvPr>
          <p:cNvSpPr txBox="1"/>
          <p:nvPr/>
        </p:nvSpPr>
        <p:spPr>
          <a:xfrm>
            <a:off x="660400" y="2095500"/>
            <a:ext cx="22987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골목길 깨엿 장수가 건넨 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괜찮아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라는 말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넘어지고 실패해도 언제든 다시 시작할 수 있다는 따스한 격려와 위로를 전함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93B9E83-4BC1-013D-576C-0CA66728380D}"/>
              </a:ext>
            </a:extLst>
          </p:cNvPr>
          <p:cNvSpPr/>
          <p:nvPr/>
        </p:nvSpPr>
        <p:spPr>
          <a:xfrm>
            <a:off x="3365500" y="1079500"/>
            <a:ext cx="2603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7A11234-3CB7-7F3E-6398-FB590F558D5A}"/>
              </a:ext>
            </a:extLst>
          </p:cNvPr>
          <p:cNvSpPr/>
          <p:nvPr/>
        </p:nvSpPr>
        <p:spPr>
          <a:xfrm>
            <a:off x="3517900" y="1333500"/>
            <a:ext cx="2298700" cy="584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천 원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강영숙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A7DFE5-0B40-F6C7-98CF-8D3F9BFD5864}"/>
              </a:ext>
            </a:extLst>
          </p:cNvPr>
          <p:cNvSpPr txBox="1"/>
          <p:nvPr/>
        </p:nvSpPr>
        <p:spPr>
          <a:xfrm>
            <a:off x="3517900" y="2095500"/>
            <a:ext cx="22987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가난한 형편 속에서도 할머니께서 쥐여주신 꼬깃꼬깃한 천 원 한 장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평생 쓰지 않고 가슴에 품은 조건 없는 내리사랑의 감동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82AF91B-B696-886A-90F3-D759FCB2F698}"/>
              </a:ext>
            </a:extLst>
          </p:cNvPr>
          <p:cNvSpPr/>
          <p:nvPr/>
        </p:nvSpPr>
        <p:spPr>
          <a:xfrm>
            <a:off x="6223000" y="1079500"/>
            <a:ext cx="2603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040B483-9CC0-E7E7-5CEE-4CB7CA45BB67}"/>
              </a:ext>
            </a:extLst>
          </p:cNvPr>
          <p:cNvSpPr/>
          <p:nvPr/>
        </p:nvSpPr>
        <p:spPr>
          <a:xfrm>
            <a:off x="6375400" y="1333500"/>
            <a:ext cx="2298700" cy="584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선물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피천득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8A60A8-55B0-E635-A35A-1B171C39218C}"/>
              </a:ext>
            </a:extLst>
          </p:cNvPr>
          <p:cNvSpPr txBox="1"/>
          <p:nvPr/>
        </p:nvSpPr>
        <p:spPr>
          <a:xfrm>
            <a:off x="6375400" y="2095500"/>
            <a:ext cx="22987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어린 시절 아버지에게 처음으로 받은 선물인 강아지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생명을 소중히 보살피는 과정에서 자라난 따뜻한 연민과 그리움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2EFA457-7914-1C48-1B03-E22F82E45899}"/>
              </a:ext>
            </a:extLst>
          </p:cNvPr>
          <p:cNvSpPr/>
          <p:nvPr/>
        </p:nvSpPr>
        <p:spPr>
          <a:xfrm>
            <a:off x="9080500" y="1079500"/>
            <a:ext cx="2603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F961808-6A5A-8CA3-D266-D5683F8EF1A3}"/>
              </a:ext>
            </a:extLst>
          </p:cNvPr>
          <p:cNvSpPr/>
          <p:nvPr/>
        </p:nvSpPr>
        <p:spPr>
          <a:xfrm>
            <a:off x="9232900" y="1333500"/>
            <a:ext cx="2298700" cy="5842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열보다 큰 아홉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이문구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BF592D-0183-0262-AC02-95EBBACE06A4}"/>
              </a:ext>
            </a:extLst>
          </p:cNvPr>
          <p:cNvSpPr txBox="1"/>
          <p:nvPr/>
        </p:nvSpPr>
        <p:spPr>
          <a:xfrm>
            <a:off x="9232900" y="2095500"/>
            <a:ext cx="22987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완벽하게 꽉 찬 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열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(10)'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보다 조금은 부족한 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아홉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(9)'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의 여백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부족함 속에서 나누는 겸손과 인간미의 소중한 가치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089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6CC69C1-5B08-62C8-5B6F-CE6EF966E04A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F880494-7B0A-930C-7532-71DAF94837C3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05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8501D-F21A-4866-C44D-D17666BEE6E3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주제별 깊이 읽기 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59135-3852-06FC-52B0-4E651DFE7138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사랑의 다양한 결을 담은 수필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편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가족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이웃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친구의 헌신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1898D6-C926-94F3-8826-5D9BC556A785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8A33E42-0A7D-90A8-73B0-591543F7D729}"/>
              </a:ext>
            </a:extLst>
          </p:cNvPr>
          <p:cNvSpPr/>
          <p:nvPr/>
        </p:nvSpPr>
        <p:spPr>
          <a:xfrm>
            <a:off x="508000" y="1079500"/>
            <a:ext cx="2603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3505FAC-DB49-F64F-2AD5-0D5F4E43C534}"/>
              </a:ext>
            </a:extLst>
          </p:cNvPr>
          <p:cNvSpPr/>
          <p:nvPr/>
        </p:nvSpPr>
        <p:spPr>
          <a:xfrm>
            <a:off x="635000" y="1333500"/>
            <a:ext cx="2349500" cy="6096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탑차를 끄는 사계절의 산타</a:t>
            </a:r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0C99E-0DF3-6B27-3A4A-55291BE89197}"/>
              </a:ext>
            </a:extLst>
          </p:cNvPr>
          <p:cNvSpPr txBox="1"/>
          <p:nvPr/>
        </p:nvSpPr>
        <p:spPr>
          <a:xfrm>
            <a:off x="635000" y="2095500"/>
            <a:ext cx="23495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무더위와 한파 속에서도 이웃을 위해 묵묵히 땀 흘리는 택배 기사님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우리 일상 속에 숨어 있는 진정한 영웅과 나눔의 가치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69F8B8C-C813-23E0-CF7F-F41AEC9E3F7B}"/>
              </a:ext>
            </a:extLst>
          </p:cNvPr>
          <p:cNvSpPr/>
          <p:nvPr/>
        </p:nvSpPr>
        <p:spPr>
          <a:xfrm>
            <a:off x="3365500" y="1079500"/>
            <a:ext cx="2603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5C3C32-0C1B-82BA-2408-33CDEA022F33}"/>
              </a:ext>
            </a:extLst>
          </p:cNvPr>
          <p:cNvSpPr/>
          <p:nvPr/>
        </p:nvSpPr>
        <p:spPr>
          <a:xfrm>
            <a:off x="3492500" y="1333500"/>
            <a:ext cx="2349500" cy="6096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할아버지의 엄마 나무</a:t>
            </a:r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13A2D-137F-349D-1285-6801653477D8}"/>
              </a:ext>
            </a:extLst>
          </p:cNvPr>
          <p:cNvSpPr txBox="1"/>
          <p:nvPr/>
        </p:nvSpPr>
        <p:spPr>
          <a:xfrm>
            <a:off x="3492500" y="2095500"/>
            <a:ext cx="23495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북한 고향 땅의 흙으로 심은 나무를 평생 정성껏 가꾸신 할아버지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분단의 한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恨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을 넘어선 애틋한 어머니에 대한 영원한 그리움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1F3C7A1-CEC7-0F5F-6377-06EB4D7B61AF}"/>
              </a:ext>
            </a:extLst>
          </p:cNvPr>
          <p:cNvSpPr/>
          <p:nvPr/>
        </p:nvSpPr>
        <p:spPr>
          <a:xfrm>
            <a:off x="6223000" y="1079500"/>
            <a:ext cx="2603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F40312B-87FC-B58F-64D3-C7F57CE76132}"/>
              </a:ext>
            </a:extLst>
          </p:cNvPr>
          <p:cNvSpPr/>
          <p:nvPr/>
        </p:nvSpPr>
        <p:spPr>
          <a:xfrm>
            <a:off x="6350000" y="1333500"/>
            <a:ext cx="2349500" cy="6096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사막을 같이 가는 벗</a:t>
            </a:r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1F9FB-1D47-3ABB-FEA2-7118D3932323}"/>
              </a:ext>
            </a:extLst>
          </p:cNvPr>
          <p:cNvSpPr txBox="1"/>
          <p:nvPr/>
        </p:nvSpPr>
        <p:spPr>
          <a:xfrm>
            <a:off x="6350000" y="2095500"/>
            <a:ext cx="23495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인생이라는 험난하고 거친 사막길을 함께 걸어가는 진정한 친구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기쁨보다 고난을 함께 짊어질 때 빛나는 숭고한 우정의 힘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6C87CC4-1DAF-3340-47A5-50A0546DE792}"/>
              </a:ext>
            </a:extLst>
          </p:cNvPr>
          <p:cNvSpPr/>
          <p:nvPr/>
        </p:nvSpPr>
        <p:spPr>
          <a:xfrm>
            <a:off x="9080500" y="1079500"/>
            <a:ext cx="2603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2057BF2-EE3C-8894-0D86-4DA81B125E55}"/>
              </a:ext>
            </a:extLst>
          </p:cNvPr>
          <p:cNvSpPr/>
          <p:nvPr/>
        </p:nvSpPr>
        <p:spPr>
          <a:xfrm>
            <a:off x="9207500" y="1333500"/>
            <a:ext cx="2349500" cy="6096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내 마음의 희망등</a:t>
            </a:r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1A0C3-7E72-BE70-A42D-DF00CA638F16}"/>
              </a:ext>
            </a:extLst>
          </p:cNvPr>
          <p:cNvSpPr txBox="1"/>
          <p:nvPr/>
        </p:nvSpPr>
        <p:spPr>
          <a:xfrm>
            <a:off x="9207500" y="2095500"/>
            <a:ext cx="23495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선생님이 글쓴이에게 건네주신 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너는 늦게 피는 꽃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이라는 격려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한 사람의 인생 전체를 환하게 밝혀 주는 참된 스승의 가르침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169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3A7D616-F01F-9FCD-DC42-A7132993B7D0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DD7D7D7-E9CA-7016-DA1B-44B3A560B2B2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06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C37D5-1CB8-A97F-30AE-FD525812FD79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주제별 깊이 읽기 ④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CBC74-834D-E5E2-51B5-0E21BB19D2DF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세상과 삶에 대한 깊은 성찰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편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경험에서 생각의 확장으로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55E5C3-DC66-51B9-E2CA-25A17648F3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A44F47B-4898-8909-E482-CD6067E2250A}"/>
              </a:ext>
            </a:extLst>
          </p:cNvPr>
          <p:cNvSpPr/>
          <p:nvPr/>
        </p:nvSpPr>
        <p:spPr>
          <a:xfrm>
            <a:off x="508000" y="1079500"/>
            <a:ext cx="3492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90817DC-08B6-EBDA-D150-3F3663BAB8F4}"/>
              </a:ext>
            </a:extLst>
          </p:cNvPr>
          <p:cNvSpPr/>
          <p:nvPr/>
        </p:nvSpPr>
        <p:spPr>
          <a:xfrm>
            <a:off x="698500" y="1333500"/>
            <a:ext cx="3111500" cy="5334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집을 수리하고 나서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이규보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고전 수필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D12CAA-6E3C-3145-17C8-0941AFFA6283}"/>
              </a:ext>
            </a:extLst>
          </p:cNvPr>
          <p:cNvSpPr txBox="1"/>
          <p:nvPr/>
        </p:nvSpPr>
        <p:spPr>
          <a:xfrm>
            <a:off x="698500" y="2032000"/>
            <a:ext cx="31115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🔍 구체적 경험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비가 새는 행랑채를 방치했다가 썩어서 큰 비용을 들여 수리함</a:t>
            </a:r>
          </a:p>
          <a:p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 b="1">
                <a:solidFill>
                  <a:srgbClr val="15704D"/>
                </a:solidFill>
                <a:latin typeface="맑은 고딕" panose="020B0503020000020004" pitchFamily="50" charset="-127"/>
              </a:rPr>
              <a:t>💡 깨달음의 확장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사람의 잘못도 일찍 고치지 않으면 패망하며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나랏일과 정치 또한 백성의 고통을 즉시 바로잡지 않으면 위태로워짐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E54916C-EE03-827B-7736-C07960DC0171}"/>
              </a:ext>
            </a:extLst>
          </p:cNvPr>
          <p:cNvSpPr/>
          <p:nvPr/>
        </p:nvSpPr>
        <p:spPr>
          <a:xfrm>
            <a:off x="4343400" y="1079500"/>
            <a:ext cx="3492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0AC1A05-EF95-2408-6C07-98AFB1A298A4}"/>
              </a:ext>
            </a:extLst>
          </p:cNvPr>
          <p:cNvSpPr/>
          <p:nvPr/>
        </p:nvSpPr>
        <p:spPr>
          <a:xfrm>
            <a:off x="4533900" y="1333500"/>
            <a:ext cx="3111500" cy="5334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잘 준비된 말을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이태준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46722F-8BD3-D8B8-DEA8-1C478E7236F2}"/>
              </a:ext>
            </a:extLst>
          </p:cNvPr>
          <p:cNvSpPr txBox="1"/>
          <p:nvPr/>
        </p:nvSpPr>
        <p:spPr>
          <a:xfrm>
            <a:off x="4533900" y="2032000"/>
            <a:ext cx="31115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🔍 구체적 경험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글을 쓰기 위해 끊임없이 고치고 다듬는 퇴고의 고통과 노력</a:t>
            </a:r>
          </a:p>
          <a:p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 b="1">
                <a:solidFill>
                  <a:srgbClr val="15704D"/>
                </a:solidFill>
                <a:latin typeface="맑은 고딕" panose="020B0503020000020004" pitchFamily="50" charset="-127"/>
              </a:rPr>
              <a:t>💡 깨달음의 확장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입에서 나오는 말 한마디의 막중한 무게를 자각하고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생각 없이 뱉는 거친 말 대신 잘 정제된 품격 있는 언어생활을 지향해야 함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1797BDA-BF06-71B7-EBBD-DF73B05B9224}"/>
              </a:ext>
            </a:extLst>
          </p:cNvPr>
          <p:cNvSpPr/>
          <p:nvPr/>
        </p:nvSpPr>
        <p:spPr>
          <a:xfrm>
            <a:off x="8178800" y="1079500"/>
            <a:ext cx="3492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C436A1-D292-20A9-D528-2F7F7B4CCB13}"/>
              </a:ext>
            </a:extLst>
          </p:cNvPr>
          <p:cNvSpPr/>
          <p:nvPr/>
        </p:nvSpPr>
        <p:spPr>
          <a:xfrm>
            <a:off x="8369300" y="1333500"/>
            <a:ext cx="3111500" cy="5334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자연은 위대한 스승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〉</a:t>
            </a:r>
          </a:p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법정 스님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054A71-CDF2-4C57-E61B-8D60A5510626}"/>
              </a:ext>
            </a:extLst>
          </p:cNvPr>
          <p:cNvSpPr txBox="1"/>
          <p:nvPr/>
        </p:nvSpPr>
        <p:spPr>
          <a:xfrm>
            <a:off x="8369300" y="2032000"/>
            <a:ext cx="31115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>
                <a:solidFill>
                  <a:srgbClr val="FF7F4D"/>
                </a:solidFill>
                <a:latin typeface="맑은 고딕" panose="020B0503020000020004" pitchFamily="50" charset="-127"/>
              </a:rPr>
              <a:t>🔍 구체적 경험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잠자리를 구해주려 손을 댔다가 오히려 날개를 다치게 한 경험</a:t>
            </a:r>
          </a:p>
          <a:p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 b="1">
                <a:solidFill>
                  <a:srgbClr val="15704D"/>
                </a:solidFill>
                <a:latin typeface="맑은 고딕" panose="020B0503020000020004" pitchFamily="50" charset="-127"/>
              </a:rPr>
              <a:t>💡 깨달음의 확장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자연은 스스로 조화롭게 살아가는 섭리를 지니고 있으므로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인간의 섣부른 욕심과 개입을 멈추고 자연의 질서에 순응해야 함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945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8ED64F5-8F2C-52FA-6508-D6B2681AABD6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3EE7614-DF0D-F0C7-2D7C-D4986849474A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07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C58B9-3158-2453-CE98-7887615EDFF3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적용 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확장하기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BEDF4-107A-9273-0719-EDDAED702889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나의 경험을 담아 한 편의 진솔한 수필 완성하기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D373FF-324D-7DB3-6834-D65C9A5BBD9B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4380DF-2DC0-D0F7-C5EA-0EADF46CBD75}"/>
              </a:ext>
            </a:extLst>
          </p:cNvPr>
          <p:cNvSpPr/>
          <p:nvPr/>
        </p:nvSpPr>
        <p:spPr>
          <a:xfrm>
            <a:off x="508000" y="1079500"/>
            <a:ext cx="54610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52ACB-FF64-194C-813E-0530C9DEFE4E}"/>
              </a:ext>
            </a:extLst>
          </p:cNvPr>
          <p:cNvSpPr txBox="1"/>
          <p:nvPr/>
        </p:nvSpPr>
        <p:spPr>
          <a:xfrm>
            <a:off x="698500" y="1270000"/>
            <a:ext cx="5080000" cy="20005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🧭 수필 소재 찾기</a:t>
            </a:r>
            <a:r>
              <a:rPr lang="en-US" altLang="ko-KR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srgbClr val="15704D"/>
                </a:solidFill>
                <a:latin typeface="맑은 고딕" panose="020B0503020000020004" pitchFamily="50" charset="-127"/>
              </a:rPr>
              <a:t>경험 마인드맵</a:t>
            </a:r>
          </a:p>
          <a:p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① 누군가에게 따뜻한 도움을 받았던 적이 있는가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②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뒤늦게 잘못한 일이었다고 깨달았던 사건이 있는가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스스로 부끄러움을 깊이 느낀 경험이 있는가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④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부모님의 크고 깊은 사랑을 느꼈던 경험이 있는가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⑤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학교생활 중에서 가장 즐겁고 뜻깊었던 사건은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⑥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친구와의 관계에서 불편하거나 오해했던 기억은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⑦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과거로 돌아갈 수 있다면 꼭 바꾸고 싶은 순간은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⑧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최근 뉴스를 보면서 가슴 아프거나 걱정스러웠던 일은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?</a:t>
            </a:r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371880E-E6DB-E2B9-255C-C05233213DD9}"/>
              </a:ext>
            </a:extLst>
          </p:cNvPr>
          <p:cNvSpPr/>
          <p:nvPr/>
        </p:nvSpPr>
        <p:spPr>
          <a:xfrm>
            <a:off x="6223000" y="1079500"/>
            <a:ext cx="5461000" cy="533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F2DA4-8AA0-4297-B4F7-C7388A86071B}"/>
              </a:ext>
            </a:extLst>
          </p:cNvPr>
          <p:cNvSpPr txBox="1"/>
          <p:nvPr/>
        </p:nvSpPr>
        <p:spPr>
          <a:xfrm>
            <a:off x="6413500" y="1270000"/>
            <a:ext cx="5080000" cy="29238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>
                <a:solidFill>
                  <a:srgbClr val="FF7F4D"/>
                </a:solidFill>
                <a:latin typeface="맑은 고딕" panose="020B0503020000020004" pitchFamily="50" charset="-127"/>
              </a:rPr>
              <a:t>✍️ 수필 작성 </a:t>
            </a:r>
            <a:r>
              <a:rPr lang="en-US" altLang="ko-KR" sz="1600" b="1">
                <a:solidFill>
                  <a:srgbClr val="FF7F4D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600" b="1">
                <a:solidFill>
                  <a:srgbClr val="FF7F4D"/>
                </a:solidFill>
                <a:latin typeface="맑은 고딕" panose="020B0503020000020004" pitchFamily="50" charset="-127"/>
              </a:rPr>
              <a:t>단계 조건 </a:t>
            </a:r>
            <a:r>
              <a:rPr lang="en-US" altLang="ko-KR" sz="1600" b="1">
                <a:solidFill>
                  <a:srgbClr val="FF7F4D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srgbClr val="FF7F4D"/>
                </a:solidFill>
                <a:latin typeface="맑은 고딕" panose="020B0503020000020004" pitchFamily="50" charset="-127"/>
              </a:rPr>
              <a:t>별지 ②</a:t>
            </a:r>
            <a:r>
              <a:rPr lang="en-US" altLang="ko-KR" sz="1600" b="1">
                <a:solidFill>
                  <a:srgbClr val="FF7F4D"/>
                </a:solidFill>
                <a:latin typeface="맑은 고딕" panose="020B0503020000020004" pitchFamily="50" charset="-127"/>
              </a:rPr>
              <a:t>)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[1]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처음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경험의 동기 및 상황 제시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기억에 남는 실제 사건과 당시 상황을 생생하고 간략하게 소개합니다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[2]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중간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구체적 전개와 내면 감정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사건의 진행 과정과 그 순간 내가 느꼈던 갈등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부끄러움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기쁨 등 솔직한 감정을 묘사합니다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[3]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끝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깨달음과 삶의 변화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그 경험을 통해 얻은 새로운 생각이나 반성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앞으로 내 삶에 미칠 긍정적 태도를 정리합니다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💡 핵심 팁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과장하거나 꾸며내지 않고 나의 목소리로 솔직하게 고백할 때 가장 큰 감동을 줍니다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359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FD7332-3555-A90D-2378-C4C851FEDB22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9197A9E-AA2D-7FFC-77E3-685781108A48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08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110C05-246E-3E79-9D75-2E6617AEA6D6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별별 독서퀴즈 클리닉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27F37-FAB8-BF9F-FA71-26F73A95353D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수필의 기본 개념과 주요 작품 핵심 내용 점검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(1~5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번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)</a:t>
            </a:r>
            <a:endParaRPr lang="ko-KR" altLang="en-US" sz="2200" b="1">
              <a:solidFill>
                <a:srgbClr val="15704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D3D7E3-3970-6C83-EC39-EAFE8B1E36A9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97EDA92-75CA-A5F1-2079-2F60B1E2294C}"/>
              </a:ext>
            </a:extLst>
          </p:cNvPr>
          <p:cNvSpPr/>
          <p:nvPr/>
        </p:nvSpPr>
        <p:spPr>
          <a:xfrm>
            <a:off x="508000" y="1079500"/>
            <a:ext cx="11176000" cy="939800"/>
          </a:xfrm>
          <a:prstGeom prst="roundRect">
            <a:avLst/>
          </a:prstGeom>
          <a:solidFill>
            <a:srgbClr val="F7EFE2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3E8D4-61E8-B324-21EF-416BAA079051}"/>
              </a:ext>
            </a:extLst>
          </p:cNvPr>
          <p:cNvSpPr txBox="1"/>
          <p:nvPr/>
        </p:nvSpPr>
        <p:spPr>
          <a:xfrm>
            <a:off x="698500" y="11557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Q1. 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수필에 대한 설명으로 바르지 않은 것은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②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무거운 주제는 다루지 않는다 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(X)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수필은 일상의 가벼운 주제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경수필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뿐 아니라 사회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철학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학문적 무거운 주제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중수필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도 다룹니다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F5C6A0E-14B4-770B-FF5D-307F02BD06FA}"/>
              </a:ext>
            </a:extLst>
          </p:cNvPr>
          <p:cNvSpPr/>
          <p:nvPr/>
        </p:nvSpPr>
        <p:spPr>
          <a:xfrm>
            <a:off x="508000" y="2120900"/>
            <a:ext cx="11176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2F43C-23DC-D21F-3A08-7F60AF8595E8}"/>
              </a:ext>
            </a:extLst>
          </p:cNvPr>
          <p:cNvSpPr txBox="1"/>
          <p:nvPr/>
        </p:nvSpPr>
        <p:spPr>
          <a:xfrm>
            <a:off x="698500" y="21971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Q2. 〈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엄마의 눈물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〉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에서 엄마의 땀이 눈물로 보인 까닭은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⑤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장애가 있는 딸을 어떻게든 학교에 보내려는 엄마의 애틋한 마음을 느껴서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딸을 업고 가며 흘리는 엄마의 땀방울에서 눈물겨운 모성애를 읽어냈습니다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BE48C29-7544-F49A-38E2-64AA3E136346}"/>
              </a:ext>
            </a:extLst>
          </p:cNvPr>
          <p:cNvSpPr/>
          <p:nvPr/>
        </p:nvSpPr>
        <p:spPr>
          <a:xfrm>
            <a:off x="508000" y="3162300"/>
            <a:ext cx="11176000" cy="939800"/>
          </a:xfrm>
          <a:prstGeom prst="roundRect">
            <a:avLst/>
          </a:prstGeom>
          <a:solidFill>
            <a:srgbClr val="F7EFE2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DE6FA-93C1-668A-FCB8-CD9155B1F31C}"/>
              </a:ext>
            </a:extLst>
          </p:cNvPr>
          <p:cNvSpPr txBox="1"/>
          <p:nvPr/>
        </p:nvSpPr>
        <p:spPr>
          <a:xfrm>
            <a:off x="698500" y="32385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Q3. 〈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막내의 야구 방망이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〉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에서 승리하려 했던 이유는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③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아픈 아빠에게 기쁜 소식을 전하고 싶어서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병상에 계신 아버지에게 승리의 기쁨과 살아갈 희망을 드리고자 전력을 다했습니다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634339-96F8-CBF6-77D3-4084A2806234}"/>
              </a:ext>
            </a:extLst>
          </p:cNvPr>
          <p:cNvSpPr/>
          <p:nvPr/>
        </p:nvSpPr>
        <p:spPr>
          <a:xfrm>
            <a:off x="508000" y="4203700"/>
            <a:ext cx="11176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7E64AF-3AD4-AF2A-FEF5-17474C2648FA}"/>
              </a:ext>
            </a:extLst>
          </p:cNvPr>
          <p:cNvSpPr txBox="1"/>
          <p:nvPr/>
        </p:nvSpPr>
        <p:spPr>
          <a:xfrm>
            <a:off x="698500" y="42799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Q4. 〈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네모난 수박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〉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에서 글쓴이가 강조한 본질은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틀에 갇혀 겉모양이 네모나게 변할지라도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수박 본연의 맛과 향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나다움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을 잃지 않는 삶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사회적 기준에 얽매이지 않고 고유한 개성과 내면의 가치를 지키는 삶을 강조합니다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423DEB-84E1-180A-184C-B554C57BFDF3}"/>
              </a:ext>
            </a:extLst>
          </p:cNvPr>
          <p:cNvSpPr/>
          <p:nvPr/>
        </p:nvSpPr>
        <p:spPr>
          <a:xfrm>
            <a:off x="508000" y="5245100"/>
            <a:ext cx="11176000" cy="939800"/>
          </a:xfrm>
          <a:prstGeom prst="roundRect">
            <a:avLst/>
          </a:prstGeom>
          <a:solidFill>
            <a:srgbClr val="F7EFE2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58943-3A81-A1FB-BB7B-038FDF64ECF0}"/>
              </a:ext>
            </a:extLst>
          </p:cNvPr>
          <p:cNvSpPr txBox="1"/>
          <p:nvPr/>
        </p:nvSpPr>
        <p:spPr>
          <a:xfrm>
            <a:off x="698500" y="53213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Q5. 〈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별명을 찾아서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〉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에서 글쓴이가 찾고자 한 것은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어린 날의 천진난만함과 순수한 자아 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(3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음절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천진성 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순수함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세상에 물들지 않았던 어린 시절의 순수한 본모습을 되찾고 싶어 합니다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70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D29FEA-9B4D-1F36-A9E8-8AFB095DB68B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325BBBA-DCA0-B8B5-542D-A26616CDA15F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09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7CD82-99ED-C60C-E5E1-9BC00F8570BD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별별 독서퀴즈 클리닉 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600C2-E191-DA50-D5ED-5F575511439C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문맥적 의미 파악과 심화 감상 질문 점검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(6~10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번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)</a:t>
            </a:r>
            <a:endParaRPr lang="ko-KR" altLang="en-US" sz="2200" b="1">
              <a:solidFill>
                <a:srgbClr val="15704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FCE2A6-B7BF-9A35-CF1A-25CD1EA6AE66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6946E6D-25BD-72A7-11A4-BBED25781478}"/>
              </a:ext>
            </a:extLst>
          </p:cNvPr>
          <p:cNvSpPr/>
          <p:nvPr/>
        </p:nvSpPr>
        <p:spPr>
          <a:xfrm>
            <a:off x="508000" y="1079500"/>
            <a:ext cx="11176000" cy="939800"/>
          </a:xfrm>
          <a:prstGeom prst="roundRect">
            <a:avLst/>
          </a:prstGeom>
          <a:solidFill>
            <a:srgbClr val="F7EFE2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86117-700C-68FD-BAF3-E709C7B00364}"/>
              </a:ext>
            </a:extLst>
          </p:cNvPr>
          <p:cNvSpPr txBox="1"/>
          <p:nvPr/>
        </p:nvSpPr>
        <p:spPr>
          <a:xfrm>
            <a:off x="698500" y="11557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Q6. 〈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꼴찌에게 보내는 갈채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〉 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빈칸 추론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환호 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갈채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영광과 환호는 우승자에게 있을지라도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꼴찌 역시 포기하지 않고 최선을 다해 완주했기에 위대합니다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3C6863C-9F31-F9E3-3897-DC7C71E7504F}"/>
              </a:ext>
            </a:extLst>
          </p:cNvPr>
          <p:cNvSpPr/>
          <p:nvPr/>
        </p:nvSpPr>
        <p:spPr>
          <a:xfrm>
            <a:off x="508000" y="2120900"/>
            <a:ext cx="11176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23A70-453D-B615-5AE0-C1434C2D861E}"/>
              </a:ext>
            </a:extLst>
          </p:cNvPr>
          <p:cNvSpPr txBox="1"/>
          <p:nvPr/>
        </p:nvSpPr>
        <p:spPr>
          <a:xfrm>
            <a:off x="698500" y="21971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Q7. 〈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촌스러운 아나운서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〉 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밑줄 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나다움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과 바꿔 쓸 수 있는 단어는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①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개성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타인의 시선이나 세련된 틀을 흉내 내지 않고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온전히 자기 본래의 모습대로 당당하게 살아가는 힘입니다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8F48AD1-BBC9-88CD-C106-F51B2BE1FAD8}"/>
              </a:ext>
            </a:extLst>
          </p:cNvPr>
          <p:cNvSpPr/>
          <p:nvPr/>
        </p:nvSpPr>
        <p:spPr>
          <a:xfrm>
            <a:off x="508000" y="3162300"/>
            <a:ext cx="11176000" cy="939800"/>
          </a:xfrm>
          <a:prstGeom prst="roundRect">
            <a:avLst/>
          </a:prstGeom>
          <a:solidFill>
            <a:srgbClr val="F7EFE2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ECDB1E-FDD0-21ED-9BD4-DF85EAB2BDDD}"/>
              </a:ext>
            </a:extLst>
          </p:cNvPr>
          <p:cNvSpPr txBox="1"/>
          <p:nvPr/>
        </p:nvSpPr>
        <p:spPr>
          <a:xfrm>
            <a:off x="698500" y="32385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Q8. 〈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흙을 밟고 싶다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〉 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증조할머니가 생각하는 흙의 의미는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④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살 속에 깃든 영혼이자 모든 생명의 고향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흙을 더러운 것으로 치부하는 현대 문명과 달리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흙을 만물의 근원이자 생명으로 여겼습니다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B983BBC-5260-BF2A-8CAE-9BB10B45D022}"/>
              </a:ext>
            </a:extLst>
          </p:cNvPr>
          <p:cNvSpPr/>
          <p:nvPr/>
        </p:nvSpPr>
        <p:spPr>
          <a:xfrm>
            <a:off x="508000" y="4203700"/>
            <a:ext cx="11176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527AC-BF18-297B-FDD8-59EA967ED0A9}"/>
              </a:ext>
            </a:extLst>
          </p:cNvPr>
          <p:cNvSpPr txBox="1"/>
          <p:nvPr/>
        </p:nvSpPr>
        <p:spPr>
          <a:xfrm>
            <a:off x="698500" y="42799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Q9. 〈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도마뱀의 사랑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〉 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꼬리가 못에 박힌 도마뱀이 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년 동안 생존한 까닭은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다른 도마뱀이 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년간 하루도 빠짐없이 먹이를 물어다 주었기 때문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미물이라 여겼던 도마뱀마저 동료를 위해 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년의 헌신적인 사랑을 실천했음을 보여줍니다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2C9867E-6951-3BD9-3644-4464306B9D74}"/>
              </a:ext>
            </a:extLst>
          </p:cNvPr>
          <p:cNvSpPr/>
          <p:nvPr/>
        </p:nvSpPr>
        <p:spPr>
          <a:xfrm>
            <a:off x="508000" y="5245100"/>
            <a:ext cx="11176000" cy="939800"/>
          </a:xfrm>
          <a:prstGeom prst="roundRect">
            <a:avLst/>
          </a:prstGeom>
          <a:solidFill>
            <a:srgbClr val="F7EFE2"/>
          </a:solidFill>
          <a:ln w="127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E5018-D5E2-25CA-5EF5-23816245FC1C}"/>
              </a:ext>
            </a:extLst>
          </p:cNvPr>
          <p:cNvSpPr txBox="1"/>
          <p:nvPr/>
        </p:nvSpPr>
        <p:spPr>
          <a:xfrm>
            <a:off x="698500" y="5321300"/>
            <a:ext cx="10795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Q10. 〈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어린 날의 초상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〉 </a:t>
            </a:r>
            <a:r>
              <a:rPr lang="ko-KR" altLang="en-US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글쓴이의 상황과 가장 어울리는 정서는</a:t>
            </a:r>
            <a:r>
              <a:rPr lang="en-US" altLang="ko-KR" sz="1100" b="1">
                <a:solidFill>
                  <a:srgbClr val="15704D"/>
                </a:solidFill>
                <a:latin typeface="맑은 고딕" panose="020B0503020000020004" pitchFamily="50" charset="-127"/>
              </a:rPr>
              <a:t>?</a:t>
            </a:r>
          </a:p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정답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: ① '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괜찮아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는 이제 다시 시작할 수 있다는 희망의 말이다</a:t>
            </a:r>
          </a:p>
          <a:p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💡 해설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323232"/>
                </a:solidFill>
                <a:latin typeface="맑은 고딕" panose="020B0503020000020004" pitchFamily="50" charset="-127"/>
              </a:rPr>
              <a:t>가난과 서러운 눈물 속에서도 서로를 보듬으며 희망을 잃지 않았던 어린 날을 반추합니다</a:t>
            </a:r>
            <a:r>
              <a:rPr lang="en-US" altLang="ko-KR" sz="11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029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0C4E2E3-E2E1-5382-C9AC-D245B1642328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014CE0C-87FD-C7BD-37EE-C465B52C6D6E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10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0421A-1DD7-3158-B108-CBF0D78678C6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어휘력 </a:t>
            </a:r>
            <a:r>
              <a:rPr lang="en-US" altLang="ko-KR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문해력 기르기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4E0F7-2E13-9054-BB67-4C734A2FFABE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필수 문맥 어휘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한자성어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맞춤법 </a:t>
            </a:r>
            <a:r>
              <a:rPr lang="en-US" altLang="ko-KR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수사법 완전 정복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3681D2-4019-A169-B92E-EABFFE2F7C7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1A02C93-DF52-280A-89B7-030C8F70FCE3}"/>
              </a:ext>
            </a:extLst>
          </p:cNvPr>
          <p:cNvSpPr/>
          <p:nvPr/>
        </p:nvSpPr>
        <p:spPr>
          <a:xfrm>
            <a:off x="508000" y="1079500"/>
            <a:ext cx="3492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A759209-639B-D0FD-7C27-BA988E2D7A08}"/>
              </a:ext>
            </a:extLst>
          </p:cNvPr>
          <p:cNvSpPr/>
          <p:nvPr/>
        </p:nvSpPr>
        <p:spPr>
          <a:xfrm>
            <a:off x="698500" y="1333500"/>
            <a:ext cx="3111500" cy="5080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📚 필수 어휘 </a:t>
            </a:r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한자성어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EED3E-C63B-2B79-6C45-C6E7B87BC7AD}"/>
              </a:ext>
            </a:extLst>
          </p:cNvPr>
          <p:cNvSpPr txBox="1"/>
          <p:nvPr/>
        </p:nvSpPr>
        <p:spPr>
          <a:xfrm>
            <a:off x="698500" y="2032000"/>
            <a:ext cx="31115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조신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操身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하다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몸가짐이 얌전하다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미더운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믿음직한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믿음성 없다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X)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부지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扶持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하다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겨우 보존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유지하다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겸허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謙虛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하다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스스로 낮추고 비우다</a:t>
            </a:r>
          </a:p>
          <a:p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🌟 대기만성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大器晩成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큰 그릇은 늦게 이루어지듯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천천히 피어나 위대한 결실을 맺는 삶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BC9FDDB-0AF4-D017-2DA0-C76FABD2DB14}"/>
              </a:ext>
            </a:extLst>
          </p:cNvPr>
          <p:cNvSpPr/>
          <p:nvPr/>
        </p:nvSpPr>
        <p:spPr>
          <a:xfrm>
            <a:off x="4343400" y="1079500"/>
            <a:ext cx="3492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1FBBC0D-FA3B-5AD5-006C-BB11C743B994}"/>
              </a:ext>
            </a:extLst>
          </p:cNvPr>
          <p:cNvSpPr/>
          <p:nvPr/>
        </p:nvSpPr>
        <p:spPr>
          <a:xfrm>
            <a:off x="4533900" y="1333500"/>
            <a:ext cx="3111500" cy="5080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✏️ 헷갈리기 쉬운 맞춤법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6BCFA3-8CD8-BE53-6BFB-0CF4EAE97942}"/>
              </a:ext>
            </a:extLst>
          </p:cNvPr>
          <p:cNvSpPr txBox="1"/>
          <p:nvPr/>
        </p:nvSpPr>
        <p:spPr>
          <a:xfrm>
            <a:off x="4533900" y="2032000"/>
            <a:ext cx="31115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내비게이션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(O) vs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네비게이션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(X)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   ➔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머릿속 길안내 장치 표기</a:t>
            </a:r>
          </a:p>
          <a:p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일부러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(O) vs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일부로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(X)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   ➔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틈을 내어 특별한 목적을 두고</a:t>
            </a:r>
          </a:p>
          <a:p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웬일인지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(O) vs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왠일인지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(X)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   ➔ '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어찌 된 일인지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의 의미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※ '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왠지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왜인지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의 준말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!</a:t>
            </a:r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14CE4DF-F182-A6A8-4E5B-81F105EA8CED}"/>
              </a:ext>
            </a:extLst>
          </p:cNvPr>
          <p:cNvSpPr/>
          <p:nvPr/>
        </p:nvSpPr>
        <p:spPr>
          <a:xfrm>
            <a:off x="8178800" y="1079500"/>
            <a:ext cx="3492500" cy="5334000"/>
          </a:xfrm>
          <a:prstGeom prst="roundRect">
            <a:avLst/>
          </a:prstGeom>
          <a:solidFill>
            <a:srgbClr val="F7EFE2"/>
          </a:solidFill>
          <a:ln w="1905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E200D5C-2B57-B63B-13C8-7C7FA0ED327A}"/>
              </a:ext>
            </a:extLst>
          </p:cNvPr>
          <p:cNvSpPr/>
          <p:nvPr/>
        </p:nvSpPr>
        <p:spPr>
          <a:xfrm>
            <a:off x="8369300" y="1333500"/>
            <a:ext cx="3111500" cy="508000"/>
          </a:xfrm>
          <a:prstGeom prst="round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</a:rPr>
              <a:t>🎯 속담 및 표현 기법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3904-C5C4-68EB-9B94-6236091FE589}"/>
              </a:ext>
            </a:extLst>
          </p:cNvPr>
          <p:cNvSpPr txBox="1"/>
          <p:nvPr/>
        </p:nvSpPr>
        <p:spPr>
          <a:xfrm>
            <a:off x="8369300" y="2032000"/>
            <a:ext cx="31115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앞이 구만리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九萬里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같다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   ➔ 앞날이 창창하고 할 일이 많음</a:t>
            </a:r>
          </a:p>
          <a:p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역설법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(Paradox)</a:t>
            </a: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   ➔ 〈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열보다 큰 아홉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〉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처럼 표면상 모순되지만 깊은 진실을 담아냄</a:t>
            </a:r>
          </a:p>
          <a:p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문맥 호응 표현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   ➔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여간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은 뒤에 부정어와 호응</a:t>
            </a:r>
          </a:p>
          <a:p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      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200">
                <a:solidFill>
                  <a:srgbClr val="323232"/>
                </a:solidFill>
                <a:latin typeface="맑은 고딕" panose="020B0503020000020004" pitchFamily="50" charset="-127"/>
              </a:rPr>
              <a:t>여간 힘들지 않았다</a:t>
            </a:r>
            <a:r>
              <a:rPr lang="en-US" altLang="ko-KR" sz="12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endParaRPr lang="ko-KR" altLang="en-US" sz="1200">
              <a:solidFill>
                <a:srgbClr val="323232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679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E82FDD-C527-B475-3A90-20E33DE1284B}"/>
              </a:ext>
            </a:extLst>
          </p:cNvPr>
          <p:cNvSpPr/>
          <p:nvPr/>
        </p:nvSpPr>
        <p:spPr>
          <a:xfrm>
            <a:off x="508000" y="406400"/>
            <a:ext cx="11176000" cy="254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1BBFDAC-ED3D-C327-2AB7-1F5C949CB3C0}"/>
              </a:ext>
            </a:extLst>
          </p:cNvPr>
          <p:cNvSpPr/>
          <p:nvPr/>
        </p:nvSpPr>
        <p:spPr>
          <a:xfrm>
            <a:off x="508000" y="127000"/>
            <a:ext cx="1016000" cy="228600"/>
          </a:xfrm>
          <a:prstGeom prst="round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</a:rPr>
              <a:t>STEP 11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CDD26-3DD9-759C-E722-6AF24775D7E3}"/>
              </a:ext>
            </a:extLst>
          </p:cNvPr>
          <p:cNvSpPr txBox="1"/>
          <p:nvPr/>
        </p:nvSpPr>
        <p:spPr>
          <a:xfrm>
            <a:off x="1651000" y="101600"/>
            <a:ext cx="5080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1100" b="1">
                <a:solidFill>
                  <a:srgbClr val="FF7F4D"/>
                </a:solidFill>
                <a:latin typeface="맑은 고딕" panose="020B0503020000020004" pitchFamily="50" charset="-127"/>
              </a:rPr>
              <a:t>수업 마무리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F9AC8-5E72-9BEE-8638-D0652D492BBE}"/>
              </a:ext>
            </a:extLst>
          </p:cNvPr>
          <p:cNvSpPr txBox="1"/>
          <p:nvPr/>
        </p:nvSpPr>
        <p:spPr>
          <a:xfrm>
            <a:off x="508000" y="4826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2200" b="1">
                <a:solidFill>
                  <a:srgbClr val="15704D"/>
                </a:solidFill>
                <a:latin typeface="맑은 고딕" panose="020B0503020000020004" pitchFamily="50" charset="-127"/>
              </a:rPr>
              <a:t>문학으로 세상을 배우고 스스로 성장하는 시간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905282-22F6-51CE-3241-7F78663CEA02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157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B50524-0077-44E3-ED60-2E35C6830CEB}"/>
              </a:ext>
            </a:extLst>
          </p:cNvPr>
          <p:cNvSpPr/>
          <p:nvPr/>
        </p:nvSpPr>
        <p:spPr>
          <a:xfrm>
            <a:off x="762000" y="1206500"/>
            <a:ext cx="10668000" cy="3048000"/>
          </a:xfrm>
          <a:prstGeom prst="roundRect">
            <a:avLst/>
          </a:prstGeom>
          <a:solidFill>
            <a:srgbClr val="F7EFE2"/>
          </a:solidFill>
          <a:ln w="25400">
            <a:solidFill>
              <a:srgbClr val="157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E8B82-9567-49D5-5B4D-E38368C983B0}"/>
              </a:ext>
            </a:extLst>
          </p:cNvPr>
          <p:cNvSpPr txBox="1"/>
          <p:nvPr/>
        </p:nvSpPr>
        <p:spPr>
          <a:xfrm>
            <a:off x="1143000" y="1460500"/>
            <a:ext cx="99060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b="1">
                <a:solidFill>
                  <a:srgbClr val="15704D"/>
                </a:solidFill>
                <a:latin typeface="맑은 고딕" panose="020B0503020000020004" pitchFamily="50" charset="-127"/>
              </a:rPr>
              <a:t>🌿 수필에서 배우는 오늘의 한 줄</a:t>
            </a:r>
          </a:p>
          <a:p>
            <a:endParaRPr lang="ko-KR" altLang="en-US" sz="15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500">
                <a:solidFill>
                  <a:srgbClr val="323232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500">
                <a:solidFill>
                  <a:srgbClr val="323232"/>
                </a:solidFill>
                <a:latin typeface="맑은 고딕" panose="020B0503020000020004" pitchFamily="50" charset="-127"/>
              </a:rPr>
              <a:t>꽃은 저마다 피어나는 계절이 다릅니다</a:t>
            </a:r>
            <a:r>
              <a:rPr lang="en-US" altLang="ko-KR" sz="15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500">
                <a:solidFill>
                  <a:srgbClr val="323232"/>
                </a:solidFill>
                <a:latin typeface="맑은 고딕" panose="020B0503020000020004" pitchFamily="50" charset="-127"/>
              </a:rPr>
              <a:t>남들보다 조금 늦게 핀다고 해서 결코 조급해할 필요가 없습니다</a:t>
            </a:r>
            <a:r>
              <a:rPr lang="en-US" altLang="ko-KR" sz="1500">
                <a:solidFill>
                  <a:srgbClr val="323232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500">
                <a:solidFill>
                  <a:srgbClr val="323232"/>
                </a:solidFill>
                <a:latin typeface="맑은 고딕" panose="020B0503020000020004" pitchFamily="50" charset="-127"/>
              </a:rPr>
              <a:t>중요한 것은 포기하지 않고 내 안의 꽃을 가장 아름답게 피워내는 일입니다</a:t>
            </a:r>
            <a:r>
              <a:rPr lang="en-US" altLang="ko-KR" sz="1500">
                <a:solidFill>
                  <a:srgbClr val="323232"/>
                </a:solidFill>
                <a:latin typeface="맑은 고딕" panose="020B0503020000020004" pitchFamily="50" charset="-127"/>
              </a:rPr>
              <a:t>.'</a:t>
            </a:r>
          </a:p>
          <a:p>
            <a:endParaRPr lang="en-US" altLang="ko-KR" sz="15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500">
                <a:solidFill>
                  <a:srgbClr val="323232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500">
                <a:solidFill>
                  <a:srgbClr val="323232"/>
                </a:solidFill>
                <a:latin typeface="맑은 고딕" panose="020B0503020000020004" pitchFamily="50" charset="-127"/>
              </a:rPr>
              <a:t>별별문학 </a:t>
            </a:r>
            <a:r>
              <a:rPr lang="en-US" altLang="ko-KR" sz="1500">
                <a:solidFill>
                  <a:srgbClr val="323232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500">
                <a:solidFill>
                  <a:srgbClr val="323232"/>
                </a:solidFill>
                <a:latin typeface="맑은 고딕" panose="020B0503020000020004" pitchFamily="50" charset="-127"/>
              </a:rPr>
              <a:t>호 </a:t>
            </a:r>
            <a:r>
              <a:rPr lang="en-US" altLang="ko-KR" sz="1500">
                <a:solidFill>
                  <a:srgbClr val="323232"/>
                </a:solidFill>
                <a:latin typeface="맑은 고딕" panose="020B0503020000020004" pitchFamily="50" charset="-127"/>
              </a:rPr>
              <a:t>〈</a:t>
            </a:r>
            <a:r>
              <a:rPr lang="ko-KR" altLang="en-US" sz="1500">
                <a:solidFill>
                  <a:srgbClr val="323232"/>
                </a:solidFill>
                <a:latin typeface="맑은 고딕" panose="020B0503020000020004" pitchFamily="50" charset="-127"/>
              </a:rPr>
              <a:t>수필 특강</a:t>
            </a:r>
            <a:r>
              <a:rPr lang="en-US" altLang="ko-KR" sz="1500">
                <a:solidFill>
                  <a:srgbClr val="323232"/>
                </a:solidFill>
                <a:latin typeface="맑은 고딕" panose="020B0503020000020004" pitchFamily="50" charset="-127"/>
              </a:rPr>
              <a:t>〉</a:t>
            </a:r>
            <a:r>
              <a:rPr lang="ko-KR" altLang="en-US" sz="1500">
                <a:solidFill>
                  <a:srgbClr val="323232"/>
                </a:solidFill>
                <a:latin typeface="맑은 고딕" panose="020B0503020000020004" pitchFamily="50" charset="-127"/>
              </a:rPr>
              <a:t>을 마치며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70E5210-3533-3970-1B59-705F39BDF9AA}"/>
              </a:ext>
            </a:extLst>
          </p:cNvPr>
          <p:cNvSpPr/>
          <p:nvPr/>
        </p:nvSpPr>
        <p:spPr>
          <a:xfrm>
            <a:off x="762000" y="4445000"/>
            <a:ext cx="10668000" cy="1778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7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AD5EBA-C209-5063-1F45-8DFE5AA76FBA}"/>
              </a:ext>
            </a:extLst>
          </p:cNvPr>
          <p:cNvSpPr txBox="1"/>
          <p:nvPr/>
        </p:nvSpPr>
        <p:spPr>
          <a:xfrm>
            <a:off x="1143000" y="4635500"/>
            <a:ext cx="9906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>
                <a:solidFill>
                  <a:srgbClr val="FF7F4D"/>
                </a:solidFill>
                <a:latin typeface="맑은 고딕" panose="020B0503020000020004" pitchFamily="50" charset="-127"/>
              </a:rPr>
              <a:t>📌 다음 </a:t>
            </a:r>
            <a:r>
              <a:rPr lang="en-US" altLang="ko-KR" sz="1600" b="1">
                <a:solidFill>
                  <a:srgbClr val="FF7F4D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600" b="1">
                <a:solidFill>
                  <a:srgbClr val="FF7F4D"/>
                </a:solidFill>
                <a:latin typeface="맑은 고딕" panose="020B0503020000020004" pitchFamily="50" charset="-127"/>
              </a:rPr>
              <a:t>차시 수업 안내 및 과제</a:t>
            </a:r>
          </a:p>
          <a:p>
            <a:endParaRPr lang="ko-KR" altLang="en-US" sz="1300">
              <a:solidFill>
                <a:srgbClr val="323232"/>
              </a:solidFill>
              <a:latin typeface="맑은 고딕" panose="020B0503020000020004" pitchFamily="50" charset="-127"/>
            </a:endParaRPr>
          </a:p>
          <a:p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1.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필독서 읽기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: 《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꼭 읽어야 할 중학교 문학 첫걸음 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소설 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2》 121~172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쪽을 꼼꼼히 읽어 오기</a:t>
            </a:r>
          </a:p>
          <a:p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2.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수필 쓰기 과제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오늘 배운 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단계 조건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처음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중간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끝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에 맞추어 별지 ②에 나만의 수필 완성하기</a:t>
            </a:r>
          </a:p>
          <a:p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3.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준비물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교재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필기도구</a:t>
            </a:r>
            <a:r>
              <a:rPr lang="en-US" altLang="ko-KR" sz="1300">
                <a:solidFill>
                  <a:srgbClr val="32323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23232"/>
                </a:solidFill>
                <a:latin typeface="맑은 고딕" panose="020B0503020000020004" pitchFamily="50" charset="-127"/>
              </a:rPr>
              <a:t>완성된 수필 과제물 지참</a:t>
            </a:r>
          </a:p>
        </p:txBody>
      </p:sp>
    </p:spTree>
    <p:extLst>
      <p:ext uri="{BB962C8B-B14F-4D97-AF65-F5344CB8AC3E}">
        <p14:creationId xmlns:p14="http://schemas.microsoft.com/office/powerpoint/2010/main" val="2447397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1901</Words>
  <Application>Microsoft Office PowerPoint</Application>
  <PresentationFormat>사용자 지정</PresentationFormat>
  <Paragraphs>268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미종 이</dc:creator>
  <cp:lastModifiedBy>미종 이</cp:lastModifiedBy>
  <cp:revision>1</cp:revision>
  <dcterms:created xsi:type="dcterms:W3CDTF">2026-10-20T11:45:41Z</dcterms:created>
  <dcterms:modified xsi:type="dcterms:W3CDTF">2026-10-20T11:45:41Z</dcterms:modified>
</cp:coreProperties>
</file>